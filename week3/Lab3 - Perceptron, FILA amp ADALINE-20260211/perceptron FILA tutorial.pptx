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"/>
  </p:notesMasterIdLst>
  <p:handoutMasterIdLst>
    <p:handoutMasterId r:id="rId5"/>
  </p:handoutMasterIdLst>
  <p:sldIdLst>
    <p:sldId id="466" r:id="rId2"/>
    <p:sldId id="469" r:id="rId3"/>
  </p:sldIdLst>
  <p:sldSz cx="9144000" cy="6858000" type="screen4x3"/>
  <p:notesSz cx="7099300" cy="10234613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18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7A4"/>
    <a:srgbClr val="008000"/>
    <a:srgbClr val="000000"/>
    <a:srgbClr val="0000FF"/>
    <a:srgbClr val="990033"/>
    <a:srgbClr val="003FBC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>
      <p:cViewPr varScale="1">
        <p:scale>
          <a:sx n="80" d="100"/>
          <a:sy n="80" d="100"/>
        </p:scale>
        <p:origin x="718" y="34"/>
      </p:cViewPr>
      <p:guideLst>
        <p:guide orient="horz" pos="2160"/>
        <p:guide pos="1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>
            <a:lvl1pPr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10025" y="0"/>
            <a:ext cx="30495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>
            <a:lvl1pPr algn="r"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685338"/>
            <a:ext cx="304800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b" anchorCtr="0" compatLnSpc="1">
            <a:prstTxWarp prst="textNoShape">
              <a:avLst/>
            </a:prstTxWarp>
          </a:bodyPr>
          <a:lstStyle>
            <a:lvl1pPr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10025" y="9685338"/>
            <a:ext cx="30495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2402AF15-65A3-45D4-AB68-E4808FE6C52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098038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>
            <a:lvl1pPr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>
            <a:lvl1pPr algn="r"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3338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b" anchorCtr="0" compatLnSpc="1">
            <a:prstTxWarp prst="textNoShape">
              <a:avLst/>
            </a:prstTxWarp>
          </a:bodyPr>
          <a:lstStyle>
            <a:lvl1pPr defTabSz="944113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487" tIns="47244" rIns="94487" bIns="47244" numCol="1" anchor="b" anchorCtr="0" compatLnSpc="1">
            <a:prstTxWarp prst="textNoShape">
              <a:avLst/>
            </a:prstTxWarp>
          </a:bodyPr>
          <a:lstStyle>
            <a:lvl1pPr algn="r" defTabSz="942975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39645774-F6F0-4B9F-BB4F-74AD8FA0B70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3478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8C5DD2-0472-4ACF-9764-4C68C1C1A792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95649A-7A02-4897-BCFF-013AE4F6DCB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2736C-F35B-4FEA-8240-774307EE9D85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E9E582-308E-4BD8-A9C5-FA31DC14B0E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54D69-43AB-4CC7-89F5-437D2E3AA070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F9ECBF-A056-4442-BF8F-F04BAEC1683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7316E6-2562-479D-B6C2-C141FAFA99BB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D0DE20-C0C5-49CC-8CB2-58D2E2EC5B0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17755E-5D94-4E67-8506-5DA160F321D5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553803-8FCD-484A-A319-E8A32AFA366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D31DBA-E98E-4010-AB26-14A515D940C4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F8519E-BFF7-4B35-B9D7-26FC23121F3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DD166-E2CE-4651-AA60-0D66F470A4F7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0469E-D3BB-48B7-A949-7B3B0148A04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4BDBD1-DC23-49D4-8759-4AB8482034B1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E8F61E-E3BA-4428-806F-E31488D6F78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7A32B3-37FB-464E-B0AA-32CC12D6B0D3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08FD0-5735-44C8-AC4A-1507DDE8658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24700" y="76200"/>
            <a:ext cx="2019300" cy="60563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76200"/>
            <a:ext cx="5905500" cy="60563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66745E-3CDC-41EB-AFE8-CDAE42A78D45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65537F-3A57-49C9-BA3B-C8A10900030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4"/>
          <p:cNvGrpSpPr>
            <a:grpSpLocks/>
          </p:cNvGrpSpPr>
          <p:nvPr userDrawn="1"/>
        </p:nvGrpSpPr>
        <p:grpSpPr bwMode="auto">
          <a:xfrm>
            <a:off x="0" y="0"/>
            <a:ext cx="8542338" cy="1052513"/>
            <a:chOff x="80" y="624"/>
            <a:chExt cx="5381" cy="663"/>
          </a:xfrm>
        </p:grpSpPr>
        <p:sp>
          <p:nvSpPr>
            <p:cNvPr id="1032" name="Rectangle 2"/>
            <p:cNvSpPr>
              <a:spLocks noChangeArrowheads="1"/>
            </p:cNvSpPr>
            <p:nvPr/>
          </p:nvSpPr>
          <p:spPr bwMode="ltGray">
            <a:xfrm>
              <a:off x="263" y="692"/>
              <a:ext cx="276" cy="2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3" name="Rectangle 3"/>
            <p:cNvSpPr>
              <a:spLocks noChangeArrowheads="1"/>
            </p:cNvSpPr>
            <p:nvPr/>
          </p:nvSpPr>
          <p:spPr bwMode="ltGray">
            <a:xfrm>
              <a:off x="504" y="692"/>
              <a:ext cx="207" cy="299"/>
            </a:xfrm>
            <a:prstGeom prst="rect">
              <a:avLst/>
            </a:prstGeom>
            <a:gradFill rotWithShape="0">
              <a:gsLst>
                <a:gs pos="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4" name="Rectangle 4"/>
            <p:cNvSpPr>
              <a:spLocks noChangeArrowheads="1"/>
            </p:cNvSpPr>
            <p:nvPr/>
          </p:nvSpPr>
          <p:spPr bwMode="ltGray">
            <a:xfrm>
              <a:off x="341" y="958"/>
              <a:ext cx="266" cy="29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5" name="Rectangle 5"/>
            <p:cNvSpPr>
              <a:spLocks noChangeArrowheads="1"/>
            </p:cNvSpPr>
            <p:nvPr/>
          </p:nvSpPr>
          <p:spPr bwMode="ltGray">
            <a:xfrm>
              <a:off x="574" y="958"/>
              <a:ext cx="232" cy="299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6" name="Rectangle 6"/>
            <p:cNvSpPr>
              <a:spLocks noChangeArrowheads="1"/>
            </p:cNvSpPr>
            <p:nvPr/>
          </p:nvSpPr>
          <p:spPr bwMode="ltGray">
            <a:xfrm>
              <a:off x="80" y="912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7" name="Rectangle 7"/>
            <p:cNvSpPr>
              <a:spLocks noChangeArrowheads="1"/>
            </p:cNvSpPr>
            <p:nvPr/>
          </p:nvSpPr>
          <p:spPr bwMode="gray">
            <a:xfrm>
              <a:off x="480" y="624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  <p:sp>
          <p:nvSpPr>
            <p:cNvPr id="1038" name="Rectangle 8"/>
            <p:cNvSpPr>
              <a:spLocks noChangeArrowheads="1"/>
            </p:cNvSpPr>
            <p:nvPr/>
          </p:nvSpPr>
          <p:spPr bwMode="gray">
            <a:xfrm>
              <a:off x="279" y="1122"/>
              <a:ext cx="5182" cy="20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 eaLnBrk="1" hangingPunct="1">
                <a:defRPr/>
              </a:pPr>
              <a:endParaRPr kumimoji="1" lang="en-US"/>
            </a:p>
          </p:txBody>
        </p:sp>
      </p:grpSp>
      <p:sp>
        <p:nvSpPr>
          <p:cNvPr id="1027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76200"/>
            <a:ext cx="80772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8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962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23BE0C2C-29F8-44BF-B032-612BB47B5DD8}" type="datetime1">
              <a:rPr lang="en-GB"/>
              <a:pPr>
                <a:defRPr/>
              </a:pPr>
              <a:t>10/02/2026</a:t>
            </a:fld>
            <a:endParaRPr lang="en-GB"/>
          </a:p>
        </p:txBody>
      </p:sp>
      <p:sp>
        <p:nvSpPr>
          <p:cNvPr id="962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981200" y="6400800"/>
            <a:ext cx="518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r>
              <a:rPr lang="en-GB"/>
              <a:t>Dr. I. Jordanov</a:t>
            </a:r>
          </a:p>
        </p:txBody>
      </p:sp>
      <p:sp>
        <p:nvSpPr>
          <p:cNvPr id="962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5C86E22-637E-40F1-B10D-B6B7D784A74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13" Type="http://schemas.openxmlformats.org/officeDocument/2006/relationships/image" Target="../media/image8.jpeg"/><Relationship Id="rId3" Type="http://schemas.openxmlformats.org/officeDocument/2006/relationships/image" Target="../media/image2.wmf"/><Relationship Id="rId7" Type="http://schemas.openxmlformats.org/officeDocument/2006/relationships/image" Target="../media/image4.wmf"/><Relationship Id="rId12" Type="http://schemas.openxmlformats.org/officeDocument/2006/relationships/image" Target="../media/image7.png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6.wmf"/><Relationship Id="rId5" Type="http://schemas.openxmlformats.org/officeDocument/2006/relationships/image" Target="../media/image3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5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Date Placeholder 3"/>
          <p:cNvSpPr txBox="1">
            <a:spLocks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/>
            <a:fld id="{06A4FE34-9286-4958-95FC-AE86E30F1AA7}" type="datetime1">
              <a:rPr lang="en-GB" altLang="en-US" sz="1200"/>
              <a:pPr eaLnBrk="1" hangingPunct="1"/>
              <a:t>10/02/2026</a:t>
            </a:fld>
            <a:endParaRPr lang="en-GB" altLang="en-US" sz="1200"/>
          </a:p>
        </p:txBody>
      </p:sp>
      <p:sp>
        <p:nvSpPr>
          <p:cNvPr id="2051" name="Footer Placeholder 4"/>
          <p:cNvSpPr txBox="1">
            <a:spLocks noGrp="1"/>
          </p:cNvSpPr>
          <p:nvPr/>
        </p:nvSpPr>
        <p:spPr bwMode="auto">
          <a:xfrm>
            <a:off x="1979613" y="6569075"/>
            <a:ext cx="5181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ctr" eaLnBrk="1" hangingPunct="1"/>
            <a:r>
              <a:rPr lang="en-GB" altLang="en-US" sz="1200" dirty="0"/>
              <a:t>Prof. I. Jordanov</a:t>
            </a:r>
          </a:p>
        </p:txBody>
      </p:sp>
      <p:sp>
        <p:nvSpPr>
          <p:cNvPr id="2052" name="Slide Number Placeholder 5"/>
          <p:cNvSpPr txBox="1">
            <a:spLocks noGrp="1"/>
          </p:cNvSpPr>
          <p:nvPr/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78E5E37A-F274-4220-83D9-D0C8A0BEC858}" type="slidenum">
              <a:rPr lang="en-GB" altLang="en-US" sz="1200"/>
              <a:pPr algn="r" eaLnBrk="1" hangingPunct="1"/>
              <a:t>1</a:t>
            </a:fld>
            <a:endParaRPr lang="en-GB" altLang="en-US" sz="1200"/>
          </a:p>
        </p:txBody>
      </p:sp>
      <p:sp>
        <p:nvSpPr>
          <p:cNvPr id="2053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 altLang="en-US"/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434976" y="8292"/>
            <a:ext cx="8281988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466725" indent="-503238" algn="ctr">
              <a:spcBef>
                <a:spcPts val="600"/>
              </a:spcBef>
            </a:pPr>
            <a:r>
              <a:rPr lang="en-GB" altLang="en-US" dirty="0">
                <a:cs typeface="Times New Roman" pitchFamily="18" charset="0"/>
              </a:rPr>
              <a:t>       Example: Fixed-Increment Learning Algorithm (FILA) - training a Perceptron to solve </a:t>
            </a:r>
            <a:r>
              <a:rPr lang="en-GB" altLang="en-US" i="1" dirty="0">
                <a:solidFill>
                  <a:srgbClr val="000000"/>
                </a:solidFill>
                <a:cs typeface="Times New Roman" pitchFamily="18" charset="0"/>
              </a:rPr>
              <a:t>Boolean</a:t>
            </a:r>
            <a:r>
              <a:rPr lang="en-GB" altLang="en-US" i="1" dirty="0">
                <a:solidFill>
                  <a:srgbClr val="0000FF"/>
                </a:solidFill>
                <a:cs typeface="Times New Roman" pitchFamily="18" charset="0"/>
              </a:rPr>
              <a:t> AND</a:t>
            </a:r>
            <a:r>
              <a:rPr lang="en-GB" altLang="en-US" dirty="0">
                <a:solidFill>
                  <a:srgbClr val="0000FF"/>
                </a:solidFill>
                <a:cs typeface="Times New Roman" pitchFamily="18" charset="0"/>
              </a:rPr>
              <a:t>  </a:t>
            </a:r>
            <a:r>
              <a:rPr lang="en-GB" altLang="en-US" dirty="0">
                <a:cs typeface="Times New Roman" pitchFamily="18" charset="0"/>
              </a:rPr>
              <a:t>problem (batch mode).</a:t>
            </a:r>
            <a:endParaRPr lang="en-GB" altLang="en-US" dirty="0"/>
          </a:p>
        </p:txBody>
      </p:sp>
      <p:graphicFrame>
        <p:nvGraphicFramePr>
          <p:cNvPr id="24585" name="Object 13"/>
          <p:cNvGraphicFramePr>
            <a:graphicFrameLocks noChangeAspect="1"/>
          </p:cNvGraphicFramePr>
          <p:nvPr/>
        </p:nvGraphicFramePr>
        <p:xfrm>
          <a:off x="482600" y="0"/>
          <a:ext cx="495300" cy="677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25917" imgH="3407121" progId="">
                  <p:embed/>
                </p:oleObj>
              </mc:Choice>
              <mc:Fallback>
                <p:oleObj r:id="rId2" imgW="2525917" imgH="3407121" progId="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0"/>
                        <a:ext cx="495300" cy="6778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 altLang="en-US"/>
          </a:p>
        </p:txBody>
      </p:sp>
      <p:sp>
        <p:nvSpPr>
          <p:cNvPr id="2057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 altLang="en-US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427038" y="2681288"/>
          <a:ext cx="3448050" cy="2435225"/>
        </p:xfrm>
        <a:graphic>
          <a:graphicData uri="http://schemas.openxmlformats.org/drawingml/2006/table">
            <a:tbl>
              <a:tblPr/>
              <a:tblGrid>
                <a:gridCol w="12236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43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7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400" baseline="-250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2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    x</a:t>
                      </a:r>
                      <a:r>
                        <a:rPr lang="en-US" sz="2400" baseline="-250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</a:t>
                      </a:r>
                      <a:endParaRPr lang="en-GB" sz="2400" dirty="0"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x</a:t>
                      </a:r>
                      <a:r>
                        <a:rPr lang="en-US" sz="2400" baseline="-250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1</a:t>
                      </a:r>
                      <a:r>
                        <a:rPr lang="en-US" sz="2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  </a:t>
                      </a:r>
                      <a:r>
                        <a:rPr lang="en-US" sz="2400" b="1" i="1" dirty="0">
                          <a:solidFill>
                            <a:srgbClr val="0037A4"/>
                          </a:solidFill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AND</a:t>
                      </a:r>
                      <a:r>
                        <a:rPr lang="en-US" sz="24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  x</a:t>
                      </a:r>
                      <a:r>
                        <a:rPr lang="en-US" sz="2400" baseline="-25000" dirty="0">
                          <a:latin typeface="Arial" panose="020B0604020202020204" pitchFamily="34" charset="0"/>
                          <a:ea typeface="Times New Roman"/>
                          <a:cs typeface="Arial" panose="020B0604020202020204" pitchFamily="34" charset="0"/>
                        </a:rPr>
                        <a:t>2</a:t>
                      </a:r>
                      <a:endParaRPr lang="en-GB" sz="2400" dirty="0"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</a:rPr>
                        <a:t>0      0</a:t>
                      </a:r>
                      <a:endParaRPr lang="en-GB" sz="2400" dirty="0">
                        <a:latin typeface="+mj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>
                          <a:solidFill>
                            <a:srgbClr val="0037A4"/>
                          </a:solidFill>
                          <a:latin typeface="+mj-lt"/>
                          <a:ea typeface="Times New Roman"/>
                        </a:rPr>
                        <a:t>0</a:t>
                      </a:r>
                      <a:endParaRPr lang="en-GB" sz="2400" b="1" dirty="0">
                        <a:solidFill>
                          <a:srgbClr val="0037A4"/>
                        </a:solidFill>
                        <a:latin typeface="+mj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+mj-lt"/>
                          <a:ea typeface="Times New Roman"/>
                        </a:rPr>
                        <a:t>0       1</a:t>
                      </a:r>
                      <a:endParaRPr lang="en-GB" sz="2400">
                        <a:latin typeface="+mj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37A4"/>
                          </a:solidFill>
                          <a:latin typeface="+mj-lt"/>
                          <a:ea typeface="Times New Roman"/>
                        </a:rPr>
                        <a:t>0</a:t>
                      </a:r>
                      <a:endParaRPr lang="en-GB" sz="2400" b="1" dirty="0">
                        <a:solidFill>
                          <a:srgbClr val="0037A4"/>
                        </a:solidFill>
                        <a:latin typeface="+mj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+mj-lt"/>
                          <a:ea typeface="Times New Roman"/>
                        </a:rPr>
                        <a:t>1       0</a:t>
                      </a:r>
                      <a:endParaRPr lang="en-GB" sz="2400">
                        <a:latin typeface="+mj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37A4"/>
                          </a:solidFill>
                          <a:latin typeface="+mj-lt"/>
                          <a:ea typeface="Times New Roman"/>
                        </a:rPr>
                        <a:t>0</a:t>
                      </a:r>
                      <a:endParaRPr lang="en-GB" sz="2400" b="1" dirty="0">
                        <a:solidFill>
                          <a:srgbClr val="0037A4"/>
                        </a:solidFill>
                        <a:latin typeface="+mj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04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</a:rPr>
                        <a:t>1       1</a:t>
                      </a:r>
                      <a:endParaRPr lang="en-GB" sz="2400" dirty="0">
                        <a:latin typeface="+mj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8000"/>
                          </a:solidFill>
                          <a:latin typeface="+mj-lt"/>
                          <a:ea typeface="Times New Roman"/>
                        </a:rPr>
                        <a:t>1</a:t>
                      </a:r>
                      <a:endParaRPr lang="en-GB" sz="2400" b="1" dirty="0">
                        <a:solidFill>
                          <a:srgbClr val="008000"/>
                        </a:solidFill>
                        <a:latin typeface="+mj-lt"/>
                        <a:ea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1025525" y="5675313"/>
            <a:ext cx="67167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altLang="en-US" dirty="0"/>
              <a:t>Fig. 1. The </a:t>
            </a:r>
            <a:r>
              <a:rPr lang="en-US" altLang="en-US" i="1" dirty="0"/>
              <a:t>Boolean</a:t>
            </a:r>
            <a:r>
              <a:rPr lang="en-US" altLang="en-US" dirty="0"/>
              <a:t> </a:t>
            </a:r>
            <a:r>
              <a:rPr lang="en-US" altLang="en-US" b="1" i="1" dirty="0">
                <a:solidFill>
                  <a:srgbClr val="0037A4"/>
                </a:solidFill>
              </a:rPr>
              <a:t>AND</a:t>
            </a:r>
            <a:r>
              <a:rPr lang="en-US" altLang="en-US" dirty="0"/>
              <a:t>  problem (linear).</a:t>
            </a:r>
            <a:endParaRPr lang="en-GB" altLang="en-US" dirty="0"/>
          </a:p>
        </p:txBody>
      </p:sp>
      <p:grpSp>
        <p:nvGrpSpPr>
          <p:cNvPr id="27" name="Group 26"/>
          <p:cNvGrpSpPr>
            <a:grpSpLocks/>
          </p:cNvGrpSpPr>
          <p:nvPr/>
        </p:nvGrpSpPr>
        <p:grpSpPr bwMode="auto">
          <a:xfrm>
            <a:off x="4140200" y="1620838"/>
            <a:ext cx="4329113" cy="3922712"/>
            <a:chOff x="877094" y="1115257"/>
            <a:chExt cx="4329129" cy="3922816"/>
          </a:xfrm>
        </p:grpSpPr>
        <p:sp>
          <p:nvSpPr>
            <p:cNvPr id="28" name="Rectangle 135"/>
            <p:cNvSpPr>
              <a:spLocks noChangeArrowheads="1"/>
            </p:cNvSpPr>
            <p:nvPr/>
          </p:nvSpPr>
          <p:spPr bwMode="auto">
            <a:xfrm>
              <a:off x="877094" y="1823301"/>
              <a:ext cx="4198954" cy="286392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sz="2000">
                <a:latin typeface="+mn-lt"/>
              </a:endParaRPr>
            </a:p>
          </p:txBody>
        </p:sp>
        <p:sp>
          <p:nvSpPr>
            <p:cNvPr id="2082" name="Rectangle 136"/>
            <p:cNvSpPr>
              <a:spLocks noChangeArrowheads="1"/>
            </p:cNvSpPr>
            <p:nvPr/>
          </p:nvSpPr>
          <p:spPr bwMode="auto">
            <a:xfrm>
              <a:off x="1804954" y="2042765"/>
              <a:ext cx="2484779" cy="2308801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2083" name="Rectangle 137"/>
            <p:cNvSpPr>
              <a:spLocks noChangeArrowheads="1"/>
            </p:cNvSpPr>
            <p:nvPr/>
          </p:nvSpPr>
          <p:spPr bwMode="auto">
            <a:xfrm>
              <a:off x="1804954" y="2042765"/>
              <a:ext cx="2484779" cy="2308801"/>
            </a:xfrm>
            <a:prstGeom prst="rect">
              <a:avLst/>
            </a:prstGeom>
            <a:noFill/>
            <a:ln w="0">
              <a:solidFill>
                <a:srgbClr val="FFFFFF"/>
              </a:solidFill>
              <a:miter lim="800000"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2084" name="Freeform 138"/>
            <p:cNvSpPr>
              <a:spLocks/>
            </p:cNvSpPr>
            <p:nvPr/>
          </p:nvSpPr>
          <p:spPr bwMode="auto">
            <a:xfrm>
              <a:off x="1804954" y="2042765"/>
              <a:ext cx="1048" cy="2308801"/>
            </a:xfrm>
            <a:custGeom>
              <a:avLst/>
              <a:gdLst>
                <a:gd name="T0" fmla="*/ 0 w 717"/>
                <a:gd name="T1" fmla="*/ 2147483647 h 158"/>
                <a:gd name="T2" fmla="*/ 0 w 717"/>
                <a:gd name="T3" fmla="*/ 0 h 158"/>
                <a:gd name="T4" fmla="*/ 0 w 717"/>
                <a:gd name="T5" fmla="*/ 0 h 158"/>
                <a:gd name="T6" fmla="*/ 0 60000 65536"/>
                <a:gd name="T7" fmla="*/ 0 60000 65536"/>
                <a:gd name="T8" fmla="*/ 0 60000 65536"/>
                <a:gd name="T9" fmla="*/ 0 w 717"/>
                <a:gd name="T10" fmla="*/ 0 h 158"/>
                <a:gd name="T11" fmla="*/ 717 w 717"/>
                <a:gd name="T12" fmla="*/ 158 h 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7" h="158">
                  <a:moveTo>
                    <a:pt x="0" y="15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85" name="Freeform 139"/>
            <p:cNvSpPr>
              <a:spLocks/>
            </p:cNvSpPr>
            <p:nvPr/>
          </p:nvSpPr>
          <p:spPr bwMode="auto">
            <a:xfrm>
              <a:off x="2622730" y="2042765"/>
              <a:ext cx="1048" cy="2308801"/>
            </a:xfrm>
            <a:custGeom>
              <a:avLst/>
              <a:gdLst>
                <a:gd name="T0" fmla="*/ 0 w 717"/>
                <a:gd name="T1" fmla="*/ 2147483647 h 158"/>
                <a:gd name="T2" fmla="*/ 0 w 717"/>
                <a:gd name="T3" fmla="*/ 0 h 158"/>
                <a:gd name="T4" fmla="*/ 0 w 717"/>
                <a:gd name="T5" fmla="*/ 0 h 158"/>
                <a:gd name="T6" fmla="*/ 0 60000 65536"/>
                <a:gd name="T7" fmla="*/ 0 60000 65536"/>
                <a:gd name="T8" fmla="*/ 0 60000 65536"/>
                <a:gd name="T9" fmla="*/ 0 w 717"/>
                <a:gd name="T10" fmla="*/ 0 h 158"/>
                <a:gd name="T11" fmla="*/ 717 w 717"/>
                <a:gd name="T12" fmla="*/ 158 h 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7" h="158">
                  <a:moveTo>
                    <a:pt x="0" y="15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86" name="Freeform 140"/>
            <p:cNvSpPr>
              <a:spLocks/>
            </p:cNvSpPr>
            <p:nvPr/>
          </p:nvSpPr>
          <p:spPr bwMode="auto">
            <a:xfrm>
              <a:off x="3456231" y="2042765"/>
              <a:ext cx="1048" cy="2308801"/>
            </a:xfrm>
            <a:custGeom>
              <a:avLst/>
              <a:gdLst>
                <a:gd name="T0" fmla="*/ 0 w 717"/>
                <a:gd name="T1" fmla="*/ 2147483647 h 158"/>
                <a:gd name="T2" fmla="*/ 0 w 717"/>
                <a:gd name="T3" fmla="*/ 0 h 158"/>
                <a:gd name="T4" fmla="*/ 0 w 717"/>
                <a:gd name="T5" fmla="*/ 0 h 158"/>
                <a:gd name="T6" fmla="*/ 0 60000 65536"/>
                <a:gd name="T7" fmla="*/ 0 60000 65536"/>
                <a:gd name="T8" fmla="*/ 0 60000 65536"/>
                <a:gd name="T9" fmla="*/ 0 w 717"/>
                <a:gd name="T10" fmla="*/ 0 h 158"/>
                <a:gd name="T11" fmla="*/ 717 w 717"/>
                <a:gd name="T12" fmla="*/ 158 h 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7" h="158">
                  <a:moveTo>
                    <a:pt x="0" y="15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87" name="Freeform 141"/>
            <p:cNvSpPr>
              <a:spLocks/>
            </p:cNvSpPr>
            <p:nvPr/>
          </p:nvSpPr>
          <p:spPr bwMode="auto">
            <a:xfrm>
              <a:off x="4289734" y="2042765"/>
              <a:ext cx="1048" cy="2308801"/>
            </a:xfrm>
            <a:custGeom>
              <a:avLst/>
              <a:gdLst>
                <a:gd name="T0" fmla="*/ 0 w 717"/>
                <a:gd name="T1" fmla="*/ 2147483647 h 158"/>
                <a:gd name="T2" fmla="*/ 0 w 717"/>
                <a:gd name="T3" fmla="*/ 0 h 158"/>
                <a:gd name="T4" fmla="*/ 0 w 717"/>
                <a:gd name="T5" fmla="*/ 0 h 158"/>
                <a:gd name="T6" fmla="*/ 0 60000 65536"/>
                <a:gd name="T7" fmla="*/ 0 60000 65536"/>
                <a:gd name="T8" fmla="*/ 0 60000 65536"/>
                <a:gd name="T9" fmla="*/ 0 w 717"/>
                <a:gd name="T10" fmla="*/ 0 h 158"/>
                <a:gd name="T11" fmla="*/ 717 w 717"/>
                <a:gd name="T12" fmla="*/ 158 h 1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7" h="158">
                  <a:moveTo>
                    <a:pt x="0" y="158"/>
                  </a:move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88" name="Freeform 142"/>
            <p:cNvSpPr>
              <a:spLocks/>
            </p:cNvSpPr>
            <p:nvPr/>
          </p:nvSpPr>
          <p:spPr bwMode="auto">
            <a:xfrm>
              <a:off x="1804954" y="4351567"/>
              <a:ext cx="2484779" cy="974"/>
            </a:xfrm>
            <a:custGeom>
              <a:avLst/>
              <a:gdLst>
                <a:gd name="T0" fmla="*/ 0 w 158"/>
                <a:gd name="T1" fmla="*/ 0 h 695"/>
                <a:gd name="T2" fmla="*/ 2147483647 w 158"/>
                <a:gd name="T3" fmla="*/ 0 h 695"/>
                <a:gd name="T4" fmla="*/ 2147483647 w 158"/>
                <a:gd name="T5" fmla="*/ 0 h 695"/>
                <a:gd name="T6" fmla="*/ 0 60000 65536"/>
                <a:gd name="T7" fmla="*/ 0 60000 65536"/>
                <a:gd name="T8" fmla="*/ 0 60000 65536"/>
                <a:gd name="T9" fmla="*/ 0 w 158"/>
                <a:gd name="T10" fmla="*/ 0 h 695"/>
                <a:gd name="T11" fmla="*/ 158 w 158"/>
                <a:gd name="T12" fmla="*/ 695 h 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695">
                  <a:moveTo>
                    <a:pt x="0" y="0"/>
                  </a:moveTo>
                  <a:lnTo>
                    <a:pt x="15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89" name="Freeform 143"/>
            <p:cNvSpPr>
              <a:spLocks/>
            </p:cNvSpPr>
            <p:nvPr/>
          </p:nvSpPr>
          <p:spPr bwMode="auto">
            <a:xfrm>
              <a:off x="1804954" y="3577422"/>
              <a:ext cx="2484779" cy="974"/>
            </a:xfrm>
            <a:custGeom>
              <a:avLst/>
              <a:gdLst>
                <a:gd name="T0" fmla="*/ 0 w 158"/>
                <a:gd name="T1" fmla="*/ 0 h 695"/>
                <a:gd name="T2" fmla="*/ 2147483647 w 158"/>
                <a:gd name="T3" fmla="*/ 0 h 695"/>
                <a:gd name="T4" fmla="*/ 2147483647 w 158"/>
                <a:gd name="T5" fmla="*/ 0 h 695"/>
                <a:gd name="T6" fmla="*/ 0 60000 65536"/>
                <a:gd name="T7" fmla="*/ 0 60000 65536"/>
                <a:gd name="T8" fmla="*/ 0 60000 65536"/>
                <a:gd name="T9" fmla="*/ 0 w 158"/>
                <a:gd name="T10" fmla="*/ 0 h 695"/>
                <a:gd name="T11" fmla="*/ 158 w 158"/>
                <a:gd name="T12" fmla="*/ 695 h 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695">
                  <a:moveTo>
                    <a:pt x="0" y="0"/>
                  </a:moveTo>
                  <a:lnTo>
                    <a:pt x="15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0" name="Freeform 144"/>
            <p:cNvSpPr>
              <a:spLocks/>
            </p:cNvSpPr>
            <p:nvPr/>
          </p:nvSpPr>
          <p:spPr bwMode="auto">
            <a:xfrm>
              <a:off x="1804954" y="2816910"/>
              <a:ext cx="2484779" cy="974"/>
            </a:xfrm>
            <a:custGeom>
              <a:avLst/>
              <a:gdLst>
                <a:gd name="T0" fmla="*/ 0 w 158"/>
                <a:gd name="T1" fmla="*/ 0 h 695"/>
                <a:gd name="T2" fmla="*/ 2147483647 w 158"/>
                <a:gd name="T3" fmla="*/ 0 h 695"/>
                <a:gd name="T4" fmla="*/ 2147483647 w 158"/>
                <a:gd name="T5" fmla="*/ 0 h 695"/>
                <a:gd name="T6" fmla="*/ 0 60000 65536"/>
                <a:gd name="T7" fmla="*/ 0 60000 65536"/>
                <a:gd name="T8" fmla="*/ 0 60000 65536"/>
                <a:gd name="T9" fmla="*/ 0 w 158"/>
                <a:gd name="T10" fmla="*/ 0 h 695"/>
                <a:gd name="T11" fmla="*/ 158 w 158"/>
                <a:gd name="T12" fmla="*/ 695 h 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695">
                  <a:moveTo>
                    <a:pt x="0" y="0"/>
                  </a:moveTo>
                  <a:lnTo>
                    <a:pt x="15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1" name="Freeform 145"/>
            <p:cNvSpPr>
              <a:spLocks/>
            </p:cNvSpPr>
            <p:nvPr/>
          </p:nvSpPr>
          <p:spPr bwMode="auto">
            <a:xfrm>
              <a:off x="1804954" y="2042765"/>
              <a:ext cx="2484779" cy="974"/>
            </a:xfrm>
            <a:custGeom>
              <a:avLst/>
              <a:gdLst>
                <a:gd name="T0" fmla="*/ 0 w 158"/>
                <a:gd name="T1" fmla="*/ 0 h 695"/>
                <a:gd name="T2" fmla="*/ 2147483647 w 158"/>
                <a:gd name="T3" fmla="*/ 0 h 695"/>
                <a:gd name="T4" fmla="*/ 2147483647 w 158"/>
                <a:gd name="T5" fmla="*/ 0 h 695"/>
                <a:gd name="T6" fmla="*/ 0 60000 65536"/>
                <a:gd name="T7" fmla="*/ 0 60000 65536"/>
                <a:gd name="T8" fmla="*/ 0 60000 65536"/>
                <a:gd name="T9" fmla="*/ 0 w 158"/>
                <a:gd name="T10" fmla="*/ 0 h 695"/>
                <a:gd name="T11" fmla="*/ 158 w 158"/>
                <a:gd name="T12" fmla="*/ 695 h 6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" h="695">
                  <a:moveTo>
                    <a:pt x="0" y="0"/>
                  </a:moveTo>
                  <a:lnTo>
                    <a:pt x="15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ysDot"/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2" name="Line 146"/>
            <p:cNvSpPr>
              <a:spLocks noChangeShapeType="1"/>
            </p:cNvSpPr>
            <p:nvPr/>
          </p:nvSpPr>
          <p:spPr bwMode="auto">
            <a:xfrm>
              <a:off x="1804954" y="2042765"/>
              <a:ext cx="2484779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3" name="Line 147"/>
            <p:cNvSpPr>
              <a:spLocks noChangeShapeType="1"/>
            </p:cNvSpPr>
            <p:nvPr/>
          </p:nvSpPr>
          <p:spPr bwMode="auto">
            <a:xfrm>
              <a:off x="1804954" y="4351567"/>
              <a:ext cx="2484779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4" name="Line 148"/>
            <p:cNvSpPr>
              <a:spLocks noChangeShapeType="1"/>
            </p:cNvSpPr>
            <p:nvPr/>
          </p:nvSpPr>
          <p:spPr bwMode="auto">
            <a:xfrm flipV="1">
              <a:off x="4289734" y="2042765"/>
              <a:ext cx="1048" cy="230880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5" name="Line 149"/>
            <p:cNvSpPr>
              <a:spLocks noChangeShapeType="1"/>
            </p:cNvSpPr>
            <p:nvPr/>
          </p:nvSpPr>
          <p:spPr bwMode="auto">
            <a:xfrm flipV="1">
              <a:off x="1804954" y="2042765"/>
              <a:ext cx="1048" cy="230880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6" name="Line 150"/>
            <p:cNvSpPr>
              <a:spLocks noChangeShapeType="1"/>
            </p:cNvSpPr>
            <p:nvPr/>
          </p:nvSpPr>
          <p:spPr bwMode="auto">
            <a:xfrm>
              <a:off x="1804954" y="4351567"/>
              <a:ext cx="2484779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7" name="Line 151"/>
            <p:cNvSpPr>
              <a:spLocks noChangeShapeType="1"/>
            </p:cNvSpPr>
            <p:nvPr/>
          </p:nvSpPr>
          <p:spPr bwMode="auto">
            <a:xfrm flipV="1">
              <a:off x="1804954" y="2042765"/>
              <a:ext cx="1048" cy="230880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8" name="Line 152"/>
            <p:cNvSpPr>
              <a:spLocks noChangeShapeType="1"/>
            </p:cNvSpPr>
            <p:nvPr/>
          </p:nvSpPr>
          <p:spPr bwMode="auto">
            <a:xfrm flipV="1">
              <a:off x="1804954" y="4322355"/>
              <a:ext cx="1048" cy="29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99" name="Line 153"/>
            <p:cNvSpPr>
              <a:spLocks noChangeShapeType="1"/>
            </p:cNvSpPr>
            <p:nvPr/>
          </p:nvSpPr>
          <p:spPr bwMode="auto">
            <a:xfrm>
              <a:off x="1804954" y="2042765"/>
              <a:ext cx="1048" cy="29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0" name="Line 155"/>
            <p:cNvSpPr>
              <a:spLocks noChangeShapeType="1"/>
            </p:cNvSpPr>
            <p:nvPr/>
          </p:nvSpPr>
          <p:spPr bwMode="auto">
            <a:xfrm flipV="1">
              <a:off x="2622730" y="4322355"/>
              <a:ext cx="1048" cy="29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1" name="Line 156"/>
            <p:cNvSpPr>
              <a:spLocks noChangeShapeType="1"/>
            </p:cNvSpPr>
            <p:nvPr/>
          </p:nvSpPr>
          <p:spPr bwMode="auto">
            <a:xfrm>
              <a:off x="2622730" y="2042765"/>
              <a:ext cx="1048" cy="29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2" name="Rectangle 157"/>
            <p:cNvSpPr>
              <a:spLocks noChangeArrowheads="1"/>
            </p:cNvSpPr>
            <p:nvPr/>
          </p:nvSpPr>
          <p:spPr bwMode="auto">
            <a:xfrm>
              <a:off x="2481191" y="4409992"/>
              <a:ext cx="377435" cy="233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0.5</a:t>
              </a:r>
              <a:endParaRPr lang="en-US" altLang="en-US"/>
            </a:p>
          </p:txBody>
        </p:sp>
        <p:sp>
          <p:nvSpPr>
            <p:cNvPr id="2103" name="Line 158"/>
            <p:cNvSpPr>
              <a:spLocks noChangeShapeType="1"/>
            </p:cNvSpPr>
            <p:nvPr/>
          </p:nvSpPr>
          <p:spPr bwMode="auto">
            <a:xfrm flipV="1">
              <a:off x="3456231" y="4322355"/>
              <a:ext cx="1048" cy="29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4" name="Line 159"/>
            <p:cNvSpPr>
              <a:spLocks noChangeShapeType="1"/>
            </p:cNvSpPr>
            <p:nvPr/>
          </p:nvSpPr>
          <p:spPr bwMode="auto">
            <a:xfrm>
              <a:off x="3456231" y="2042765"/>
              <a:ext cx="1048" cy="29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5" name="Line 161"/>
            <p:cNvSpPr>
              <a:spLocks noChangeShapeType="1"/>
            </p:cNvSpPr>
            <p:nvPr/>
          </p:nvSpPr>
          <p:spPr bwMode="auto">
            <a:xfrm flipV="1">
              <a:off x="4289734" y="4322355"/>
              <a:ext cx="1048" cy="29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6" name="Line 162"/>
            <p:cNvSpPr>
              <a:spLocks noChangeShapeType="1"/>
            </p:cNvSpPr>
            <p:nvPr/>
          </p:nvSpPr>
          <p:spPr bwMode="auto">
            <a:xfrm>
              <a:off x="4289734" y="2042765"/>
              <a:ext cx="1048" cy="2921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7" name="Rectangle 163"/>
            <p:cNvSpPr>
              <a:spLocks noChangeArrowheads="1"/>
            </p:cNvSpPr>
            <p:nvPr/>
          </p:nvSpPr>
          <p:spPr bwMode="auto">
            <a:xfrm>
              <a:off x="4148196" y="4409992"/>
              <a:ext cx="377435" cy="233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1.5</a:t>
              </a:r>
              <a:endParaRPr lang="en-US" altLang="en-US"/>
            </a:p>
          </p:txBody>
        </p:sp>
        <p:sp>
          <p:nvSpPr>
            <p:cNvPr id="2108" name="Line 164"/>
            <p:cNvSpPr>
              <a:spLocks noChangeShapeType="1"/>
            </p:cNvSpPr>
            <p:nvPr/>
          </p:nvSpPr>
          <p:spPr bwMode="auto">
            <a:xfrm>
              <a:off x="1804954" y="4351567"/>
              <a:ext cx="15725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09" name="Line 165"/>
            <p:cNvSpPr>
              <a:spLocks noChangeShapeType="1"/>
            </p:cNvSpPr>
            <p:nvPr/>
          </p:nvSpPr>
          <p:spPr bwMode="auto">
            <a:xfrm flipH="1">
              <a:off x="4258280" y="4351567"/>
              <a:ext cx="31452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0" name="Rectangle 166"/>
            <p:cNvSpPr>
              <a:spLocks noChangeArrowheads="1"/>
            </p:cNvSpPr>
            <p:nvPr/>
          </p:nvSpPr>
          <p:spPr bwMode="auto">
            <a:xfrm>
              <a:off x="1531188" y="4383600"/>
              <a:ext cx="319534" cy="34690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>
                  <a:solidFill>
                    <a:srgbClr val="000000"/>
                  </a:solidFill>
                  <a:latin typeface="Helvetica"/>
                </a:rPr>
                <a:t>0</a:t>
              </a:r>
              <a:endParaRPr lang="en-US" altLang="en-US"/>
            </a:p>
          </p:txBody>
        </p:sp>
        <p:sp>
          <p:nvSpPr>
            <p:cNvPr id="2111" name="Line 167"/>
            <p:cNvSpPr>
              <a:spLocks noChangeShapeType="1"/>
            </p:cNvSpPr>
            <p:nvPr/>
          </p:nvSpPr>
          <p:spPr bwMode="auto">
            <a:xfrm>
              <a:off x="1804954" y="3577422"/>
              <a:ext cx="15725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2" name="Line 168"/>
            <p:cNvSpPr>
              <a:spLocks noChangeShapeType="1"/>
            </p:cNvSpPr>
            <p:nvPr/>
          </p:nvSpPr>
          <p:spPr bwMode="auto">
            <a:xfrm flipH="1">
              <a:off x="4258280" y="3577422"/>
              <a:ext cx="31452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3" name="Rectangle 169"/>
            <p:cNvSpPr>
              <a:spLocks noChangeArrowheads="1"/>
            </p:cNvSpPr>
            <p:nvPr/>
          </p:nvSpPr>
          <p:spPr bwMode="auto">
            <a:xfrm>
              <a:off x="1458973" y="3460570"/>
              <a:ext cx="377435" cy="233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0.5</a:t>
              </a:r>
              <a:endParaRPr lang="en-US" altLang="en-US"/>
            </a:p>
          </p:txBody>
        </p:sp>
        <p:sp>
          <p:nvSpPr>
            <p:cNvPr id="2114" name="Line 170"/>
            <p:cNvSpPr>
              <a:spLocks noChangeShapeType="1"/>
            </p:cNvSpPr>
            <p:nvPr/>
          </p:nvSpPr>
          <p:spPr bwMode="auto">
            <a:xfrm>
              <a:off x="1804954" y="2816910"/>
              <a:ext cx="15725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5" name="Line 171"/>
            <p:cNvSpPr>
              <a:spLocks noChangeShapeType="1"/>
            </p:cNvSpPr>
            <p:nvPr/>
          </p:nvSpPr>
          <p:spPr bwMode="auto">
            <a:xfrm flipH="1">
              <a:off x="4258280" y="2816910"/>
              <a:ext cx="31452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6" name="Rectangle 172"/>
            <p:cNvSpPr>
              <a:spLocks noChangeArrowheads="1"/>
            </p:cNvSpPr>
            <p:nvPr/>
          </p:nvSpPr>
          <p:spPr bwMode="auto">
            <a:xfrm>
              <a:off x="1483405" y="2662501"/>
              <a:ext cx="263362" cy="3088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>
                  <a:solidFill>
                    <a:srgbClr val="000000"/>
                  </a:solidFill>
                  <a:latin typeface="Helvetica"/>
                </a:rPr>
                <a:t>1</a:t>
              </a:r>
              <a:endParaRPr lang="en-US" altLang="en-US"/>
            </a:p>
          </p:txBody>
        </p:sp>
        <p:sp>
          <p:nvSpPr>
            <p:cNvPr id="2117" name="Line 173"/>
            <p:cNvSpPr>
              <a:spLocks noChangeShapeType="1"/>
            </p:cNvSpPr>
            <p:nvPr/>
          </p:nvSpPr>
          <p:spPr bwMode="auto">
            <a:xfrm>
              <a:off x="1804954" y="2042765"/>
              <a:ext cx="15725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8" name="Line 174"/>
            <p:cNvSpPr>
              <a:spLocks noChangeShapeType="1"/>
            </p:cNvSpPr>
            <p:nvPr/>
          </p:nvSpPr>
          <p:spPr bwMode="auto">
            <a:xfrm flipH="1">
              <a:off x="4258280" y="2042765"/>
              <a:ext cx="31452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19" name="Rectangle 175"/>
            <p:cNvSpPr>
              <a:spLocks noChangeArrowheads="1"/>
            </p:cNvSpPr>
            <p:nvPr/>
          </p:nvSpPr>
          <p:spPr bwMode="auto">
            <a:xfrm>
              <a:off x="1458973" y="1925914"/>
              <a:ext cx="377435" cy="2337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 sz="1100">
                  <a:solidFill>
                    <a:srgbClr val="000000"/>
                  </a:solidFill>
                  <a:latin typeface="Helvetica"/>
                </a:rPr>
                <a:t>1.5</a:t>
              </a:r>
              <a:endParaRPr lang="en-US" altLang="en-US"/>
            </a:p>
          </p:txBody>
        </p:sp>
        <p:sp>
          <p:nvSpPr>
            <p:cNvPr id="2120" name="Line 176"/>
            <p:cNvSpPr>
              <a:spLocks noChangeShapeType="1"/>
            </p:cNvSpPr>
            <p:nvPr/>
          </p:nvSpPr>
          <p:spPr bwMode="auto">
            <a:xfrm>
              <a:off x="1804954" y="2042765"/>
              <a:ext cx="2484779" cy="97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21" name="Line 177"/>
            <p:cNvSpPr>
              <a:spLocks noChangeShapeType="1"/>
            </p:cNvSpPr>
            <p:nvPr/>
          </p:nvSpPr>
          <p:spPr bwMode="auto">
            <a:xfrm flipV="1">
              <a:off x="1804954" y="4359554"/>
              <a:ext cx="3012648" cy="632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22" name="Line 178"/>
            <p:cNvSpPr>
              <a:spLocks noChangeShapeType="1"/>
            </p:cNvSpPr>
            <p:nvPr/>
          </p:nvSpPr>
          <p:spPr bwMode="auto">
            <a:xfrm flipV="1">
              <a:off x="4289734" y="2042765"/>
              <a:ext cx="1048" cy="230880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23" name="Line 179"/>
            <p:cNvSpPr>
              <a:spLocks noChangeShapeType="1"/>
            </p:cNvSpPr>
            <p:nvPr/>
          </p:nvSpPr>
          <p:spPr bwMode="auto">
            <a:xfrm flipV="1">
              <a:off x="1804954" y="1758424"/>
              <a:ext cx="22748" cy="259314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24" name="Oval 180"/>
            <p:cNvSpPr>
              <a:spLocks noChangeArrowheads="1"/>
            </p:cNvSpPr>
            <p:nvPr/>
          </p:nvSpPr>
          <p:spPr bwMode="auto">
            <a:xfrm>
              <a:off x="1737854" y="4235689"/>
              <a:ext cx="179281" cy="167488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73" name="Rectangle 186"/>
            <p:cNvSpPr>
              <a:spLocks noChangeArrowheads="1"/>
            </p:cNvSpPr>
            <p:nvPr/>
          </p:nvSpPr>
          <p:spPr bwMode="auto">
            <a:xfrm>
              <a:off x="2591600" y="4658651"/>
              <a:ext cx="1084267" cy="3794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input 1</a:t>
              </a:r>
              <a:endParaRPr lang="en-US" sz="2000">
                <a:latin typeface="+mn-lt"/>
              </a:endParaRPr>
            </a:p>
          </p:txBody>
        </p:sp>
        <p:sp>
          <p:nvSpPr>
            <p:cNvPr id="74" name="Rectangle 187"/>
            <p:cNvSpPr>
              <a:spLocks noChangeArrowheads="1"/>
            </p:cNvSpPr>
            <p:nvPr/>
          </p:nvSpPr>
          <p:spPr bwMode="auto">
            <a:xfrm rot="16200000">
              <a:off x="764369" y="2912359"/>
              <a:ext cx="1008090" cy="407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lang="en-GB" sz="2000" dirty="0">
                  <a:solidFill>
                    <a:srgbClr val="000000"/>
                  </a:solidFill>
                  <a:latin typeface="+mn-lt"/>
                </a:rPr>
                <a:t>input 2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75" name="Rectangle 188"/>
            <p:cNvSpPr>
              <a:spLocks noChangeArrowheads="1"/>
            </p:cNvSpPr>
            <p:nvPr/>
          </p:nvSpPr>
          <p:spPr bwMode="auto">
            <a:xfrm>
              <a:off x="1691485" y="1115257"/>
              <a:ext cx="3514738" cy="438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lang="en-GB" sz="2400" dirty="0">
                  <a:solidFill>
                    <a:srgbClr val="000000"/>
                  </a:solidFill>
                  <a:latin typeface="+mn-lt"/>
                </a:rPr>
                <a:t>  : class 1,        : class 2</a:t>
              </a:r>
              <a:endParaRPr lang="en-US" sz="2400" dirty="0">
                <a:latin typeface="+mn-lt"/>
              </a:endParaRPr>
            </a:p>
          </p:txBody>
        </p:sp>
        <p:sp>
          <p:nvSpPr>
            <p:cNvPr id="76" name="Text Box 191"/>
            <p:cNvSpPr txBox="1">
              <a:spLocks noChangeArrowheads="1"/>
            </p:cNvSpPr>
            <p:nvPr/>
          </p:nvSpPr>
          <p:spPr bwMode="auto">
            <a:xfrm>
              <a:off x="4526770" y="4384006"/>
              <a:ext cx="377826" cy="525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lang="en-GB" sz="2000" dirty="0">
                  <a:latin typeface="+mn-lt"/>
                </a:rPr>
                <a:t>x</a:t>
              </a:r>
              <a:r>
                <a:rPr lang="en-GB" sz="2000" baseline="-25000" dirty="0">
                  <a:latin typeface="+mn-lt"/>
                </a:rPr>
                <a:t>1</a:t>
              </a:r>
              <a:endParaRPr lang="en-US" sz="2000" dirty="0">
                <a:latin typeface="+mn-lt"/>
              </a:endParaRPr>
            </a:p>
          </p:txBody>
        </p:sp>
        <p:sp>
          <p:nvSpPr>
            <p:cNvPr id="77" name="Text Box 192"/>
            <p:cNvSpPr txBox="1">
              <a:spLocks noChangeArrowheads="1"/>
            </p:cNvSpPr>
            <p:nvPr/>
          </p:nvSpPr>
          <p:spPr bwMode="auto">
            <a:xfrm>
              <a:off x="1466059" y="1586757"/>
              <a:ext cx="377826" cy="525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defRPr/>
              </a:pPr>
              <a:r>
                <a:rPr lang="en-GB" sz="2000" dirty="0">
                  <a:latin typeface="+mn-lt"/>
                </a:rPr>
                <a:t>x</a:t>
              </a:r>
              <a:r>
                <a:rPr lang="en-GB" sz="2000" baseline="-25000" dirty="0">
                  <a:latin typeface="+mn-lt"/>
                </a:rPr>
                <a:t>2</a:t>
              </a:r>
              <a:endParaRPr lang="en-US" sz="2000" dirty="0">
                <a:latin typeface="+mn-lt"/>
              </a:endParaRPr>
            </a:p>
          </p:txBody>
        </p:sp>
        <p:grpSp>
          <p:nvGrpSpPr>
            <p:cNvPr id="2130" name="Group 193"/>
            <p:cNvGrpSpPr>
              <a:grpSpLocks/>
            </p:cNvGrpSpPr>
            <p:nvPr/>
          </p:nvGrpSpPr>
          <p:grpSpPr bwMode="auto">
            <a:xfrm>
              <a:off x="3641719" y="1265437"/>
              <a:ext cx="157264" cy="146065"/>
              <a:chOff x="4239" y="9949"/>
              <a:chExt cx="150" cy="150"/>
            </a:xfrm>
          </p:grpSpPr>
          <p:sp>
            <p:nvSpPr>
              <p:cNvPr id="2138" name="Line 194"/>
              <p:cNvSpPr>
                <a:spLocks noChangeShapeType="1"/>
              </p:cNvSpPr>
              <p:nvPr/>
            </p:nvSpPr>
            <p:spPr bwMode="auto">
              <a:xfrm>
                <a:off x="4239" y="9949"/>
                <a:ext cx="150" cy="150"/>
              </a:xfrm>
              <a:prstGeom prst="line">
                <a:avLst/>
              </a:prstGeom>
              <a:noFill/>
              <a:ln w="38100">
                <a:solidFill>
                  <a:srgbClr val="007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39" name="Line 195"/>
              <p:cNvSpPr>
                <a:spLocks noChangeShapeType="1"/>
              </p:cNvSpPr>
              <p:nvPr/>
            </p:nvSpPr>
            <p:spPr bwMode="auto">
              <a:xfrm flipH="1">
                <a:off x="4239" y="9949"/>
                <a:ext cx="150" cy="150"/>
              </a:xfrm>
              <a:prstGeom prst="line">
                <a:avLst/>
              </a:prstGeom>
              <a:noFill/>
              <a:ln w="38100">
                <a:solidFill>
                  <a:srgbClr val="007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131" name="Oval 197"/>
            <p:cNvSpPr>
              <a:spLocks noChangeArrowheads="1"/>
            </p:cNvSpPr>
            <p:nvPr/>
          </p:nvSpPr>
          <p:spPr bwMode="auto">
            <a:xfrm>
              <a:off x="1657127" y="1243044"/>
              <a:ext cx="179281" cy="167488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2132" name="Oval 196"/>
            <p:cNvSpPr>
              <a:spLocks noChangeArrowheads="1"/>
            </p:cNvSpPr>
            <p:nvPr/>
          </p:nvSpPr>
          <p:spPr bwMode="auto">
            <a:xfrm>
              <a:off x="3372882" y="4230154"/>
              <a:ext cx="179281" cy="167488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grpSp>
          <p:nvGrpSpPr>
            <p:cNvPr id="2133" name="Group 193"/>
            <p:cNvGrpSpPr>
              <a:grpSpLocks/>
            </p:cNvGrpSpPr>
            <p:nvPr/>
          </p:nvGrpSpPr>
          <p:grpSpPr bwMode="auto">
            <a:xfrm>
              <a:off x="3403077" y="2746788"/>
              <a:ext cx="157264" cy="146065"/>
              <a:chOff x="4239" y="9949"/>
              <a:chExt cx="150" cy="150"/>
            </a:xfrm>
          </p:grpSpPr>
          <p:sp>
            <p:nvSpPr>
              <p:cNvPr id="2136" name="Line 194"/>
              <p:cNvSpPr>
                <a:spLocks noChangeShapeType="1"/>
              </p:cNvSpPr>
              <p:nvPr/>
            </p:nvSpPr>
            <p:spPr bwMode="auto">
              <a:xfrm>
                <a:off x="4239" y="9949"/>
                <a:ext cx="150" cy="150"/>
              </a:xfrm>
              <a:prstGeom prst="line">
                <a:avLst/>
              </a:prstGeom>
              <a:noFill/>
              <a:ln w="38100">
                <a:solidFill>
                  <a:srgbClr val="007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137" name="Line 195"/>
              <p:cNvSpPr>
                <a:spLocks noChangeShapeType="1"/>
              </p:cNvSpPr>
              <p:nvPr/>
            </p:nvSpPr>
            <p:spPr bwMode="auto">
              <a:xfrm flipH="1">
                <a:off x="4239" y="9949"/>
                <a:ext cx="150" cy="150"/>
              </a:xfrm>
              <a:prstGeom prst="line">
                <a:avLst/>
              </a:prstGeom>
              <a:noFill/>
              <a:ln w="38100">
                <a:solidFill>
                  <a:srgbClr val="007F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134" name="Oval 197"/>
            <p:cNvSpPr>
              <a:spLocks noChangeArrowheads="1"/>
            </p:cNvSpPr>
            <p:nvPr/>
          </p:nvSpPr>
          <p:spPr bwMode="auto">
            <a:xfrm>
              <a:off x="1723175" y="2733795"/>
              <a:ext cx="179281" cy="167488"/>
            </a:xfrm>
            <a:prstGeom prst="ellips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en-US" altLang="en-US"/>
            </a:p>
          </p:txBody>
        </p:sp>
        <p:sp>
          <p:nvSpPr>
            <p:cNvPr id="2135" name="Rectangle 172"/>
            <p:cNvSpPr>
              <a:spLocks noChangeArrowheads="1"/>
            </p:cNvSpPr>
            <p:nvPr/>
          </p:nvSpPr>
          <p:spPr bwMode="auto">
            <a:xfrm>
              <a:off x="3378357" y="4421688"/>
              <a:ext cx="263362" cy="3088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eaLnBrk="1" hangingPunct="1">
                <a:spcAft>
                  <a:spcPts val="1000"/>
                </a:spcAft>
              </a:pPr>
              <a:r>
                <a:rPr lang="en-GB" altLang="en-US">
                  <a:solidFill>
                    <a:srgbClr val="000000"/>
                  </a:solidFill>
                  <a:latin typeface="Helvetica"/>
                </a:rPr>
                <a:t>1</a:t>
              </a:r>
              <a:endParaRPr lang="en-US" altLang="en-US"/>
            </a:p>
          </p:txBody>
        </p:sp>
      </p:grpSp>
      <p:sp>
        <p:nvSpPr>
          <p:cNvPr id="88" name="Line 189"/>
          <p:cNvSpPr>
            <a:spLocks noChangeShapeType="1"/>
          </p:cNvSpPr>
          <p:nvPr/>
        </p:nvSpPr>
        <p:spPr bwMode="auto">
          <a:xfrm>
            <a:off x="4518025" y="2500313"/>
            <a:ext cx="4198938" cy="2308225"/>
          </a:xfrm>
          <a:prstGeom prst="line">
            <a:avLst/>
          </a:prstGeom>
          <a:noFill/>
          <a:ln w="38100">
            <a:solidFill>
              <a:srgbClr val="00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45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3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1" grpId="0"/>
      <p:bldP spid="26" grpId="0"/>
      <p:bldP spid="8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57" name="Rectangle 17"/>
          <p:cNvSpPr>
            <a:spLocks noChangeArrowheads="1"/>
          </p:cNvSpPr>
          <p:nvPr/>
        </p:nvSpPr>
        <p:spPr bwMode="auto">
          <a:xfrm>
            <a:off x="215516" y="4349895"/>
            <a:ext cx="832485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altLang="en-US" dirty="0">
                <a:cs typeface="Times New Roman" pitchFamily="18" charset="0"/>
              </a:rPr>
              <a:t> </a:t>
            </a:r>
            <a:r>
              <a:rPr lang="en-GB" altLang="en-US" b="1" dirty="0">
                <a:cs typeface="Times New Roman" pitchFamily="18" charset="0"/>
              </a:rPr>
              <a:t>S</a:t>
            </a:r>
            <a:r>
              <a:rPr lang="en-GB" altLang="en-US" dirty="0">
                <a:cs typeface="Times New Roman" pitchFamily="18" charset="0"/>
              </a:rPr>
              <a:t> =        = (0, 0, 1).   </a:t>
            </a:r>
            <a:r>
              <a:rPr lang="en-GB" altLang="en-US" b="1" dirty="0">
                <a:cs typeface="Times New Roman" pitchFamily="18" charset="0"/>
              </a:rPr>
              <a:t>S</a:t>
            </a:r>
            <a:r>
              <a:rPr lang="en-GB" altLang="en-US" dirty="0">
                <a:cs typeface="Times New Roman" pitchFamily="18" charset="0"/>
              </a:rPr>
              <a:t> is not (0,0,0), then:</a:t>
            </a:r>
          </a:p>
          <a:p>
            <a:r>
              <a:rPr lang="en-GB" altLang="en-US" dirty="0">
                <a:cs typeface="Times New Roman" pitchFamily="18" charset="0"/>
              </a:rPr>
              <a:t>			=  0.35 (0, 0, 1) = (0, 0, 0.35)  </a:t>
            </a:r>
            <a:endParaRPr lang="en-GB" altLang="en-US" dirty="0"/>
          </a:p>
        </p:txBody>
      </p:sp>
      <p:sp>
        <p:nvSpPr>
          <p:cNvPr id="35859" name="Rectangle 19"/>
          <p:cNvSpPr>
            <a:spLocks noChangeArrowheads="1"/>
          </p:cNvSpPr>
          <p:nvPr/>
        </p:nvSpPr>
        <p:spPr bwMode="auto">
          <a:xfrm>
            <a:off x="307975" y="5783263"/>
            <a:ext cx="86614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GB" altLang="en-US" dirty="0">
                <a:solidFill>
                  <a:srgbClr val="FF0000"/>
                </a:solidFill>
                <a:cs typeface="Times New Roman" pitchFamily="18" charset="0"/>
              </a:rPr>
              <a:t>End of one </a:t>
            </a:r>
            <a:r>
              <a:rPr lang="en-GB" altLang="en-US" b="1" i="1" dirty="0">
                <a:solidFill>
                  <a:srgbClr val="FF0000"/>
                </a:solidFill>
                <a:cs typeface="Times New Roman" pitchFamily="18" charset="0"/>
              </a:rPr>
              <a:t>epoch.  </a:t>
            </a:r>
            <a:r>
              <a:rPr lang="en-GB" altLang="en-US" dirty="0">
                <a:solidFill>
                  <a:srgbClr val="0070C0"/>
                </a:solidFill>
                <a:cs typeface="Times New Roman" pitchFamily="18" charset="0"/>
              </a:rPr>
              <a:t>Because </a:t>
            </a:r>
            <a:r>
              <a:rPr lang="en-GB" altLang="en-US" b="1" dirty="0">
                <a:solidFill>
                  <a:srgbClr val="0070C0"/>
                </a:solidFill>
                <a:cs typeface="Times New Roman" pitchFamily="18" charset="0"/>
              </a:rPr>
              <a:t>S</a:t>
            </a:r>
            <a:r>
              <a:rPr lang="en-GB" altLang="en-US" dirty="0">
                <a:solidFill>
                  <a:srgbClr val="0070C0"/>
                </a:solidFill>
                <a:cs typeface="Times New Roman" pitchFamily="18" charset="0"/>
              </a:rPr>
              <a:t> is not zero, repeat</a:t>
            </a:r>
            <a:r>
              <a:rPr lang="en-GB" altLang="en-US">
                <a:solidFill>
                  <a:srgbClr val="0070C0"/>
                </a:solidFill>
                <a:cs typeface="Times New Roman" pitchFamily="18" charset="0"/>
              </a:rPr>
              <a:t>, starting </a:t>
            </a:r>
            <a:r>
              <a:rPr lang="en-GB" altLang="en-US" dirty="0">
                <a:solidFill>
                  <a:srgbClr val="0070C0"/>
                </a:solidFill>
                <a:cs typeface="Times New Roman" pitchFamily="18" charset="0"/>
              </a:rPr>
              <a:t>	with </a:t>
            </a:r>
            <a:r>
              <a:rPr lang="en-GB" altLang="en-US" dirty="0">
                <a:cs typeface="Times New Roman" pitchFamily="18" charset="0"/>
              </a:rPr>
              <a:t>S=(0, 0, 0) </a:t>
            </a:r>
            <a:r>
              <a:rPr lang="en-GB" altLang="en-US" dirty="0">
                <a:solidFill>
                  <a:srgbClr val="0070C0"/>
                </a:solidFill>
                <a:cs typeface="Times New Roman" pitchFamily="18" charset="0"/>
              </a:rPr>
              <a:t>and </a:t>
            </a:r>
            <a:r>
              <a:rPr lang="en-GB" altLang="en-US" b="1" dirty="0">
                <a:cs typeface="Times New Roman" pitchFamily="18" charset="0"/>
              </a:rPr>
              <a:t>W</a:t>
            </a:r>
            <a:r>
              <a:rPr lang="en-GB" altLang="en-US" b="1" baseline="30000" dirty="0">
                <a:cs typeface="Times New Roman" pitchFamily="18" charset="0"/>
              </a:rPr>
              <a:t>1</a:t>
            </a:r>
            <a:r>
              <a:rPr lang="en-GB" altLang="en-US" dirty="0">
                <a:cs typeface="Times New Roman" pitchFamily="18" charset="0"/>
              </a:rPr>
              <a:t> = (</a:t>
            </a:r>
            <a:r>
              <a:rPr lang="en-GB" altLang="en-US" dirty="0">
                <a:highlight>
                  <a:srgbClr val="C0C0C0"/>
                </a:highlight>
                <a:cs typeface="Times New Roman" pitchFamily="18" charset="0"/>
              </a:rPr>
              <a:t>-0.2, 0.3, 0.15</a:t>
            </a:r>
            <a:r>
              <a:rPr lang="en-GB" altLang="en-US" dirty="0">
                <a:cs typeface="Times New Roman" pitchFamily="18" charset="0"/>
              </a:rPr>
              <a:t>).</a:t>
            </a:r>
            <a:r>
              <a:rPr lang="en-GB" altLang="en-US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endParaRPr lang="en-GB" altLang="en-US" dirty="0"/>
          </a:p>
        </p:txBody>
      </p:sp>
      <p:sp>
        <p:nvSpPr>
          <p:cNvPr id="3076" name="Date Placeholder 3"/>
          <p:cNvSpPr txBox="1">
            <a:spLocks noGrp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eaLnBrk="1" hangingPunct="1"/>
            <a:fld id="{BC08F428-57DD-4470-ADF9-A3399BC18ECA}" type="datetime1">
              <a:rPr lang="en-GB" altLang="en-US" sz="1200"/>
              <a:pPr eaLnBrk="1" hangingPunct="1"/>
              <a:t>10/02/2026</a:t>
            </a:fld>
            <a:endParaRPr lang="en-GB" altLang="en-US" sz="1200"/>
          </a:p>
        </p:txBody>
      </p:sp>
      <p:sp>
        <p:nvSpPr>
          <p:cNvPr id="3078" name="Slide Number Placeholder 5"/>
          <p:cNvSpPr txBox="1">
            <a:spLocks noGrp="1"/>
          </p:cNvSpPr>
          <p:nvPr/>
        </p:nvSpPr>
        <p:spPr bwMode="auto">
          <a:xfrm>
            <a:off x="8743950" y="6400800"/>
            <a:ext cx="400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7F8189B1-A047-419C-903A-328E39D4503C}" type="slidenum">
              <a:rPr lang="en-GB" altLang="en-US" sz="1200"/>
              <a:pPr algn="r" eaLnBrk="1" hangingPunct="1"/>
              <a:t>2</a:t>
            </a:fld>
            <a:endParaRPr lang="en-GB" altLang="en-US" sz="1200"/>
          </a:p>
        </p:txBody>
      </p:sp>
      <p:sp>
        <p:nvSpPr>
          <p:cNvPr id="3079" name="Rectangle 2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 altLang="en-US"/>
          </a:p>
        </p:txBody>
      </p:sp>
      <p:sp>
        <p:nvSpPr>
          <p:cNvPr id="35841" name="Rectangle 1"/>
          <p:cNvSpPr>
            <a:spLocks noChangeArrowheads="1"/>
          </p:cNvSpPr>
          <p:nvPr/>
        </p:nvSpPr>
        <p:spPr bwMode="auto">
          <a:xfrm>
            <a:off x="1220788" y="-6350"/>
            <a:ext cx="7275648" cy="1570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250825" indent="-179388"/>
            <a:r>
              <a:rPr lang="en-GB" altLang="en-US" dirty="0">
                <a:cs typeface="Times New Roman" pitchFamily="18" charset="0"/>
              </a:rPr>
              <a:t>Initial weight vector </a:t>
            </a:r>
            <a:r>
              <a:rPr lang="en-GB" altLang="en-US" b="1" dirty="0">
                <a:cs typeface="Times New Roman" pitchFamily="18" charset="0"/>
              </a:rPr>
              <a:t>W</a:t>
            </a:r>
            <a:r>
              <a:rPr lang="en-GB" altLang="en-US" b="1" baseline="30000" dirty="0">
                <a:cs typeface="Times New Roman" pitchFamily="18" charset="0"/>
              </a:rPr>
              <a:t>0</a:t>
            </a:r>
            <a:r>
              <a:rPr lang="en-GB" altLang="en-US" dirty="0">
                <a:cs typeface="Times New Roman" pitchFamily="18" charset="0"/>
              </a:rPr>
              <a:t> = (-0.2, 0.3, -0.2). </a:t>
            </a:r>
          </a:p>
          <a:p>
            <a:pPr marL="250825" indent="-179388"/>
            <a:r>
              <a:rPr lang="en-GB" altLang="en-US" dirty="0">
                <a:cs typeface="Times New Roman" pitchFamily="18" charset="0"/>
              </a:rPr>
              <a:t>Transfer function - </a:t>
            </a:r>
            <a:r>
              <a:rPr lang="en-GB" altLang="en-US" i="1" dirty="0">
                <a:cs typeface="Times New Roman" pitchFamily="18" charset="0"/>
              </a:rPr>
              <a:t>Heaviside step</a:t>
            </a:r>
            <a:r>
              <a:rPr lang="en-GB" altLang="en-US" dirty="0">
                <a:cs typeface="Times New Roman" pitchFamily="18" charset="0"/>
              </a:rPr>
              <a:t> function. </a:t>
            </a:r>
          </a:p>
          <a:p>
            <a:pPr marL="250825" indent="-179388"/>
            <a:r>
              <a:rPr lang="en-GB" altLang="en-US" dirty="0">
                <a:cs typeface="Times New Roman" pitchFamily="18" charset="0"/>
              </a:rPr>
              <a:t>Learning rate  </a:t>
            </a:r>
            <a:r>
              <a:rPr lang="en-GB" altLang="en-US" i="1" dirty="0">
                <a:cs typeface="Times New Roman" pitchFamily="18" charset="0"/>
              </a:rPr>
              <a:t>η</a:t>
            </a:r>
            <a:r>
              <a:rPr lang="en-GB" altLang="en-US" dirty="0">
                <a:cs typeface="Times New Roman" pitchFamily="18" charset="0"/>
              </a:rPr>
              <a:t> = 0.35.</a:t>
            </a:r>
            <a:endParaRPr lang="en-GB" altLang="en-US" dirty="0"/>
          </a:p>
          <a:p>
            <a:pPr marL="250825" indent="-179388"/>
            <a:r>
              <a:rPr lang="en-GB" altLang="en-US" b="1" dirty="0">
                <a:cs typeface="Times New Roman" pitchFamily="18" charset="0"/>
              </a:rPr>
              <a:t>X</a:t>
            </a:r>
            <a:r>
              <a:rPr lang="en-GB" altLang="en-US" dirty="0">
                <a:cs typeface="Times New Roman" pitchFamily="18" charset="0"/>
              </a:rPr>
              <a:t> - input vector.   </a:t>
            </a:r>
            <a:r>
              <a:rPr lang="en-GB" altLang="en-US" b="1" dirty="0">
                <a:cs typeface="Times New Roman" pitchFamily="18" charset="0"/>
              </a:rPr>
              <a:t>S</a:t>
            </a:r>
            <a:r>
              <a:rPr lang="en-GB" altLang="en-US" dirty="0">
                <a:cs typeface="Times New Roman" pitchFamily="18" charset="0"/>
              </a:rPr>
              <a:t> - misclassified patterns vector.</a:t>
            </a:r>
            <a:endParaRPr lang="en-GB" altLang="en-US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96863" y="1741488"/>
          <a:ext cx="1423987" cy="2194560"/>
        </p:xfrm>
        <a:graphic>
          <a:graphicData uri="http://schemas.openxmlformats.org/drawingml/2006/table">
            <a:tbl>
              <a:tblPr/>
              <a:tblGrid>
                <a:gridCol w="406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 kern="0" dirty="0">
                          <a:latin typeface="+mn-lt"/>
                          <a:ea typeface="Times New Roman"/>
                          <a:cs typeface="Times New Roman"/>
                        </a:rPr>
                        <a:t>X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GB" sz="2400" baseline="-250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24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GB" sz="2400" baseline="-250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GB" sz="24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x</a:t>
                      </a:r>
                      <a:r>
                        <a:rPr lang="en-GB" sz="2400" baseline="-250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endParaRPr lang="en-GB" sz="24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088084"/>
              </p:ext>
            </p:extLst>
          </p:nvPr>
        </p:nvGraphicFramePr>
        <p:xfrm>
          <a:off x="1720850" y="1741488"/>
          <a:ext cx="2044701" cy="1097280"/>
        </p:xfrm>
        <a:graphic>
          <a:graphicData uri="http://schemas.openxmlformats.org/drawingml/2006/table">
            <a:tbl>
              <a:tblPr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1" kern="0" dirty="0">
                          <a:latin typeface="+mn-lt"/>
                          <a:ea typeface="Times New Roman"/>
                          <a:cs typeface="Times New Roman"/>
                        </a:rPr>
                        <a:t>W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w</a:t>
                      </a:r>
                      <a:r>
                        <a:rPr lang="en-GB" sz="2400" baseline="-250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  <a:endParaRPr lang="en-GB" sz="24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w</a:t>
                      </a:r>
                      <a:r>
                        <a:rPr lang="en-GB" sz="2400" baseline="-2500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  <a:endParaRPr lang="en-GB" sz="24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w</a:t>
                      </a:r>
                      <a:r>
                        <a:rPr lang="en-GB" sz="2400" baseline="-25000" dirty="0">
                          <a:latin typeface="+mn-lt"/>
                          <a:ea typeface="Times New Roman"/>
                          <a:cs typeface="Times New Roman"/>
                        </a:rPr>
                        <a:t>2</a:t>
                      </a:r>
                      <a:endParaRPr lang="en-GB" sz="2400" dirty="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0.3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754193"/>
              </p:ext>
            </p:extLst>
          </p:nvPr>
        </p:nvGraphicFramePr>
        <p:xfrm>
          <a:off x="3779515" y="1741488"/>
          <a:ext cx="1131887" cy="1097280"/>
        </p:xfrm>
        <a:graphic>
          <a:graphicData uri="http://schemas.openxmlformats.org/drawingml/2006/table">
            <a:tbl>
              <a:tblPr/>
              <a:tblGrid>
                <a:gridCol w="113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3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2400" b="1" dirty="0"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(net)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6407791"/>
              </p:ext>
            </p:extLst>
          </p:nvPr>
        </p:nvGraphicFramePr>
        <p:xfrm>
          <a:off x="4932040" y="1741488"/>
          <a:ext cx="1259210" cy="1097280"/>
        </p:xfrm>
        <a:graphic>
          <a:graphicData uri="http://schemas.openxmlformats.org/drawingml/2006/table">
            <a:tbl>
              <a:tblPr/>
              <a:tblGrid>
                <a:gridCol w="1259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3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endParaRPr lang="en-GB" sz="2400" dirty="0">
                        <a:latin typeface="+mn-lt"/>
                        <a:ea typeface="Times New Roman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  <a:tabLst>
                          <a:tab pos="457200" algn="l"/>
                        </a:tabLs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(output)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8034410"/>
              </p:ext>
            </p:extLst>
          </p:nvPr>
        </p:nvGraphicFramePr>
        <p:xfrm>
          <a:off x="7380288" y="1741488"/>
          <a:ext cx="1423988" cy="1097280"/>
        </p:xfrm>
        <a:graphic>
          <a:graphicData uri="http://schemas.openxmlformats.org/drawingml/2006/table">
            <a:tbl>
              <a:tblPr/>
              <a:tblGrid>
                <a:gridCol w="44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b="0" kern="0" dirty="0">
                          <a:latin typeface="+mn-lt"/>
                          <a:ea typeface="Times New Roman"/>
                          <a:cs typeface="Times New Roman"/>
                        </a:rPr>
                        <a:t>S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24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24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GB" sz="2400">
                        <a:latin typeface="+mn-lt"/>
                        <a:ea typeface="Times New Roman"/>
                        <a:cs typeface="Times New Roman"/>
                      </a:endParaRP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93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 altLang="en-US"/>
          </a:p>
        </p:txBody>
      </p:sp>
      <p:graphicFrame>
        <p:nvGraphicFramePr>
          <p:cNvPr id="35849" name="Object 9"/>
          <p:cNvGraphicFramePr>
            <a:graphicFrameLocks noChangeAspect="1"/>
          </p:cNvGraphicFramePr>
          <p:nvPr/>
        </p:nvGraphicFramePr>
        <p:xfrm>
          <a:off x="3817938" y="1730375"/>
          <a:ext cx="1168400" cy="395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10891" imgH="241195" progId="Equation.DSMT4">
                  <p:embed/>
                </p:oleObj>
              </mc:Choice>
              <mc:Fallback>
                <p:oleObj name="Equation" r:id="rId2" imgW="710891" imgH="241195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7938" y="1730375"/>
                        <a:ext cx="1168400" cy="3952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95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 altLang="en-US"/>
          </a:p>
        </p:txBody>
      </p:sp>
      <p:graphicFrame>
        <p:nvGraphicFramePr>
          <p:cNvPr id="35851" name="Object 11"/>
          <p:cNvGraphicFramePr>
            <a:graphicFrameLocks noChangeAspect="1"/>
          </p:cNvGraphicFramePr>
          <p:nvPr/>
        </p:nvGraphicFramePr>
        <p:xfrm>
          <a:off x="5043488" y="1741488"/>
          <a:ext cx="9493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057" imgH="190417" progId="Equation.DSMT4">
                  <p:embed/>
                </p:oleObj>
              </mc:Choice>
              <mc:Fallback>
                <p:oleObj name="Equation" r:id="rId4" imgW="330057" imgH="19041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43488" y="1741488"/>
                        <a:ext cx="949325" cy="542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4489516"/>
              </p:ext>
            </p:extLst>
          </p:nvPr>
        </p:nvGraphicFramePr>
        <p:xfrm>
          <a:off x="836228" y="4098604"/>
          <a:ext cx="876300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5320" imgH="431640" progId="Equation.DSMT4">
                  <p:embed/>
                </p:oleObj>
              </mc:Choice>
              <mc:Fallback>
                <p:oleObj name="Equation" r:id="rId6" imgW="355320" imgH="43164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228" y="4098604"/>
                        <a:ext cx="876300" cy="1006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2704090"/>
              </p:ext>
            </p:extLst>
          </p:nvPr>
        </p:nvGraphicFramePr>
        <p:xfrm>
          <a:off x="1523616" y="4730429"/>
          <a:ext cx="1395412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45760" imgH="203040" progId="Equation.DSMT4">
                  <p:embed/>
                </p:oleObj>
              </mc:Choice>
              <mc:Fallback>
                <p:oleObj name="Equation" r:id="rId8" imgW="545760" imgH="203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616" y="4730429"/>
                        <a:ext cx="1395412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590216"/>
              </p:ext>
            </p:extLst>
          </p:nvPr>
        </p:nvGraphicFramePr>
        <p:xfrm>
          <a:off x="315913" y="5205755"/>
          <a:ext cx="2301875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15920" imgH="228600" progId="Equation.DSMT4">
                  <p:embed/>
                </p:oleObj>
              </mc:Choice>
              <mc:Fallback>
                <p:oleObj name="Equation" r:id="rId10" imgW="1015920" imgH="2286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913" y="5205755"/>
                        <a:ext cx="2301875" cy="6175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Rectangle 40"/>
          <p:cNvSpPr>
            <a:spLocks noChangeArrowheads="1"/>
          </p:cNvSpPr>
          <p:nvPr/>
        </p:nvSpPr>
        <p:spPr bwMode="auto">
          <a:xfrm>
            <a:off x="2579688" y="5278780"/>
            <a:ext cx="638968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GB" altLang="en-US" dirty="0">
                <a:cs typeface="Times New Roman" pitchFamily="18" charset="0"/>
              </a:rPr>
              <a:t>=(-0.2,0.3,-0.2)+(0,0,0.35)=(</a:t>
            </a:r>
            <a:r>
              <a:rPr lang="en-GB" altLang="en-US" dirty="0">
                <a:highlight>
                  <a:srgbClr val="C0C0C0"/>
                </a:highlight>
                <a:cs typeface="Times New Roman" pitchFamily="18" charset="0"/>
              </a:rPr>
              <a:t>-0.2, 0.3, 0.15</a:t>
            </a:r>
            <a:r>
              <a:rPr lang="en-GB" altLang="en-US" dirty="0">
                <a:cs typeface="Times New Roman" pitchFamily="18" charset="0"/>
              </a:rPr>
              <a:t>)</a:t>
            </a:r>
            <a:endParaRPr lang="en-GB" alt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381605"/>
              </p:ext>
            </p:extLst>
          </p:nvPr>
        </p:nvGraphicFramePr>
        <p:xfrm>
          <a:off x="6138863" y="1741488"/>
          <a:ext cx="1241449" cy="2194560"/>
        </p:xfrm>
        <a:graphic>
          <a:graphicData uri="http://schemas.openxmlformats.org/drawingml/2006/table">
            <a:tbl>
              <a:tblPr/>
              <a:tblGrid>
                <a:gridCol w="12414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3130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    </a:t>
                      </a:r>
                      <a:r>
                        <a:rPr lang="en-GB" sz="2400" b="1" dirty="0">
                          <a:latin typeface="+mn-lt"/>
                          <a:ea typeface="Times New Roman"/>
                          <a:cs typeface="Times New Roman"/>
                        </a:rPr>
                        <a:t>t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(target)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54764"/>
              </p:ext>
            </p:extLst>
          </p:nvPr>
        </p:nvGraphicFramePr>
        <p:xfrm>
          <a:off x="1712654" y="2853542"/>
          <a:ext cx="2044701" cy="365760"/>
        </p:xfrm>
        <a:graphic>
          <a:graphicData uri="http://schemas.openxmlformats.org/drawingml/2006/table">
            <a:tbl>
              <a:tblPr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0.3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065615"/>
              </p:ext>
            </p:extLst>
          </p:nvPr>
        </p:nvGraphicFramePr>
        <p:xfrm>
          <a:off x="1712654" y="3219028"/>
          <a:ext cx="2044701" cy="731520"/>
        </p:xfrm>
        <a:graphic>
          <a:graphicData uri="http://schemas.openxmlformats.org/drawingml/2006/table">
            <a:tbl>
              <a:tblPr/>
              <a:tblGrid>
                <a:gridCol w="766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7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0.3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0.3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-0.2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3873996"/>
              </p:ext>
            </p:extLst>
          </p:nvPr>
        </p:nvGraphicFramePr>
        <p:xfrm>
          <a:off x="3769983" y="2855145"/>
          <a:ext cx="1131887" cy="365760"/>
        </p:xfrm>
        <a:graphic>
          <a:graphicData uri="http://schemas.openxmlformats.org/drawingml/2006/table">
            <a:tbl>
              <a:tblPr/>
              <a:tblGrid>
                <a:gridCol w="113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0.1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318720"/>
              </p:ext>
            </p:extLst>
          </p:nvPr>
        </p:nvGraphicFramePr>
        <p:xfrm>
          <a:off x="3773475" y="3228133"/>
          <a:ext cx="1131887" cy="731520"/>
        </p:xfrm>
        <a:graphic>
          <a:graphicData uri="http://schemas.openxmlformats.org/drawingml/2006/table">
            <a:tbl>
              <a:tblPr/>
              <a:tblGrid>
                <a:gridCol w="1131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-0.4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-0.1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18286"/>
              </p:ext>
            </p:extLst>
          </p:nvPr>
        </p:nvGraphicFramePr>
        <p:xfrm>
          <a:off x="4907273" y="3210283"/>
          <a:ext cx="1259210" cy="731520"/>
        </p:xfrm>
        <a:graphic>
          <a:graphicData uri="http://schemas.openxmlformats.org/drawingml/2006/table">
            <a:tbl>
              <a:tblPr/>
              <a:tblGrid>
                <a:gridCol w="1259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0107761"/>
              </p:ext>
            </p:extLst>
          </p:nvPr>
        </p:nvGraphicFramePr>
        <p:xfrm>
          <a:off x="4888062" y="2853542"/>
          <a:ext cx="1259210" cy="365760"/>
        </p:xfrm>
        <a:graphic>
          <a:graphicData uri="http://schemas.openxmlformats.org/drawingml/2006/table">
            <a:tbl>
              <a:tblPr/>
              <a:tblGrid>
                <a:gridCol w="1259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79" marR="68579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403150"/>
              </p:ext>
            </p:extLst>
          </p:nvPr>
        </p:nvGraphicFramePr>
        <p:xfrm>
          <a:off x="7384416" y="3204098"/>
          <a:ext cx="1419860" cy="731520"/>
        </p:xfrm>
        <a:graphic>
          <a:graphicData uri="http://schemas.openxmlformats.org/drawingml/2006/table">
            <a:tbl>
              <a:tblPr/>
              <a:tblGrid>
                <a:gridCol w="44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334697"/>
              </p:ext>
            </p:extLst>
          </p:nvPr>
        </p:nvGraphicFramePr>
        <p:xfrm>
          <a:off x="7380288" y="2849557"/>
          <a:ext cx="1431539" cy="365760"/>
        </p:xfrm>
        <a:graphic>
          <a:graphicData uri="http://schemas.openxmlformats.org/drawingml/2006/table">
            <a:tbl>
              <a:tblPr/>
              <a:tblGrid>
                <a:gridCol w="443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4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-1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-1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3" name="Picture 32" descr="Image result for hulk picture">
            <a:extLst>
              <a:ext uri="{FF2B5EF4-FFF2-40B4-BE49-F238E27FC236}">
                <a16:creationId xmlns:a16="http://schemas.microsoft.com/office/drawing/2014/main" id="{60A5D4F7-E6A2-4BC0-BFE8-FC759BD94A05}"/>
              </a:ext>
            </a:extLst>
          </p:cNvPr>
          <p:cNvPicPr/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832139" y="2804507"/>
            <a:ext cx="299311" cy="4084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Picture 33" descr="http://t2.gstatic.com/images?q=tbn:rb2G0kWZn-jwHM:http://img.photobucket.com/albums/v470/jason_lioh/Folder/pressroom_panther.jpg">
            <a:extLst>
              <a:ext uri="{FF2B5EF4-FFF2-40B4-BE49-F238E27FC236}">
                <a16:creationId xmlns:a16="http://schemas.microsoft.com/office/drawing/2014/main" id="{65B8A328-AFB0-4A4F-9A09-F7971BB04F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5823677" y="3549613"/>
            <a:ext cx="299311" cy="396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465A600-24D7-DEB0-C642-B0BE345C29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4321901"/>
              </p:ext>
            </p:extLst>
          </p:nvPr>
        </p:nvGraphicFramePr>
        <p:xfrm>
          <a:off x="7407255" y="4098630"/>
          <a:ext cx="1423988" cy="365760"/>
        </p:xfrm>
        <a:graphic>
          <a:graphicData uri="http://schemas.openxmlformats.org/drawingml/2006/table">
            <a:tbl>
              <a:tblPr/>
              <a:tblGrid>
                <a:gridCol w="4409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5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15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65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0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GB" sz="2400" dirty="0">
                          <a:latin typeface="+mn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42" marR="6854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35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35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3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5" dur="500"/>
                                        <p:tgtEl>
                                          <p:spTgt spid="35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35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57" grpId="0"/>
      <p:bldP spid="35859" grpId="0"/>
      <p:bldP spid="35841" grpId="0"/>
      <p:bldP spid="41" grpId="0"/>
    </p:bldLst>
  </p:timing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</TotalTime>
  <Words>287</Words>
  <Application>Microsoft Office PowerPoint</Application>
  <PresentationFormat>On-screen Show (4:3)</PresentationFormat>
  <Paragraphs>103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Helvetica</vt:lpstr>
      <vt:lpstr>Tahoma</vt:lpstr>
      <vt:lpstr>Times New Roman</vt:lpstr>
      <vt:lpstr>Wingdings</vt:lpstr>
      <vt:lpstr>Blends</vt:lpstr>
      <vt:lpstr>Equation</vt:lpstr>
      <vt:lpstr>PowerPoint Presentation</vt:lpstr>
      <vt:lpstr>PowerPoint Presentation</vt:lpstr>
    </vt:vector>
  </TitlesOfParts>
  <Company>University of Portsmouth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APADS</dc:title>
  <dc:creator>I. Jordanov</dc:creator>
  <cp:lastModifiedBy>Ivan Jordanov</cp:lastModifiedBy>
  <cp:revision>826</cp:revision>
  <cp:lastPrinted>2000-09-29T16:37:59Z</cp:lastPrinted>
  <dcterms:created xsi:type="dcterms:W3CDTF">2000-06-14T13:53:40Z</dcterms:created>
  <dcterms:modified xsi:type="dcterms:W3CDTF">2026-02-10T12:13:09Z</dcterms:modified>
</cp:coreProperties>
</file>