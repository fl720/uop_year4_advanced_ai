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3"/>
  </p:notesMasterIdLst>
  <p:handoutMasterIdLst>
    <p:handoutMasterId r:id="rId4"/>
  </p:handoutMasterIdLst>
  <p:sldIdLst>
    <p:sldId id="468" r:id="rId2"/>
  </p:sldIdLst>
  <p:sldSz cx="9144000" cy="6858000" type="screen4x3"/>
  <p:notesSz cx="7099300" cy="1023461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1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37A4"/>
    <a:srgbClr val="4D4D4D"/>
    <a:srgbClr val="777777"/>
    <a:srgbClr val="666633"/>
    <a:srgbClr val="990033"/>
    <a:srgbClr val="008000"/>
    <a:srgbClr val="000000"/>
    <a:srgbClr val="003FBC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0" autoAdjust="0"/>
    <p:restoredTop sz="94660"/>
  </p:normalViewPr>
  <p:slideViewPr>
    <p:cSldViewPr>
      <p:cViewPr varScale="1">
        <p:scale>
          <a:sx n="67" d="100"/>
          <a:sy n="67" d="100"/>
        </p:scale>
        <p:origin x="43" y="156"/>
      </p:cViewPr>
      <p:guideLst>
        <p:guide orient="horz" pos="2160"/>
        <p:guide pos="18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8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487" tIns="47244" rIns="94487" bIns="47244" numCol="1" anchor="t" anchorCtr="0" compatLnSpc="1">
            <a:prstTxWarp prst="textNoShape">
              <a:avLst/>
            </a:prstTxWarp>
          </a:bodyPr>
          <a:lstStyle>
            <a:lvl1pPr defTabSz="94411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0025" y="0"/>
            <a:ext cx="30495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487" tIns="47244" rIns="94487" bIns="47244" numCol="1" anchor="t" anchorCtr="0" compatLnSpc="1">
            <a:prstTxWarp prst="textNoShape">
              <a:avLst/>
            </a:prstTxWarp>
          </a:bodyPr>
          <a:lstStyle>
            <a:lvl1pPr algn="r" defTabSz="94411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685338"/>
            <a:ext cx="30480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487" tIns="47244" rIns="94487" bIns="47244" numCol="1" anchor="b" anchorCtr="0" compatLnSpc="1">
            <a:prstTxWarp prst="textNoShape">
              <a:avLst/>
            </a:prstTxWarp>
          </a:bodyPr>
          <a:lstStyle>
            <a:lvl1pPr defTabSz="94411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0025" y="9685338"/>
            <a:ext cx="30495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487" tIns="47244" rIns="94487" bIns="47244" numCol="1" anchor="b" anchorCtr="0" compatLnSpc="1">
            <a:prstTxWarp prst="textNoShape">
              <a:avLst/>
            </a:prstTxWarp>
          </a:bodyPr>
          <a:lstStyle>
            <a:lvl1pPr algn="r" defTabSz="942975">
              <a:defRPr sz="1200">
                <a:latin typeface="Times New Roman" pitchFamily="18" charset="0"/>
              </a:defRPr>
            </a:lvl1pPr>
          </a:lstStyle>
          <a:p>
            <a:fld id="{9C0C1C86-1CC3-43A8-8743-7513DF1C7E7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106306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487" tIns="47244" rIns="94487" bIns="47244" numCol="1" anchor="t" anchorCtr="0" compatLnSpc="1">
            <a:prstTxWarp prst="textNoShape">
              <a:avLst/>
            </a:prstTxWarp>
          </a:bodyPr>
          <a:lstStyle>
            <a:lvl1pPr defTabSz="94411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313" y="0"/>
            <a:ext cx="3074987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487" tIns="47244" rIns="94487" bIns="47244" numCol="1" anchor="t" anchorCtr="0" compatLnSpc="1">
            <a:prstTxWarp prst="textNoShape">
              <a:avLst/>
            </a:prstTxWarp>
          </a:bodyPr>
          <a:lstStyle>
            <a:lvl1pPr algn="r" defTabSz="94411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3338" cy="3835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487" tIns="47244" rIns="94487" bIns="472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487" tIns="47244" rIns="94487" bIns="47244" numCol="1" anchor="b" anchorCtr="0" compatLnSpc="1">
            <a:prstTxWarp prst="textNoShape">
              <a:avLst/>
            </a:prstTxWarp>
          </a:bodyPr>
          <a:lstStyle>
            <a:lvl1pPr defTabSz="94411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313" y="9721850"/>
            <a:ext cx="3074987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487" tIns="47244" rIns="94487" bIns="47244" numCol="1" anchor="b" anchorCtr="0" compatLnSpc="1">
            <a:prstTxWarp prst="textNoShape">
              <a:avLst/>
            </a:prstTxWarp>
          </a:bodyPr>
          <a:lstStyle>
            <a:lvl1pPr algn="r" defTabSz="942975">
              <a:defRPr sz="1200">
                <a:latin typeface="Times New Roman" pitchFamily="18" charset="0"/>
              </a:defRPr>
            </a:lvl1pPr>
          </a:lstStyle>
          <a:p>
            <a:fld id="{A2C3ECBA-B707-4B09-9EF5-C9C375E8E38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690678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EE6FCC-B716-409E-9944-52F5284FE665}" type="datetime1">
              <a:rPr lang="en-GB"/>
              <a:pPr>
                <a:defRPr/>
              </a:pPr>
              <a:t>17/02/2026</a:t>
            </a:fld>
            <a:endParaRPr lang="en-GB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I. Jordanov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4125E8-72A2-49D3-833E-77FCF2E1520C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D741AD-1C5B-456E-AFEB-B33450A26333}" type="datetime1">
              <a:rPr lang="en-GB"/>
              <a:pPr>
                <a:defRPr/>
              </a:pPr>
              <a:t>17/02/2026</a:t>
            </a:fld>
            <a:endParaRPr lang="en-GB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I. Jordanov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AABA2B-0D44-4AD4-8D3E-89E96536BE2F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0A4E93-EE7D-4EB7-90F5-1244A59889F5}" type="datetime1">
              <a:rPr lang="en-GB"/>
              <a:pPr>
                <a:defRPr/>
              </a:pPr>
              <a:t>17/02/2026</a:t>
            </a:fld>
            <a:endParaRPr lang="en-GB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I. Jordanov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7E7FC1-96EF-4550-A19E-40735685F18D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2383E6-A201-428C-9428-552450C17C7A}" type="datetime1">
              <a:rPr lang="en-GB"/>
              <a:pPr>
                <a:defRPr/>
              </a:pPr>
              <a:t>17/02/2026</a:t>
            </a:fld>
            <a:endParaRPr lang="en-GB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I. Jordanov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583130-9879-46A9-8E53-A1DE0800AE4C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BF6E08-4CB4-4636-8BEB-508D01D9ACB3}" type="datetime1">
              <a:rPr lang="en-GB"/>
              <a:pPr>
                <a:defRPr/>
              </a:pPr>
              <a:t>17/02/2026</a:t>
            </a:fld>
            <a:endParaRPr lang="en-GB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I. Jordanov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026D50-AD67-4695-9D58-17EDF7DCA570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9AB653-7D00-44CF-9F1E-B3923C95D5D6}" type="datetime1">
              <a:rPr lang="en-GB"/>
              <a:pPr>
                <a:defRPr/>
              </a:pPr>
              <a:t>17/02/2026</a:t>
            </a:fld>
            <a:endParaRPr lang="en-GB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I. Jordanov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94CF82-2744-4B5A-830D-EC62D450DD7F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55FC0A-46A3-4B99-AE8E-EFDC1D05AEA5}" type="datetime1">
              <a:rPr lang="en-GB"/>
              <a:pPr>
                <a:defRPr/>
              </a:pPr>
              <a:t>17/02/2026</a:t>
            </a:fld>
            <a:endParaRPr lang="en-GB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I. Jordanov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B0575D-E5BF-47FE-BC0F-56F0157D0063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3402B2-C1AF-4B8C-B3CC-4DB4356E06A1}" type="datetime1">
              <a:rPr lang="en-GB"/>
              <a:pPr>
                <a:defRPr/>
              </a:pPr>
              <a:t>17/02/2026</a:t>
            </a:fld>
            <a:endParaRPr lang="en-GB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I. Jordanov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F4C1E7-C23A-449B-8F70-51335E2A8B2E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070ABB-7DE4-4A83-B07B-0D470F8F3502}" type="datetime1">
              <a:rPr lang="en-GB"/>
              <a:pPr>
                <a:defRPr/>
              </a:pPr>
              <a:t>17/02/2026</a:t>
            </a:fld>
            <a:endParaRPr lang="en-GB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I. Jordanov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8CFB69-C0B7-468E-8157-F3F8E32EDFFC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24700" y="76200"/>
            <a:ext cx="2019300" cy="60563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76200"/>
            <a:ext cx="5905500" cy="60563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3CA192-2992-4F30-879C-032B7FC1A605}" type="datetime1">
              <a:rPr lang="en-GB"/>
              <a:pPr>
                <a:defRPr/>
              </a:pPr>
              <a:t>17/02/2026</a:t>
            </a:fld>
            <a:endParaRPr lang="en-GB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I. Jordanov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819AD2-837F-42BE-AE8F-824823F57950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4"/>
          <p:cNvGrpSpPr>
            <a:grpSpLocks/>
          </p:cNvGrpSpPr>
          <p:nvPr userDrawn="1"/>
        </p:nvGrpSpPr>
        <p:grpSpPr bwMode="auto">
          <a:xfrm>
            <a:off x="0" y="0"/>
            <a:ext cx="8542338" cy="1052513"/>
            <a:chOff x="80" y="624"/>
            <a:chExt cx="5381" cy="663"/>
          </a:xfrm>
        </p:grpSpPr>
        <p:sp>
          <p:nvSpPr>
            <p:cNvPr id="1032" name="Rectangle 2"/>
            <p:cNvSpPr>
              <a:spLocks noChangeArrowheads="1"/>
            </p:cNvSpPr>
            <p:nvPr/>
          </p:nvSpPr>
          <p:spPr bwMode="ltGray">
            <a:xfrm>
              <a:off x="263" y="692"/>
              <a:ext cx="276" cy="2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/>
            </a:p>
          </p:txBody>
        </p:sp>
        <p:sp>
          <p:nvSpPr>
            <p:cNvPr id="1033" name="Rectangle 3"/>
            <p:cNvSpPr>
              <a:spLocks noChangeArrowheads="1"/>
            </p:cNvSpPr>
            <p:nvPr/>
          </p:nvSpPr>
          <p:spPr bwMode="ltGray">
            <a:xfrm>
              <a:off x="504" y="692"/>
              <a:ext cx="207" cy="299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/>
            </a:p>
          </p:txBody>
        </p:sp>
        <p:sp>
          <p:nvSpPr>
            <p:cNvPr id="1034" name="Rectangle 4"/>
            <p:cNvSpPr>
              <a:spLocks noChangeArrowheads="1"/>
            </p:cNvSpPr>
            <p:nvPr/>
          </p:nvSpPr>
          <p:spPr bwMode="ltGray">
            <a:xfrm>
              <a:off x="341" y="958"/>
              <a:ext cx="26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/>
            </a:p>
          </p:txBody>
        </p:sp>
        <p:sp>
          <p:nvSpPr>
            <p:cNvPr id="1035" name="Rectangle 5"/>
            <p:cNvSpPr>
              <a:spLocks noChangeArrowheads="1"/>
            </p:cNvSpPr>
            <p:nvPr/>
          </p:nvSpPr>
          <p:spPr bwMode="ltGray">
            <a:xfrm>
              <a:off x="574" y="958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/>
            </a:p>
          </p:txBody>
        </p:sp>
        <p:sp>
          <p:nvSpPr>
            <p:cNvPr id="1036" name="Rectangle 6"/>
            <p:cNvSpPr>
              <a:spLocks noChangeArrowheads="1"/>
            </p:cNvSpPr>
            <p:nvPr/>
          </p:nvSpPr>
          <p:spPr bwMode="ltGray">
            <a:xfrm>
              <a:off x="80" y="912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/>
            </a:p>
          </p:txBody>
        </p:sp>
        <p:sp>
          <p:nvSpPr>
            <p:cNvPr id="1037" name="Rectangle 7"/>
            <p:cNvSpPr>
              <a:spLocks noChangeArrowheads="1"/>
            </p:cNvSpPr>
            <p:nvPr/>
          </p:nvSpPr>
          <p:spPr bwMode="gray">
            <a:xfrm>
              <a:off x="480" y="624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/>
            </a:p>
          </p:txBody>
        </p:sp>
        <p:sp>
          <p:nvSpPr>
            <p:cNvPr id="1038" name="Rectangle 8"/>
            <p:cNvSpPr>
              <a:spLocks noChangeArrowheads="1"/>
            </p:cNvSpPr>
            <p:nvPr/>
          </p:nvSpPr>
          <p:spPr bwMode="gray">
            <a:xfrm>
              <a:off x="279" y="1122"/>
              <a:ext cx="5182" cy="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/>
            </a:p>
          </p:txBody>
        </p:sp>
      </p:grpSp>
      <p:sp>
        <p:nvSpPr>
          <p:cNvPr id="102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76200"/>
            <a:ext cx="80772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9626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fld id="{2D08EFAF-EAA5-4A4A-95CC-7F137A688114}" type="datetime1">
              <a:rPr lang="en-GB"/>
              <a:pPr>
                <a:defRPr/>
              </a:pPr>
              <a:t>17/02/2026</a:t>
            </a:fld>
            <a:endParaRPr lang="en-GB"/>
          </a:p>
        </p:txBody>
      </p:sp>
      <p:sp>
        <p:nvSpPr>
          <p:cNvPr id="9626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981200" y="6400800"/>
            <a:ext cx="5181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pPr>
              <a:defRPr/>
            </a:pPr>
            <a:r>
              <a:rPr lang="en-GB"/>
              <a:t>Dr. I. Jordanov</a:t>
            </a:r>
          </a:p>
        </p:txBody>
      </p:sp>
      <p:sp>
        <p:nvSpPr>
          <p:cNvPr id="9626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D81EB819-46EA-4F3B-8C25-8FF69F956F0D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image" Target="../media/image2.png"/><Relationship Id="rId7" Type="http://schemas.openxmlformats.org/officeDocument/2006/relationships/oleObject" Target="../embeddings/oleObject2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Date Placeholder 3"/>
          <p:cNvSpPr txBox="1">
            <a:spLocks noGrp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/>
            <a:fld id="{90C7F734-FF3E-4846-9FD0-2F0082C371E0}" type="datetime1">
              <a:rPr lang="en-GB" altLang="en-US" sz="1200"/>
              <a:pPr eaLnBrk="1" hangingPunct="1"/>
              <a:t>17/02/2026</a:t>
            </a:fld>
            <a:endParaRPr lang="en-GB" altLang="en-US" sz="1200"/>
          </a:p>
        </p:txBody>
      </p:sp>
      <p:sp>
        <p:nvSpPr>
          <p:cNvPr id="26627" name="Footer Placeholder 4"/>
          <p:cNvSpPr txBox="1">
            <a:spLocks noGrp="1"/>
          </p:cNvSpPr>
          <p:nvPr/>
        </p:nvSpPr>
        <p:spPr bwMode="auto">
          <a:xfrm>
            <a:off x="1981200" y="6540462"/>
            <a:ext cx="4715036" cy="29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 eaLnBrk="1" hangingPunct="1"/>
            <a:r>
              <a:rPr lang="en-GB" altLang="en-US" sz="1200" dirty="0"/>
              <a:t>Prof. I. Jordanov</a:t>
            </a:r>
          </a:p>
        </p:txBody>
      </p:sp>
      <p:sp>
        <p:nvSpPr>
          <p:cNvPr id="26628" name="Slide Number Placeholder 5"/>
          <p:cNvSpPr txBox="1">
            <a:spLocks noGrp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1" hangingPunct="1"/>
            <a:fld id="{14125A2F-98DB-49CB-A586-B1F06B52B394}" type="slidenum">
              <a:rPr lang="en-GB" altLang="en-US" sz="1200"/>
              <a:pPr algn="r" eaLnBrk="1" hangingPunct="1"/>
              <a:t>1</a:t>
            </a:fld>
            <a:endParaRPr lang="en-GB" altLang="en-US" sz="1200"/>
          </a:p>
        </p:txBody>
      </p:sp>
      <p:sp>
        <p:nvSpPr>
          <p:cNvPr id="26629" name="Rectangle 2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en-US" altLang="en-US"/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1905000" y="182830"/>
            <a:ext cx="4719228" cy="402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 sz="2000" i="1" dirty="0">
                <a:solidFill>
                  <a:srgbClr val="0037A4"/>
                </a:solidFill>
              </a:rPr>
              <a:t>Boolean XOR  </a:t>
            </a:r>
            <a:r>
              <a:rPr lang="en-US" altLang="en-US" sz="2000" dirty="0"/>
              <a:t>toy problem</a:t>
            </a:r>
          </a:p>
        </p:txBody>
      </p:sp>
      <p:grpSp>
        <p:nvGrpSpPr>
          <p:cNvPr id="2" name="Group 212"/>
          <p:cNvGrpSpPr>
            <a:grpSpLocks/>
          </p:cNvGrpSpPr>
          <p:nvPr/>
        </p:nvGrpSpPr>
        <p:grpSpPr bwMode="auto">
          <a:xfrm>
            <a:off x="5259548" y="835619"/>
            <a:ext cx="2873375" cy="2526023"/>
            <a:chOff x="877619" y="3474727"/>
            <a:chExt cx="2873319" cy="2526041"/>
          </a:xfrm>
        </p:grpSpPr>
        <p:sp>
          <p:nvSpPr>
            <p:cNvPr id="26657" name="Rectangle 135"/>
            <p:cNvSpPr>
              <a:spLocks noChangeArrowheads="1"/>
            </p:cNvSpPr>
            <p:nvPr/>
          </p:nvSpPr>
          <p:spPr bwMode="auto">
            <a:xfrm>
              <a:off x="877619" y="3474727"/>
              <a:ext cx="2873319" cy="204310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en-US" altLang="en-US"/>
            </a:p>
          </p:txBody>
        </p:sp>
        <p:sp>
          <p:nvSpPr>
            <p:cNvPr id="26658" name="Rectangle 136"/>
            <p:cNvSpPr>
              <a:spLocks noChangeArrowheads="1"/>
            </p:cNvSpPr>
            <p:nvPr/>
          </p:nvSpPr>
          <p:spPr bwMode="auto">
            <a:xfrm>
              <a:off x="1549852" y="3863880"/>
              <a:ext cx="1700316" cy="164712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en-US" altLang="en-US"/>
            </a:p>
          </p:txBody>
        </p:sp>
        <p:sp>
          <p:nvSpPr>
            <p:cNvPr id="26659" name="Rectangle 137"/>
            <p:cNvSpPr>
              <a:spLocks noChangeArrowheads="1"/>
            </p:cNvSpPr>
            <p:nvPr/>
          </p:nvSpPr>
          <p:spPr bwMode="auto">
            <a:xfrm>
              <a:off x="1549852" y="3863880"/>
              <a:ext cx="1700316" cy="1647126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en-US" altLang="en-US"/>
            </a:p>
          </p:txBody>
        </p:sp>
        <p:sp>
          <p:nvSpPr>
            <p:cNvPr id="26660" name="Freeform 138"/>
            <p:cNvSpPr>
              <a:spLocks/>
            </p:cNvSpPr>
            <p:nvPr/>
          </p:nvSpPr>
          <p:spPr bwMode="auto">
            <a:xfrm>
              <a:off x="1549852" y="3863880"/>
              <a:ext cx="717" cy="1647126"/>
            </a:xfrm>
            <a:custGeom>
              <a:avLst/>
              <a:gdLst>
                <a:gd name="T0" fmla="*/ 0 w 717"/>
                <a:gd name="T1" fmla="*/ 2147483646 h 158"/>
                <a:gd name="T2" fmla="*/ 0 w 717"/>
                <a:gd name="T3" fmla="*/ 0 h 158"/>
                <a:gd name="T4" fmla="*/ 0 w 717"/>
                <a:gd name="T5" fmla="*/ 0 h 158"/>
                <a:gd name="T6" fmla="*/ 0 60000 65536"/>
                <a:gd name="T7" fmla="*/ 0 60000 65536"/>
                <a:gd name="T8" fmla="*/ 0 60000 65536"/>
                <a:gd name="T9" fmla="*/ 0 w 717"/>
                <a:gd name="T10" fmla="*/ 0 h 158"/>
                <a:gd name="T11" fmla="*/ 717 w 717"/>
                <a:gd name="T12" fmla="*/ 158 h 1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17" h="158">
                  <a:moveTo>
                    <a:pt x="0" y="15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61" name="Freeform 139"/>
            <p:cNvSpPr>
              <a:spLocks/>
            </p:cNvSpPr>
            <p:nvPr/>
          </p:nvSpPr>
          <p:spPr bwMode="auto">
            <a:xfrm>
              <a:off x="2109450" y="3863880"/>
              <a:ext cx="717" cy="1647126"/>
            </a:xfrm>
            <a:custGeom>
              <a:avLst/>
              <a:gdLst>
                <a:gd name="T0" fmla="*/ 0 w 717"/>
                <a:gd name="T1" fmla="*/ 2147483646 h 158"/>
                <a:gd name="T2" fmla="*/ 0 w 717"/>
                <a:gd name="T3" fmla="*/ 0 h 158"/>
                <a:gd name="T4" fmla="*/ 0 w 717"/>
                <a:gd name="T5" fmla="*/ 0 h 158"/>
                <a:gd name="T6" fmla="*/ 0 60000 65536"/>
                <a:gd name="T7" fmla="*/ 0 60000 65536"/>
                <a:gd name="T8" fmla="*/ 0 60000 65536"/>
                <a:gd name="T9" fmla="*/ 0 w 717"/>
                <a:gd name="T10" fmla="*/ 0 h 158"/>
                <a:gd name="T11" fmla="*/ 717 w 717"/>
                <a:gd name="T12" fmla="*/ 158 h 1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17" h="158">
                  <a:moveTo>
                    <a:pt x="0" y="15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62" name="Freeform 140"/>
            <p:cNvSpPr>
              <a:spLocks/>
            </p:cNvSpPr>
            <p:nvPr/>
          </p:nvSpPr>
          <p:spPr bwMode="auto">
            <a:xfrm>
              <a:off x="2679809" y="3863880"/>
              <a:ext cx="717" cy="1647126"/>
            </a:xfrm>
            <a:custGeom>
              <a:avLst/>
              <a:gdLst>
                <a:gd name="T0" fmla="*/ 0 w 717"/>
                <a:gd name="T1" fmla="*/ 2147483646 h 158"/>
                <a:gd name="T2" fmla="*/ 0 w 717"/>
                <a:gd name="T3" fmla="*/ 0 h 158"/>
                <a:gd name="T4" fmla="*/ 0 w 717"/>
                <a:gd name="T5" fmla="*/ 0 h 158"/>
                <a:gd name="T6" fmla="*/ 0 60000 65536"/>
                <a:gd name="T7" fmla="*/ 0 60000 65536"/>
                <a:gd name="T8" fmla="*/ 0 60000 65536"/>
                <a:gd name="T9" fmla="*/ 0 w 717"/>
                <a:gd name="T10" fmla="*/ 0 h 158"/>
                <a:gd name="T11" fmla="*/ 717 w 717"/>
                <a:gd name="T12" fmla="*/ 158 h 1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17" h="158">
                  <a:moveTo>
                    <a:pt x="0" y="15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63" name="Freeform 141"/>
            <p:cNvSpPr>
              <a:spLocks/>
            </p:cNvSpPr>
            <p:nvPr/>
          </p:nvSpPr>
          <p:spPr bwMode="auto">
            <a:xfrm>
              <a:off x="3250168" y="3863880"/>
              <a:ext cx="717" cy="1647126"/>
            </a:xfrm>
            <a:custGeom>
              <a:avLst/>
              <a:gdLst>
                <a:gd name="T0" fmla="*/ 0 w 717"/>
                <a:gd name="T1" fmla="*/ 2147483646 h 158"/>
                <a:gd name="T2" fmla="*/ 0 w 717"/>
                <a:gd name="T3" fmla="*/ 0 h 158"/>
                <a:gd name="T4" fmla="*/ 0 w 717"/>
                <a:gd name="T5" fmla="*/ 0 h 158"/>
                <a:gd name="T6" fmla="*/ 0 60000 65536"/>
                <a:gd name="T7" fmla="*/ 0 60000 65536"/>
                <a:gd name="T8" fmla="*/ 0 60000 65536"/>
                <a:gd name="T9" fmla="*/ 0 w 717"/>
                <a:gd name="T10" fmla="*/ 0 h 158"/>
                <a:gd name="T11" fmla="*/ 717 w 717"/>
                <a:gd name="T12" fmla="*/ 158 h 1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17" h="158">
                  <a:moveTo>
                    <a:pt x="0" y="15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64" name="Freeform 142"/>
            <p:cNvSpPr>
              <a:spLocks/>
            </p:cNvSpPr>
            <p:nvPr/>
          </p:nvSpPr>
          <p:spPr bwMode="auto">
            <a:xfrm>
              <a:off x="1549852" y="5511007"/>
              <a:ext cx="1700316" cy="695"/>
            </a:xfrm>
            <a:custGeom>
              <a:avLst/>
              <a:gdLst>
                <a:gd name="T0" fmla="*/ 0 w 158"/>
                <a:gd name="T1" fmla="*/ 0 h 695"/>
                <a:gd name="T2" fmla="*/ 2147483646 w 158"/>
                <a:gd name="T3" fmla="*/ 0 h 695"/>
                <a:gd name="T4" fmla="*/ 2147483646 w 158"/>
                <a:gd name="T5" fmla="*/ 0 h 695"/>
                <a:gd name="T6" fmla="*/ 0 60000 65536"/>
                <a:gd name="T7" fmla="*/ 0 60000 65536"/>
                <a:gd name="T8" fmla="*/ 0 60000 65536"/>
                <a:gd name="T9" fmla="*/ 0 w 158"/>
                <a:gd name="T10" fmla="*/ 0 h 695"/>
                <a:gd name="T11" fmla="*/ 158 w 158"/>
                <a:gd name="T12" fmla="*/ 695 h 69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" h="695">
                  <a:moveTo>
                    <a:pt x="0" y="0"/>
                  </a:moveTo>
                  <a:lnTo>
                    <a:pt x="158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65" name="Freeform 143"/>
            <p:cNvSpPr>
              <a:spLocks/>
            </p:cNvSpPr>
            <p:nvPr/>
          </p:nvSpPr>
          <p:spPr bwMode="auto">
            <a:xfrm>
              <a:off x="1549852" y="4958723"/>
              <a:ext cx="1700316" cy="695"/>
            </a:xfrm>
            <a:custGeom>
              <a:avLst/>
              <a:gdLst>
                <a:gd name="T0" fmla="*/ 0 w 158"/>
                <a:gd name="T1" fmla="*/ 0 h 695"/>
                <a:gd name="T2" fmla="*/ 2147483646 w 158"/>
                <a:gd name="T3" fmla="*/ 0 h 695"/>
                <a:gd name="T4" fmla="*/ 2147483646 w 158"/>
                <a:gd name="T5" fmla="*/ 0 h 695"/>
                <a:gd name="T6" fmla="*/ 0 60000 65536"/>
                <a:gd name="T7" fmla="*/ 0 60000 65536"/>
                <a:gd name="T8" fmla="*/ 0 60000 65536"/>
                <a:gd name="T9" fmla="*/ 0 w 158"/>
                <a:gd name="T10" fmla="*/ 0 h 695"/>
                <a:gd name="T11" fmla="*/ 158 w 158"/>
                <a:gd name="T12" fmla="*/ 695 h 69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" h="695">
                  <a:moveTo>
                    <a:pt x="0" y="0"/>
                  </a:moveTo>
                  <a:lnTo>
                    <a:pt x="158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66" name="Freeform 144"/>
            <p:cNvSpPr>
              <a:spLocks/>
            </p:cNvSpPr>
            <p:nvPr/>
          </p:nvSpPr>
          <p:spPr bwMode="auto">
            <a:xfrm>
              <a:off x="1549852" y="4416164"/>
              <a:ext cx="1700316" cy="695"/>
            </a:xfrm>
            <a:custGeom>
              <a:avLst/>
              <a:gdLst>
                <a:gd name="T0" fmla="*/ 0 w 158"/>
                <a:gd name="T1" fmla="*/ 0 h 695"/>
                <a:gd name="T2" fmla="*/ 2147483646 w 158"/>
                <a:gd name="T3" fmla="*/ 0 h 695"/>
                <a:gd name="T4" fmla="*/ 2147483646 w 158"/>
                <a:gd name="T5" fmla="*/ 0 h 695"/>
                <a:gd name="T6" fmla="*/ 0 60000 65536"/>
                <a:gd name="T7" fmla="*/ 0 60000 65536"/>
                <a:gd name="T8" fmla="*/ 0 60000 65536"/>
                <a:gd name="T9" fmla="*/ 0 w 158"/>
                <a:gd name="T10" fmla="*/ 0 h 695"/>
                <a:gd name="T11" fmla="*/ 158 w 158"/>
                <a:gd name="T12" fmla="*/ 695 h 69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" h="695">
                  <a:moveTo>
                    <a:pt x="0" y="0"/>
                  </a:moveTo>
                  <a:lnTo>
                    <a:pt x="158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67" name="Freeform 145"/>
            <p:cNvSpPr>
              <a:spLocks/>
            </p:cNvSpPr>
            <p:nvPr/>
          </p:nvSpPr>
          <p:spPr bwMode="auto">
            <a:xfrm>
              <a:off x="1549852" y="3863880"/>
              <a:ext cx="1700316" cy="695"/>
            </a:xfrm>
            <a:custGeom>
              <a:avLst/>
              <a:gdLst>
                <a:gd name="T0" fmla="*/ 0 w 158"/>
                <a:gd name="T1" fmla="*/ 0 h 695"/>
                <a:gd name="T2" fmla="*/ 2147483646 w 158"/>
                <a:gd name="T3" fmla="*/ 0 h 695"/>
                <a:gd name="T4" fmla="*/ 2147483646 w 158"/>
                <a:gd name="T5" fmla="*/ 0 h 695"/>
                <a:gd name="T6" fmla="*/ 0 60000 65536"/>
                <a:gd name="T7" fmla="*/ 0 60000 65536"/>
                <a:gd name="T8" fmla="*/ 0 60000 65536"/>
                <a:gd name="T9" fmla="*/ 0 w 158"/>
                <a:gd name="T10" fmla="*/ 0 h 695"/>
                <a:gd name="T11" fmla="*/ 158 w 158"/>
                <a:gd name="T12" fmla="*/ 695 h 69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" h="695">
                  <a:moveTo>
                    <a:pt x="0" y="0"/>
                  </a:moveTo>
                  <a:lnTo>
                    <a:pt x="158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68" name="Line 146"/>
            <p:cNvSpPr>
              <a:spLocks noChangeShapeType="1"/>
            </p:cNvSpPr>
            <p:nvPr/>
          </p:nvSpPr>
          <p:spPr bwMode="auto">
            <a:xfrm>
              <a:off x="1549852" y="3863880"/>
              <a:ext cx="1700316" cy="69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69" name="Line 147"/>
            <p:cNvSpPr>
              <a:spLocks noChangeShapeType="1"/>
            </p:cNvSpPr>
            <p:nvPr/>
          </p:nvSpPr>
          <p:spPr bwMode="auto">
            <a:xfrm>
              <a:off x="1549852" y="5511007"/>
              <a:ext cx="1700316" cy="69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70" name="Line 148"/>
            <p:cNvSpPr>
              <a:spLocks noChangeShapeType="1"/>
            </p:cNvSpPr>
            <p:nvPr/>
          </p:nvSpPr>
          <p:spPr bwMode="auto">
            <a:xfrm flipV="1">
              <a:off x="3250168" y="3863880"/>
              <a:ext cx="717" cy="164712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71" name="Line 149"/>
            <p:cNvSpPr>
              <a:spLocks noChangeShapeType="1"/>
            </p:cNvSpPr>
            <p:nvPr/>
          </p:nvSpPr>
          <p:spPr bwMode="auto">
            <a:xfrm flipV="1">
              <a:off x="1549852" y="3863880"/>
              <a:ext cx="717" cy="164712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72" name="Line 150"/>
            <p:cNvSpPr>
              <a:spLocks noChangeShapeType="1"/>
            </p:cNvSpPr>
            <p:nvPr/>
          </p:nvSpPr>
          <p:spPr bwMode="auto">
            <a:xfrm>
              <a:off x="1549852" y="5511007"/>
              <a:ext cx="1700316" cy="69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73" name="Line 151"/>
            <p:cNvSpPr>
              <a:spLocks noChangeShapeType="1"/>
            </p:cNvSpPr>
            <p:nvPr/>
          </p:nvSpPr>
          <p:spPr bwMode="auto">
            <a:xfrm flipV="1">
              <a:off x="1549852" y="3863880"/>
              <a:ext cx="717" cy="164712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74" name="Line 152"/>
            <p:cNvSpPr>
              <a:spLocks noChangeShapeType="1"/>
            </p:cNvSpPr>
            <p:nvPr/>
          </p:nvSpPr>
          <p:spPr bwMode="auto">
            <a:xfrm flipV="1">
              <a:off x="1549852" y="5490166"/>
              <a:ext cx="717" cy="208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75" name="Line 153"/>
            <p:cNvSpPr>
              <a:spLocks noChangeShapeType="1"/>
            </p:cNvSpPr>
            <p:nvPr/>
          </p:nvSpPr>
          <p:spPr bwMode="auto">
            <a:xfrm>
              <a:off x="1549852" y="3863880"/>
              <a:ext cx="717" cy="208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76" name="Rectangle 154"/>
            <p:cNvSpPr>
              <a:spLocks noChangeArrowheads="1"/>
            </p:cNvSpPr>
            <p:nvPr/>
          </p:nvSpPr>
          <p:spPr bwMode="auto">
            <a:xfrm>
              <a:off x="1517568" y="5552688"/>
              <a:ext cx="139899" cy="1667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1" hangingPunct="1">
                <a:spcAft>
                  <a:spcPts val="1000"/>
                </a:spcAft>
              </a:pPr>
              <a:r>
                <a:rPr lang="en-GB" altLang="en-US" sz="1100">
                  <a:solidFill>
                    <a:srgbClr val="000000"/>
                  </a:solidFill>
                  <a:latin typeface="Helvetica"/>
                </a:rPr>
                <a:t>0</a:t>
              </a:r>
              <a:endParaRPr lang="en-US" altLang="en-US"/>
            </a:p>
          </p:txBody>
        </p:sp>
        <p:sp>
          <p:nvSpPr>
            <p:cNvPr id="26677" name="Line 155"/>
            <p:cNvSpPr>
              <a:spLocks noChangeShapeType="1"/>
            </p:cNvSpPr>
            <p:nvPr/>
          </p:nvSpPr>
          <p:spPr bwMode="auto">
            <a:xfrm flipV="1">
              <a:off x="2109450" y="5490166"/>
              <a:ext cx="717" cy="208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78" name="Line 156"/>
            <p:cNvSpPr>
              <a:spLocks noChangeShapeType="1"/>
            </p:cNvSpPr>
            <p:nvPr/>
          </p:nvSpPr>
          <p:spPr bwMode="auto">
            <a:xfrm>
              <a:off x="2109450" y="3863880"/>
              <a:ext cx="717" cy="208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79" name="Rectangle 157"/>
            <p:cNvSpPr>
              <a:spLocks noChangeArrowheads="1"/>
            </p:cNvSpPr>
            <p:nvPr/>
          </p:nvSpPr>
          <p:spPr bwMode="auto">
            <a:xfrm>
              <a:off x="2012596" y="5552688"/>
              <a:ext cx="258276" cy="1667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1" hangingPunct="1">
                <a:spcAft>
                  <a:spcPts val="1000"/>
                </a:spcAft>
              </a:pPr>
              <a:r>
                <a:rPr lang="en-GB" altLang="en-US" sz="1100">
                  <a:solidFill>
                    <a:srgbClr val="000000"/>
                  </a:solidFill>
                  <a:latin typeface="Helvetica"/>
                </a:rPr>
                <a:t>0.5</a:t>
              </a:r>
              <a:endParaRPr lang="en-US" altLang="en-US"/>
            </a:p>
          </p:txBody>
        </p:sp>
        <p:sp>
          <p:nvSpPr>
            <p:cNvPr id="26680" name="Line 158"/>
            <p:cNvSpPr>
              <a:spLocks noChangeShapeType="1"/>
            </p:cNvSpPr>
            <p:nvPr/>
          </p:nvSpPr>
          <p:spPr bwMode="auto">
            <a:xfrm flipV="1">
              <a:off x="2679809" y="5490166"/>
              <a:ext cx="717" cy="208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81" name="Line 159"/>
            <p:cNvSpPr>
              <a:spLocks noChangeShapeType="1"/>
            </p:cNvSpPr>
            <p:nvPr/>
          </p:nvSpPr>
          <p:spPr bwMode="auto">
            <a:xfrm>
              <a:off x="2679809" y="3863880"/>
              <a:ext cx="717" cy="208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82" name="Rectangle 160"/>
            <p:cNvSpPr>
              <a:spLocks noChangeArrowheads="1"/>
            </p:cNvSpPr>
            <p:nvPr/>
          </p:nvSpPr>
          <p:spPr bwMode="auto">
            <a:xfrm>
              <a:off x="2647524" y="5552688"/>
              <a:ext cx="139899" cy="1667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1" hangingPunct="1">
                <a:spcAft>
                  <a:spcPts val="1000"/>
                </a:spcAft>
              </a:pPr>
              <a:r>
                <a:rPr lang="en-GB" altLang="en-US" sz="1100">
                  <a:solidFill>
                    <a:srgbClr val="000000"/>
                  </a:solidFill>
                  <a:latin typeface="Helvetica"/>
                </a:rPr>
                <a:t>1</a:t>
              </a:r>
              <a:endParaRPr lang="en-US" altLang="en-US"/>
            </a:p>
          </p:txBody>
        </p:sp>
        <p:sp>
          <p:nvSpPr>
            <p:cNvPr id="26683" name="Line 161"/>
            <p:cNvSpPr>
              <a:spLocks noChangeShapeType="1"/>
            </p:cNvSpPr>
            <p:nvPr/>
          </p:nvSpPr>
          <p:spPr bwMode="auto">
            <a:xfrm flipV="1">
              <a:off x="3250168" y="5490166"/>
              <a:ext cx="717" cy="208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84" name="Line 162"/>
            <p:cNvSpPr>
              <a:spLocks noChangeShapeType="1"/>
            </p:cNvSpPr>
            <p:nvPr/>
          </p:nvSpPr>
          <p:spPr bwMode="auto">
            <a:xfrm>
              <a:off x="3250168" y="3863880"/>
              <a:ext cx="717" cy="208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85" name="Rectangle 163"/>
            <p:cNvSpPr>
              <a:spLocks noChangeArrowheads="1"/>
            </p:cNvSpPr>
            <p:nvPr/>
          </p:nvSpPr>
          <p:spPr bwMode="auto">
            <a:xfrm>
              <a:off x="3153315" y="5552688"/>
              <a:ext cx="258276" cy="1667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1" hangingPunct="1">
                <a:spcAft>
                  <a:spcPts val="1000"/>
                </a:spcAft>
              </a:pPr>
              <a:r>
                <a:rPr lang="en-GB" altLang="en-US" sz="1100">
                  <a:solidFill>
                    <a:srgbClr val="000000"/>
                  </a:solidFill>
                  <a:latin typeface="Helvetica"/>
                </a:rPr>
                <a:t>1.5</a:t>
              </a:r>
              <a:endParaRPr lang="en-US" altLang="en-US"/>
            </a:p>
          </p:txBody>
        </p:sp>
        <p:sp>
          <p:nvSpPr>
            <p:cNvPr id="26686" name="Line 164"/>
            <p:cNvSpPr>
              <a:spLocks noChangeShapeType="1"/>
            </p:cNvSpPr>
            <p:nvPr/>
          </p:nvSpPr>
          <p:spPr bwMode="auto">
            <a:xfrm>
              <a:off x="1549852" y="5511007"/>
              <a:ext cx="10761" cy="69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87" name="Line 165"/>
            <p:cNvSpPr>
              <a:spLocks noChangeShapeType="1"/>
            </p:cNvSpPr>
            <p:nvPr/>
          </p:nvSpPr>
          <p:spPr bwMode="auto">
            <a:xfrm flipH="1">
              <a:off x="3228645" y="5511007"/>
              <a:ext cx="21523" cy="69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88" name="Rectangle 166"/>
            <p:cNvSpPr>
              <a:spLocks noChangeArrowheads="1"/>
            </p:cNvSpPr>
            <p:nvPr/>
          </p:nvSpPr>
          <p:spPr bwMode="auto">
            <a:xfrm>
              <a:off x="1381255" y="5428338"/>
              <a:ext cx="139899" cy="1667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1" hangingPunct="1">
                <a:spcAft>
                  <a:spcPts val="1000"/>
                </a:spcAft>
              </a:pPr>
              <a:r>
                <a:rPr lang="en-GB" altLang="en-US" sz="1100">
                  <a:solidFill>
                    <a:srgbClr val="000000"/>
                  </a:solidFill>
                  <a:latin typeface="Helvetica"/>
                </a:rPr>
                <a:t>0</a:t>
              </a:r>
              <a:endParaRPr lang="en-US" altLang="en-US"/>
            </a:p>
          </p:txBody>
        </p:sp>
        <p:sp>
          <p:nvSpPr>
            <p:cNvPr id="26689" name="Line 167"/>
            <p:cNvSpPr>
              <a:spLocks noChangeShapeType="1"/>
            </p:cNvSpPr>
            <p:nvPr/>
          </p:nvSpPr>
          <p:spPr bwMode="auto">
            <a:xfrm>
              <a:off x="1549852" y="4958723"/>
              <a:ext cx="10761" cy="69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90" name="Line 168"/>
            <p:cNvSpPr>
              <a:spLocks noChangeShapeType="1"/>
            </p:cNvSpPr>
            <p:nvPr/>
          </p:nvSpPr>
          <p:spPr bwMode="auto">
            <a:xfrm flipH="1">
              <a:off x="3228645" y="4958723"/>
              <a:ext cx="21523" cy="69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91" name="Rectangle 169"/>
            <p:cNvSpPr>
              <a:spLocks noChangeArrowheads="1"/>
            </p:cNvSpPr>
            <p:nvPr/>
          </p:nvSpPr>
          <p:spPr bwMode="auto">
            <a:xfrm>
              <a:off x="1313099" y="4875359"/>
              <a:ext cx="258276" cy="1667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1" hangingPunct="1">
                <a:spcAft>
                  <a:spcPts val="1000"/>
                </a:spcAft>
              </a:pPr>
              <a:r>
                <a:rPr lang="en-GB" altLang="en-US" sz="1100">
                  <a:solidFill>
                    <a:srgbClr val="000000"/>
                  </a:solidFill>
                  <a:latin typeface="Helvetica"/>
                </a:rPr>
                <a:t>0.5</a:t>
              </a:r>
              <a:endParaRPr lang="en-US" altLang="en-US"/>
            </a:p>
          </p:txBody>
        </p:sp>
        <p:sp>
          <p:nvSpPr>
            <p:cNvPr id="26692" name="Line 170"/>
            <p:cNvSpPr>
              <a:spLocks noChangeShapeType="1"/>
            </p:cNvSpPr>
            <p:nvPr/>
          </p:nvSpPr>
          <p:spPr bwMode="auto">
            <a:xfrm>
              <a:off x="1549852" y="4416164"/>
              <a:ext cx="10761" cy="69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93" name="Line 171"/>
            <p:cNvSpPr>
              <a:spLocks noChangeShapeType="1"/>
            </p:cNvSpPr>
            <p:nvPr/>
          </p:nvSpPr>
          <p:spPr bwMode="auto">
            <a:xfrm flipH="1">
              <a:off x="3228645" y="4416164"/>
              <a:ext cx="21523" cy="69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94" name="Rectangle 172"/>
            <p:cNvSpPr>
              <a:spLocks noChangeArrowheads="1"/>
            </p:cNvSpPr>
            <p:nvPr/>
          </p:nvSpPr>
          <p:spPr bwMode="auto">
            <a:xfrm>
              <a:off x="1431476" y="4332801"/>
              <a:ext cx="139899" cy="1667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1" hangingPunct="1">
                <a:spcAft>
                  <a:spcPts val="1000"/>
                </a:spcAft>
              </a:pPr>
              <a:r>
                <a:rPr lang="en-GB" altLang="en-US" sz="1100">
                  <a:solidFill>
                    <a:srgbClr val="000000"/>
                  </a:solidFill>
                  <a:latin typeface="Helvetica"/>
                </a:rPr>
                <a:t>1</a:t>
              </a:r>
              <a:endParaRPr lang="en-US" altLang="en-US"/>
            </a:p>
          </p:txBody>
        </p:sp>
        <p:sp>
          <p:nvSpPr>
            <p:cNvPr id="26695" name="Line 173"/>
            <p:cNvSpPr>
              <a:spLocks noChangeShapeType="1"/>
            </p:cNvSpPr>
            <p:nvPr/>
          </p:nvSpPr>
          <p:spPr bwMode="auto">
            <a:xfrm>
              <a:off x="1549852" y="3863880"/>
              <a:ext cx="10761" cy="69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96" name="Line 174"/>
            <p:cNvSpPr>
              <a:spLocks noChangeShapeType="1"/>
            </p:cNvSpPr>
            <p:nvPr/>
          </p:nvSpPr>
          <p:spPr bwMode="auto">
            <a:xfrm flipH="1">
              <a:off x="3228645" y="3863880"/>
              <a:ext cx="21523" cy="69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97" name="Rectangle 175"/>
            <p:cNvSpPr>
              <a:spLocks noChangeArrowheads="1"/>
            </p:cNvSpPr>
            <p:nvPr/>
          </p:nvSpPr>
          <p:spPr bwMode="auto">
            <a:xfrm>
              <a:off x="1313099" y="3780517"/>
              <a:ext cx="258276" cy="1667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1" hangingPunct="1">
                <a:spcAft>
                  <a:spcPts val="1000"/>
                </a:spcAft>
              </a:pPr>
              <a:r>
                <a:rPr lang="en-GB" altLang="en-US" sz="1100">
                  <a:solidFill>
                    <a:srgbClr val="000000"/>
                  </a:solidFill>
                  <a:latin typeface="Helvetica"/>
                </a:rPr>
                <a:t>1.5</a:t>
              </a:r>
              <a:endParaRPr lang="en-US" altLang="en-US"/>
            </a:p>
          </p:txBody>
        </p:sp>
        <p:sp>
          <p:nvSpPr>
            <p:cNvPr id="26698" name="Line 176"/>
            <p:cNvSpPr>
              <a:spLocks noChangeShapeType="1"/>
            </p:cNvSpPr>
            <p:nvPr/>
          </p:nvSpPr>
          <p:spPr bwMode="auto">
            <a:xfrm>
              <a:off x="1549852" y="3863880"/>
              <a:ext cx="1700316" cy="69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99" name="Line 177"/>
            <p:cNvSpPr>
              <a:spLocks noChangeShapeType="1"/>
            </p:cNvSpPr>
            <p:nvPr/>
          </p:nvSpPr>
          <p:spPr bwMode="auto">
            <a:xfrm>
              <a:off x="1549852" y="5511007"/>
              <a:ext cx="1700316" cy="69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700" name="Line 178"/>
            <p:cNvSpPr>
              <a:spLocks noChangeShapeType="1"/>
            </p:cNvSpPr>
            <p:nvPr/>
          </p:nvSpPr>
          <p:spPr bwMode="auto">
            <a:xfrm flipV="1">
              <a:off x="3250168" y="3863880"/>
              <a:ext cx="717" cy="164712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701" name="Line 179"/>
            <p:cNvSpPr>
              <a:spLocks noChangeShapeType="1"/>
            </p:cNvSpPr>
            <p:nvPr/>
          </p:nvSpPr>
          <p:spPr bwMode="auto">
            <a:xfrm flipV="1">
              <a:off x="1549852" y="3863880"/>
              <a:ext cx="717" cy="164712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702" name="Oval 180"/>
            <p:cNvSpPr>
              <a:spLocks noChangeArrowheads="1"/>
            </p:cNvSpPr>
            <p:nvPr/>
          </p:nvSpPr>
          <p:spPr bwMode="auto">
            <a:xfrm>
              <a:off x="1503936" y="5428338"/>
              <a:ext cx="122681" cy="119488"/>
            </a:xfrm>
            <a:prstGeom prst="ellips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en-US" altLang="en-US"/>
            </a:p>
          </p:txBody>
        </p:sp>
        <p:sp>
          <p:nvSpPr>
            <p:cNvPr id="26703" name="Line 181"/>
            <p:cNvSpPr>
              <a:spLocks noChangeShapeType="1"/>
            </p:cNvSpPr>
            <p:nvPr/>
          </p:nvSpPr>
          <p:spPr bwMode="auto">
            <a:xfrm>
              <a:off x="1496045" y="4364062"/>
              <a:ext cx="107615" cy="104205"/>
            </a:xfrm>
            <a:prstGeom prst="line">
              <a:avLst/>
            </a:prstGeom>
            <a:noFill/>
            <a:ln w="38100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704" name="Line 182"/>
            <p:cNvSpPr>
              <a:spLocks noChangeShapeType="1"/>
            </p:cNvSpPr>
            <p:nvPr/>
          </p:nvSpPr>
          <p:spPr bwMode="auto">
            <a:xfrm flipH="1">
              <a:off x="1496045" y="4364062"/>
              <a:ext cx="107615" cy="104205"/>
            </a:xfrm>
            <a:prstGeom prst="line">
              <a:avLst/>
            </a:prstGeom>
            <a:noFill/>
            <a:ln w="38100">
              <a:solidFill>
                <a:srgbClr val="007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26705" name="Group 183"/>
            <p:cNvGrpSpPr>
              <a:grpSpLocks/>
            </p:cNvGrpSpPr>
            <p:nvPr/>
          </p:nvGrpSpPr>
          <p:grpSpPr bwMode="auto">
            <a:xfrm>
              <a:off x="2626001" y="5458904"/>
              <a:ext cx="107615" cy="104205"/>
              <a:chOff x="4239" y="9949"/>
              <a:chExt cx="150" cy="150"/>
            </a:xfrm>
          </p:grpSpPr>
          <p:sp>
            <p:nvSpPr>
              <p:cNvPr id="26716" name="Line 184"/>
              <p:cNvSpPr>
                <a:spLocks noChangeShapeType="1"/>
              </p:cNvSpPr>
              <p:nvPr/>
            </p:nvSpPr>
            <p:spPr bwMode="auto">
              <a:xfrm>
                <a:off x="4239" y="9949"/>
                <a:ext cx="150" cy="150"/>
              </a:xfrm>
              <a:prstGeom prst="line">
                <a:avLst/>
              </a:prstGeom>
              <a:noFill/>
              <a:ln w="38100">
                <a:solidFill>
                  <a:srgbClr val="007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717" name="Line 185"/>
              <p:cNvSpPr>
                <a:spLocks noChangeShapeType="1"/>
              </p:cNvSpPr>
              <p:nvPr/>
            </p:nvSpPr>
            <p:spPr bwMode="auto">
              <a:xfrm flipH="1">
                <a:off x="4239" y="9949"/>
                <a:ext cx="150" cy="150"/>
              </a:xfrm>
              <a:prstGeom prst="line">
                <a:avLst/>
              </a:prstGeom>
              <a:noFill/>
              <a:ln w="38100">
                <a:solidFill>
                  <a:srgbClr val="007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26706" name="Rectangle 186"/>
            <p:cNvSpPr>
              <a:spLocks noChangeArrowheads="1"/>
            </p:cNvSpPr>
            <p:nvPr/>
          </p:nvSpPr>
          <p:spPr bwMode="auto">
            <a:xfrm>
              <a:off x="2087927" y="5729836"/>
              <a:ext cx="742543" cy="2709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1" hangingPunct="1">
                <a:spcAft>
                  <a:spcPts val="1000"/>
                </a:spcAft>
              </a:pPr>
              <a:r>
                <a:rPr lang="en-GB" altLang="en-US" sz="1400">
                  <a:solidFill>
                    <a:srgbClr val="000000"/>
                  </a:solidFill>
                  <a:latin typeface="Helvetica"/>
                </a:rPr>
                <a:t>input 1</a:t>
              </a:r>
              <a:endParaRPr lang="en-US" altLang="en-US"/>
            </a:p>
          </p:txBody>
        </p:sp>
        <p:sp>
          <p:nvSpPr>
            <p:cNvPr id="26707" name="Rectangle 187"/>
            <p:cNvSpPr>
              <a:spLocks noChangeArrowheads="1"/>
            </p:cNvSpPr>
            <p:nvPr/>
          </p:nvSpPr>
          <p:spPr bwMode="auto">
            <a:xfrm rot="-5400000">
              <a:off x="823379" y="4489537"/>
              <a:ext cx="719011" cy="2797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1" hangingPunct="1">
                <a:spcAft>
                  <a:spcPts val="1000"/>
                </a:spcAft>
              </a:pPr>
              <a:r>
                <a:rPr lang="en-GB" altLang="en-US" sz="1400">
                  <a:solidFill>
                    <a:srgbClr val="000000"/>
                  </a:solidFill>
                  <a:latin typeface="Helvetica"/>
                </a:rPr>
                <a:t>input 2</a:t>
              </a:r>
              <a:endParaRPr lang="en-US" altLang="en-US"/>
            </a:p>
          </p:txBody>
        </p:sp>
        <p:sp>
          <p:nvSpPr>
            <p:cNvPr id="26709" name="Text Box 191"/>
            <p:cNvSpPr txBox="1">
              <a:spLocks noChangeArrowheads="1"/>
            </p:cNvSpPr>
            <p:nvPr/>
          </p:nvSpPr>
          <p:spPr bwMode="auto">
            <a:xfrm>
              <a:off x="3402981" y="5290093"/>
              <a:ext cx="258276" cy="375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1" hangingPunct="1">
                <a:spcAft>
                  <a:spcPts val="1000"/>
                </a:spcAft>
              </a:pPr>
              <a:r>
                <a:rPr lang="en-GB" altLang="en-US" sz="1800">
                  <a:latin typeface="Calibri" pitchFamily="34" charset="0"/>
                </a:rPr>
                <a:t>x</a:t>
              </a:r>
              <a:r>
                <a:rPr lang="en-GB" altLang="en-US" sz="1800" baseline="-25000">
                  <a:latin typeface="Calibri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26710" name="Text Box 192"/>
            <p:cNvSpPr txBox="1">
              <a:spLocks noChangeArrowheads="1"/>
            </p:cNvSpPr>
            <p:nvPr/>
          </p:nvSpPr>
          <p:spPr bwMode="auto">
            <a:xfrm>
              <a:off x="1072042" y="3547793"/>
              <a:ext cx="258276" cy="375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1" hangingPunct="1">
                <a:spcAft>
                  <a:spcPts val="1000"/>
                </a:spcAft>
              </a:pPr>
              <a:r>
                <a:rPr lang="en-GB" altLang="en-US" sz="1800">
                  <a:latin typeface="Calibri" pitchFamily="34" charset="0"/>
                </a:rPr>
                <a:t>x</a:t>
              </a:r>
              <a:r>
                <a:rPr lang="en-GB" altLang="en-US" sz="1800" baseline="-25000">
                  <a:latin typeface="Calibri" pitchFamily="34" charset="0"/>
                </a:rPr>
                <a:t>2</a:t>
              </a:r>
              <a:endParaRPr lang="en-US" altLang="en-US"/>
            </a:p>
          </p:txBody>
        </p:sp>
        <p:sp>
          <p:nvSpPr>
            <p:cNvPr id="26712" name="Oval 196"/>
            <p:cNvSpPr>
              <a:spLocks noChangeArrowheads="1"/>
            </p:cNvSpPr>
            <p:nvPr/>
          </p:nvSpPr>
          <p:spPr bwMode="auto">
            <a:xfrm>
              <a:off x="2608066" y="4359199"/>
              <a:ext cx="122681" cy="119488"/>
            </a:xfrm>
            <a:prstGeom prst="ellips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en-US" altLang="en-US"/>
            </a:p>
          </p:txBody>
        </p:sp>
      </p:grpSp>
      <p:graphicFrame>
        <p:nvGraphicFramePr>
          <p:cNvPr id="212" name="Table 2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223408"/>
              </p:ext>
            </p:extLst>
          </p:nvPr>
        </p:nvGraphicFramePr>
        <p:xfrm>
          <a:off x="1501739" y="1188782"/>
          <a:ext cx="2211020" cy="1800225"/>
        </p:xfrm>
        <a:graphic>
          <a:graphicData uri="http://schemas.openxmlformats.org/drawingml/2006/table">
            <a:tbl>
              <a:tblPr/>
              <a:tblGrid>
                <a:gridCol w="887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3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x</a:t>
                      </a:r>
                      <a:r>
                        <a:rPr lang="en-US" sz="1800" baseline="-25000" dirty="0">
                          <a:latin typeface="Times New Roman"/>
                          <a:ea typeface="Times New Roman"/>
                        </a:rPr>
                        <a:t>1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   x</a:t>
                      </a:r>
                      <a:r>
                        <a:rPr lang="en-US" sz="1800" baseline="-25000" dirty="0">
                          <a:latin typeface="Times New Roman"/>
                          <a:ea typeface="Times New Roman"/>
                        </a:rPr>
                        <a:t>2</a:t>
                      </a:r>
                      <a:endParaRPr lang="en-GB" sz="1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x</a:t>
                      </a:r>
                      <a:r>
                        <a:rPr lang="en-US" sz="1800" baseline="-25000" dirty="0">
                          <a:latin typeface="Times New Roman"/>
                          <a:ea typeface="Times New Roman"/>
                        </a:rPr>
                        <a:t>1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 </a:t>
                      </a:r>
                      <a:r>
                        <a:rPr lang="en-US" sz="1800" b="1" i="1" dirty="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</a:rPr>
                        <a:t>XOR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 x</a:t>
                      </a:r>
                      <a:r>
                        <a:rPr lang="en-US" sz="1800" baseline="-25000" dirty="0">
                          <a:latin typeface="Times New Roman"/>
                          <a:ea typeface="Times New Roman"/>
                        </a:rPr>
                        <a:t>2</a:t>
                      </a:r>
                      <a:endParaRPr lang="en-GB" sz="1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0      0</a:t>
                      </a:r>
                      <a:endParaRPr lang="en-GB" sz="1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0       1</a:t>
                      </a:r>
                      <a:endParaRPr lang="en-GB" sz="1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1       0</a:t>
                      </a:r>
                      <a:endParaRPr lang="en-GB" sz="1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1       1</a:t>
                      </a:r>
                      <a:endParaRPr lang="en-GB" sz="1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884705" y="3320575"/>
            <a:ext cx="7281237" cy="369332"/>
            <a:chOff x="762003" y="3529660"/>
            <a:chExt cx="7281237" cy="369332"/>
          </a:xfrm>
        </p:grpSpPr>
        <p:sp>
          <p:nvSpPr>
            <p:cNvPr id="215" name="Rectangle 214"/>
            <p:cNvSpPr>
              <a:spLocks noChangeArrowheads="1"/>
            </p:cNvSpPr>
            <p:nvPr/>
          </p:nvSpPr>
          <p:spPr bwMode="auto">
            <a:xfrm>
              <a:off x="762003" y="3529660"/>
              <a:ext cx="728123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altLang="en-US" sz="1800" dirty="0"/>
                <a:t>Fig. 1. The </a:t>
              </a:r>
              <a:r>
                <a:rPr lang="en-US" altLang="en-US" sz="1800" b="1" i="1" dirty="0">
                  <a:solidFill>
                    <a:srgbClr val="0000FF"/>
                  </a:solidFill>
                </a:rPr>
                <a:t>XOR</a:t>
              </a:r>
              <a:r>
                <a:rPr lang="en-US" altLang="en-US" sz="1800" dirty="0"/>
                <a:t> nonlinear toy problem (class 1:   , class 2:    </a:t>
              </a:r>
              <a:r>
                <a:rPr lang="en-GB" altLang="en-US" sz="1800" dirty="0"/>
                <a:t>)</a:t>
              </a:r>
              <a:endParaRPr lang="en-US" altLang="en-US" sz="1800" dirty="0"/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5755283" y="3641444"/>
              <a:ext cx="1386402" cy="164761"/>
              <a:chOff x="5716804" y="5023199"/>
              <a:chExt cx="1253583" cy="158510"/>
            </a:xfrm>
          </p:grpSpPr>
          <p:pic>
            <p:nvPicPr>
              <p:cNvPr id="3" name="Picture 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716804" y="5023199"/>
                <a:ext cx="158510" cy="158510"/>
              </a:xfrm>
              <a:prstGeom prst="rect">
                <a:avLst/>
              </a:prstGeom>
            </p:spPr>
          </p:pic>
          <p:pic>
            <p:nvPicPr>
              <p:cNvPr id="4" name="Picture 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24070" y="5034688"/>
                <a:ext cx="146317" cy="140220"/>
              </a:xfrm>
              <a:prstGeom prst="rect">
                <a:avLst/>
              </a:prstGeom>
            </p:spPr>
          </p:pic>
        </p:grpSp>
      </p:grpSp>
      <p:grpSp>
        <p:nvGrpSpPr>
          <p:cNvPr id="94" name="Group 111"/>
          <p:cNvGrpSpPr>
            <a:grpSpLocks/>
          </p:cNvGrpSpPr>
          <p:nvPr/>
        </p:nvGrpSpPr>
        <p:grpSpPr bwMode="auto">
          <a:xfrm>
            <a:off x="2467967" y="3956579"/>
            <a:ext cx="855622" cy="1584637"/>
            <a:chOff x="4204678" y="1791540"/>
            <a:chExt cx="855658" cy="1585060"/>
          </a:xfrm>
        </p:grpSpPr>
        <p:sp>
          <p:nvSpPr>
            <p:cNvPr id="95" name="Oval 39"/>
            <p:cNvSpPr>
              <a:spLocks noChangeArrowheads="1"/>
            </p:cNvSpPr>
            <p:nvPr/>
          </p:nvSpPr>
          <p:spPr bwMode="auto">
            <a:xfrm>
              <a:off x="4204678" y="2414333"/>
              <a:ext cx="330650" cy="235178"/>
            </a:xfrm>
            <a:prstGeom prst="ellipse">
              <a:avLst/>
            </a:prstGeom>
            <a:blipFill>
              <a:blip r:embed="rId4" cstate="print">
                <a:alphaModFix amt="82000"/>
              </a:blip>
              <a:tile tx="0" ty="0" sx="100000" sy="100000" flip="none" algn="tl"/>
            </a:blipFill>
            <a:ln w="12700">
              <a:solidFill>
                <a:srgbClr val="000000"/>
              </a:solidFill>
              <a:round/>
              <a:headEnd/>
              <a:tailEnd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96" name="Oval 40"/>
            <p:cNvSpPr>
              <a:spLocks noChangeArrowheads="1"/>
            </p:cNvSpPr>
            <p:nvPr/>
          </p:nvSpPr>
          <p:spPr bwMode="auto">
            <a:xfrm>
              <a:off x="4204678" y="2884688"/>
              <a:ext cx="330650" cy="235178"/>
            </a:xfrm>
            <a:prstGeom prst="ellipse">
              <a:avLst/>
            </a:prstGeom>
            <a:blipFill>
              <a:blip r:embed="rId4" cstate="print"/>
              <a:tile tx="0" ty="0" sx="100000" sy="100000" flip="none" algn="tl"/>
            </a:blipFill>
            <a:ln w="12700">
              <a:solidFill>
                <a:srgbClr val="000000"/>
              </a:solidFill>
              <a:round/>
              <a:headEnd/>
              <a:tailEnd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99" name="Rectangle 77"/>
            <p:cNvSpPr>
              <a:spLocks noChangeArrowheads="1"/>
            </p:cNvSpPr>
            <p:nvPr/>
          </p:nvSpPr>
          <p:spPr bwMode="auto">
            <a:xfrm>
              <a:off x="4586075" y="2201562"/>
              <a:ext cx="357313" cy="4249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lang="en-GB" altLang="en-US" sz="2400" dirty="0">
                  <a:latin typeface="Calibri" panose="020F0502020204030204" pitchFamily="34" charset="0"/>
                </a:rPr>
                <a:t>h</a:t>
              </a:r>
              <a:r>
                <a:rPr lang="en-GB" altLang="en-US" sz="2400" baseline="-25000" dirty="0">
                  <a:latin typeface="Calibri" panose="020F0502020204030204" pitchFamily="34" charset="0"/>
                </a:rPr>
                <a:t>1</a:t>
              </a:r>
              <a:endParaRPr lang="en-US" altLang="en-US" sz="2400" dirty="0"/>
            </a:p>
          </p:txBody>
        </p:sp>
        <p:sp>
          <p:nvSpPr>
            <p:cNvPr id="100" name="Rectangle 78"/>
            <p:cNvSpPr>
              <a:spLocks noChangeArrowheads="1"/>
            </p:cNvSpPr>
            <p:nvPr/>
          </p:nvSpPr>
          <p:spPr bwMode="auto">
            <a:xfrm>
              <a:off x="4622621" y="2957760"/>
              <a:ext cx="375912" cy="418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lang="en-GB" altLang="en-US" sz="2400" dirty="0">
                  <a:latin typeface="Calibri" panose="020F0502020204030204" pitchFamily="34" charset="0"/>
                </a:rPr>
                <a:t>h</a:t>
              </a:r>
              <a:r>
                <a:rPr lang="en-GB" altLang="en-US" sz="2400" baseline="-25000" dirty="0">
                  <a:latin typeface="Calibri" panose="020F0502020204030204" pitchFamily="34" charset="0"/>
                </a:rPr>
                <a:t>2</a:t>
              </a:r>
              <a:endParaRPr lang="en-US" altLang="en-US" sz="2400" dirty="0"/>
            </a:p>
          </p:txBody>
        </p:sp>
        <p:grpSp>
          <p:nvGrpSpPr>
            <p:cNvPr id="104" name="Group 97"/>
            <p:cNvGrpSpPr>
              <a:grpSpLocks/>
            </p:cNvGrpSpPr>
            <p:nvPr/>
          </p:nvGrpSpPr>
          <p:grpSpPr bwMode="auto">
            <a:xfrm>
              <a:off x="4302267" y="1875382"/>
              <a:ext cx="330650" cy="341334"/>
              <a:chOff x="3742" y="5737"/>
              <a:chExt cx="288" cy="418"/>
            </a:xfrm>
          </p:grpSpPr>
          <p:sp>
            <p:nvSpPr>
              <p:cNvPr id="106" name="Oval 98"/>
              <p:cNvSpPr>
                <a:spLocks noChangeArrowheads="1"/>
              </p:cNvSpPr>
              <p:nvPr/>
            </p:nvSpPr>
            <p:spPr bwMode="auto">
              <a:xfrm>
                <a:off x="3742" y="5807"/>
                <a:ext cx="288" cy="348"/>
              </a:xfrm>
              <a:prstGeom prst="ellipse">
                <a:avLst/>
              </a:prstGeom>
              <a:blipFill>
                <a:blip r:embed="rId4" cstate="print"/>
                <a:tile tx="0" ty="0" sx="100000" sy="100000" flip="none" algn="tl"/>
              </a:blipFill>
              <a:ln w="12700">
                <a:solidFill>
                  <a:srgbClr val="000000"/>
                </a:solidFill>
                <a:round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/>
              <a:lstStyle/>
              <a:p>
                <a:pPr eaLnBrk="1" hangingPunct="1">
                  <a:defRPr/>
                </a:pPr>
                <a:endParaRPr lang="en-US"/>
              </a:p>
            </p:txBody>
          </p:sp>
          <p:sp>
            <p:nvSpPr>
              <p:cNvPr id="107" name="Text Box 99"/>
              <p:cNvSpPr txBox="1">
                <a:spLocks noChangeArrowheads="1"/>
              </p:cNvSpPr>
              <p:nvPr/>
            </p:nvSpPr>
            <p:spPr bwMode="auto">
              <a:xfrm>
                <a:off x="3759" y="5737"/>
                <a:ext cx="220" cy="3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</a:pPr>
                <a:r>
                  <a:rPr lang="en-GB" altLang="en-US" sz="2400" dirty="0">
                    <a:latin typeface="Calibri" panose="020F0502020204030204" pitchFamily="34" charset="0"/>
                  </a:rPr>
                  <a:t> </a:t>
                </a:r>
                <a:r>
                  <a:rPr lang="en-GB" altLang="en-US" sz="2000" dirty="0">
                    <a:latin typeface="Calibri" panose="020F0502020204030204" pitchFamily="34" charset="0"/>
                  </a:rPr>
                  <a:t>1</a:t>
                </a:r>
                <a:endParaRPr lang="en-US" altLang="en-US" sz="2000" dirty="0"/>
              </a:p>
            </p:txBody>
          </p:sp>
        </p:grpSp>
        <p:sp>
          <p:nvSpPr>
            <p:cNvPr id="105" name="Rectangle 106"/>
            <p:cNvSpPr>
              <a:spLocks noChangeArrowheads="1"/>
            </p:cNvSpPr>
            <p:nvPr/>
          </p:nvSpPr>
          <p:spPr bwMode="auto">
            <a:xfrm>
              <a:off x="4664305" y="1791540"/>
              <a:ext cx="396031" cy="384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lang="en-GB" altLang="en-US" sz="2400" dirty="0">
                  <a:latin typeface="Calibri" panose="020F0502020204030204" pitchFamily="34" charset="0"/>
                </a:rPr>
                <a:t>h</a:t>
              </a:r>
              <a:r>
                <a:rPr lang="en-GB" altLang="en-US" sz="2400" baseline="-25000" dirty="0">
                  <a:latin typeface="Times New Roman" panose="02020603050405020304" pitchFamily="18" charset="0"/>
                </a:rPr>
                <a:t>0</a:t>
              </a:r>
              <a:endParaRPr lang="en-US" altLang="en-US" sz="2400" dirty="0"/>
            </a:p>
          </p:txBody>
        </p:sp>
      </p:grpSp>
      <p:grpSp>
        <p:nvGrpSpPr>
          <p:cNvPr id="111" name="Group 120"/>
          <p:cNvGrpSpPr>
            <a:grpSpLocks/>
          </p:cNvGrpSpPr>
          <p:nvPr/>
        </p:nvGrpSpPr>
        <p:grpSpPr bwMode="auto">
          <a:xfrm>
            <a:off x="3731447" y="4284553"/>
            <a:ext cx="807200" cy="642770"/>
            <a:chOff x="6014069" y="1851443"/>
            <a:chExt cx="807067" cy="642916"/>
          </a:xfrm>
        </p:grpSpPr>
        <p:sp>
          <p:nvSpPr>
            <p:cNvPr id="112" name="Oval 46"/>
            <p:cNvSpPr>
              <a:spLocks noChangeArrowheads="1"/>
            </p:cNvSpPr>
            <p:nvPr/>
          </p:nvSpPr>
          <p:spPr bwMode="auto">
            <a:xfrm>
              <a:off x="6014069" y="2259181"/>
              <a:ext cx="330650" cy="235178"/>
            </a:xfrm>
            <a:prstGeom prst="ellipse">
              <a:avLst/>
            </a:prstGeom>
            <a:blipFill>
              <a:blip r:embed="rId4" cstate="print"/>
              <a:tile tx="0" ty="0" sx="100000" sy="100000" flip="none" algn="tl"/>
            </a:blipFill>
            <a:ln w="12700">
              <a:solidFill>
                <a:srgbClr val="000000"/>
              </a:solidFill>
              <a:round/>
              <a:headEnd/>
              <a:tailEnd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21" name="Rectangle 70"/>
            <p:cNvSpPr>
              <a:spLocks noChangeArrowheads="1"/>
            </p:cNvSpPr>
            <p:nvPr/>
          </p:nvSpPr>
          <p:spPr bwMode="auto">
            <a:xfrm>
              <a:off x="6426904" y="1851443"/>
              <a:ext cx="247060" cy="35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lang="en-GB" altLang="en-US" sz="2400" dirty="0">
                  <a:latin typeface="Calibri" panose="020F0502020204030204" pitchFamily="34" charset="0"/>
                </a:rPr>
                <a:t>y</a:t>
              </a:r>
              <a:endParaRPr lang="en-US" altLang="en-US" sz="2400" dirty="0"/>
            </a:p>
          </p:txBody>
        </p:sp>
        <p:sp>
          <p:nvSpPr>
            <p:cNvPr id="120" name="Line 96"/>
            <p:cNvSpPr>
              <a:spLocks noChangeShapeType="1"/>
            </p:cNvSpPr>
            <p:nvPr/>
          </p:nvSpPr>
          <p:spPr bwMode="auto">
            <a:xfrm flipV="1">
              <a:off x="6355889" y="2371716"/>
              <a:ext cx="465247" cy="50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28" name="Group 116"/>
          <p:cNvGrpSpPr>
            <a:grpSpLocks/>
          </p:cNvGrpSpPr>
          <p:nvPr/>
        </p:nvGrpSpPr>
        <p:grpSpPr bwMode="auto">
          <a:xfrm>
            <a:off x="1444725" y="3854450"/>
            <a:ext cx="1015667" cy="1334688"/>
            <a:chOff x="2220777" y="1468634"/>
            <a:chExt cx="1016044" cy="1334448"/>
          </a:xfrm>
        </p:grpSpPr>
        <p:sp>
          <p:nvSpPr>
            <p:cNvPr id="129" name="Line 51"/>
            <p:cNvSpPr>
              <a:spLocks noChangeShapeType="1"/>
            </p:cNvSpPr>
            <p:nvPr/>
          </p:nvSpPr>
          <p:spPr bwMode="auto">
            <a:xfrm>
              <a:off x="2220777" y="2300827"/>
              <a:ext cx="1016044" cy="317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0" name="Line 52"/>
            <p:cNvSpPr>
              <a:spLocks noChangeShapeType="1"/>
            </p:cNvSpPr>
            <p:nvPr/>
          </p:nvSpPr>
          <p:spPr bwMode="auto">
            <a:xfrm>
              <a:off x="2220777" y="2300828"/>
              <a:ext cx="998972" cy="4132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2" name="Line 54"/>
            <p:cNvSpPr>
              <a:spLocks noChangeShapeType="1"/>
            </p:cNvSpPr>
            <p:nvPr/>
          </p:nvSpPr>
          <p:spPr bwMode="auto">
            <a:xfrm flipV="1">
              <a:off x="2244887" y="2408112"/>
              <a:ext cx="991934" cy="3491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" name="Line 55"/>
            <p:cNvSpPr>
              <a:spLocks noChangeShapeType="1"/>
            </p:cNvSpPr>
            <p:nvPr/>
          </p:nvSpPr>
          <p:spPr bwMode="auto">
            <a:xfrm>
              <a:off x="2227665" y="2765466"/>
              <a:ext cx="972599" cy="376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9" name="Line 101"/>
            <p:cNvSpPr>
              <a:spLocks noChangeShapeType="1"/>
            </p:cNvSpPr>
            <p:nvPr/>
          </p:nvSpPr>
          <p:spPr bwMode="auto">
            <a:xfrm>
              <a:off x="2330033" y="1910994"/>
              <a:ext cx="886787" cy="7401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0" name="Line 102"/>
            <p:cNvSpPr>
              <a:spLocks noChangeShapeType="1"/>
            </p:cNvSpPr>
            <p:nvPr/>
          </p:nvSpPr>
          <p:spPr bwMode="auto">
            <a:xfrm>
              <a:off x="2354683" y="1910994"/>
              <a:ext cx="871909" cy="32958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aphicFrame>
          <p:nvGraphicFramePr>
            <p:cNvPr id="141" name="Object 10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8350421"/>
                </p:ext>
              </p:extLst>
            </p:nvPr>
          </p:nvGraphicFramePr>
          <p:xfrm>
            <a:off x="2477947" y="1468634"/>
            <a:ext cx="509777" cy="4587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91960" imgH="266400" progId="Equation.DSMT4">
                    <p:embed/>
                  </p:oleObj>
                </mc:Choice>
                <mc:Fallback>
                  <p:oleObj name="Equation" r:id="rId5" imgW="291960" imgH="266400" progId="Equation.DSMT4">
                    <p:embed/>
                    <p:pic>
                      <p:nvPicPr>
                        <p:cNvPr id="28712" name="Object 1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7947" y="1468634"/>
                          <a:ext cx="509777" cy="4587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2" name="Group 118"/>
          <p:cNvGrpSpPr>
            <a:grpSpLocks/>
          </p:cNvGrpSpPr>
          <p:nvPr/>
        </p:nvGrpSpPr>
        <p:grpSpPr bwMode="auto">
          <a:xfrm>
            <a:off x="2837603" y="3853586"/>
            <a:ext cx="900838" cy="1297929"/>
            <a:chOff x="4557844" y="1480570"/>
            <a:chExt cx="919770" cy="1298099"/>
          </a:xfrm>
        </p:grpSpPr>
        <p:sp>
          <p:nvSpPr>
            <p:cNvPr id="143" name="Line 60"/>
            <p:cNvSpPr>
              <a:spLocks noChangeShapeType="1"/>
            </p:cNvSpPr>
            <p:nvPr/>
          </p:nvSpPr>
          <p:spPr bwMode="auto">
            <a:xfrm>
              <a:off x="4601340" y="2392139"/>
              <a:ext cx="770230" cy="283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7" name="Line 64"/>
            <p:cNvSpPr>
              <a:spLocks noChangeShapeType="1"/>
            </p:cNvSpPr>
            <p:nvPr/>
          </p:nvSpPr>
          <p:spPr bwMode="auto">
            <a:xfrm flipV="1">
              <a:off x="4557844" y="2481438"/>
              <a:ext cx="877326" cy="297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4" name="Line 105"/>
            <p:cNvSpPr>
              <a:spLocks noChangeShapeType="1"/>
            </p:cNvSpPr>
            <p:nvPr/>
          </p:nvSpPr>
          <p:spPr bwMode="auto">
            <a:xfrm>
              <a:off x="4586597" y="1999614"/>
              <a:ext cx="867120" cy="3463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aphicFrame>
          <p:nvGraphicFramePr>
            <p:cNvPr id="155" name="Object 1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5727730"/>
                </p:ext>
              </p:extLst>
            </p:nvPr>
          </p:nvGraphicFramePr>
          <p:xfrm>
            <a:off x="4967042" y="1480570"/>
            <a:ext cx="510572" cy="4556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304560" imgH="266400" progId="Equation.DSMT4">
                    <p:embed/>
                  </p:oleObj>
                </mc:Choice>
                <mc:Fallback>
                  <p:oleObj name="Equation" r:id="rId7" imgW="304560" imgH="266400" progId="Equation.DSMT4">
                    <p:embed/>
                    <p:pic>
                      <p:nvPicPr>
                        <p:cNvPr id="28699" name="Object 1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7042" y="1480570"/>
                          <a:ext cx="510572" cy="4556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6" name="Rectangle 155"/>
          <p:cNvSpPr>
            <a:spLocks noChangeArrowheads="1"/>
          </p:cNvSpPr>
          <p:nvPr/>
        </p:nvSpPr>
        <p:spPr bwMode="auto">
          <a:xfrm>
            <a:off x="899592" y="5589240"/>
            <a:ext cx="743168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576000" indent="-5760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		(a)					(b)</a:t>
            </a:r>
          </a:p>
          <a:p>
            <a:pPr marL="576000" indent="-57600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000" dirty="0"/>
          </a:p>
          <a:p>
            <a:pPr marL="576000" indent="-5760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Fig. 2. NN topologies: a</a:t>
            </a:r>
            <a:r>
              <a:rPr lang="en-US" altLang="en-US" sz="1800"/>
              <a:t>) fully </a:t>
            </a:r>
            <a:r>
              <a:rPr lang="en-US" altLang="en-US" sz="1800" dirty="0"/>
              <a:t>connected between adjacent layers only; b) fully connected.</a:t>
            </a:r>
            <a:endParaRPr lang="en-GB" altLang="en-US" sz="18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765363" y="3963591"/>
            <a:ext cx="810165" cy="1429572"/>
            <a:chOff x="701987" y="4100980"/>
            <a:chExt cx="810165" cy="1429572"/>
          </a:xfrm>
        </p:grpSpPr>
        <p:grpSp>
          <p:nvGrpSpPr>
            <p:cNvPr id="75" name="Group 110"/>
            <p:cNvGrpSpPr>
              <a:grpSpLocks/>
            </p:cNvGrpSpPr>
            <p:nvPr/>
          </p:nvGrpSpPr>
          <p:grpSpPr bwMode="auto">
            <a:xfrm>
              <a:off x="701987" y="4100980"/>
              <a:ext cx="810165" cy="1429572"/>
              <a:chOff x="1567903" y="1571612"/>
              <a:chExt cx="810162" cy="1429849"/>
            </a:xfrm>
          </p:grpSpPr>
          <p:grpSp>
            <p:nvGrpSpPr>
              <p:cNvPr id="76" name="Group 108"/>
              <p:cNvGrpSpPr>
                <a:grpSpLocks/>
              </p:cNvGrpSpPr>
              <p:nvPr/>
            </p:nvGrpSpPr>
            <p:grpSpPr bwMode="auto">
              <a:xfrm>
                <a:off x="1567903" y="1571612"/>
                <a:ext cx="498272" cy="1429849"/>
                <a:chOff x="1428728" y="1569366"/>
                <a:chExt cx="498272" cy="1429849"/>
              </a:xfrm>
            </p:grpSpPr>
            <p:sp>
              <p:nvSpPr>
                <p:cNvPr id="90" name="Rectangle 34"/>
                <p:cNvSpPr>
                  <a:spLocks noChangeArrowheads="1"/>
                </p:cNvSpPr>
                <p:nvPr/>
              </p:nvSpPr>
              <p:spPr bwMode="auto">
                <a:xfrm>
                  <a:off x="1460875" y="1569366"/>
                  <a:ext cx="466125" cy="3560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</a:pPr>
                  <a:r>
                    <a:rPr lang="en-GB" altLang="en-US" sz="2400" dirty="0">
                      <a:latin typeface="Calibri" panose="020F0502020204030204" pitchFamily="34" charset="0"/>
                    </a:rPr>
                    <a:t>x</a:t>
                  </a:r>
                  <a:r>
                    <a:rPr lang="en-GB" altLang="en-US" sz="2400" baseline="-25000" dirty="0">
                      <a:latin typeface="Times New Roman" panose="02020603050405020304" pitchFamily="18" charset="0"/>
                    </a:rPr>
                    <a:t>0</a:t>
                  </a:r>
                  <a:endParaRPr lang="en-US" altLang="en-US" sz="2400" dirty="0"/>
                </a:p>
              </p:txBody>
            </p:sp>
            <p:sp>
              <p:nvSpPr>
                <p:cNvPr id="91" name="Rectangle 38"/>
                <p:cNvSpPr>
                  <a:spLocks noChangeArrowheads="1"/>
                </p:cNvSpPr>
                <p:nvPr/>
              </p:nvSpPr>
              <p:spPr bwMode="auto">
                <a:xfrm>
                  <a:off x="1428728" y="2020940"/>
                  <a:ext cx="466125" cy="3560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</a:pPr>
                  <a:r>
                    <a:rPr lang="en-GB" altLang="en-US" sz="2400">
                      <a:latin typeface="Calibri" panose="020F0502020204030204" pitchFamily="34" charset="0"/>
                    </a:rPr>
                    <a:t>x</a:t>
                  </a:r>
                  <a:r>
                    <a:rPr lang="en-GB" altLang="en-US" sz="2400" baseline="-25000">
                      <a:latin typeface="Calibri" panose="020F0502020204030204" pitchFamily="34" charset="0"/>
                    </a:rPr>
                    <a:t>1</a:t>
                  </a:r>
                  <a:endParaRPr lang="en-US" altLang="en-US" sz="2400"/>
                </a:p>
              </p:txBody>
            </p:sp>
            <p:sp>
              <p:nvSpPr>
                <p:cNvPr id="92" name="Rectangle 49"/>
                <p:cNvSpPr>
                  <a:spLocks noChangeArrowheads="1"/>
                </p:cNvSpPr>
                <p:nvPr/>
              </p:nvSpPr>
              <p:spPr bwMode="auto">
                <a:xfrm>
                  <a:off x="1428728" y="2643182"/>
                  <a:ext cx="466125" cy="3560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</a:pPr>
                  <a:r>
                    <a:rPr lang="en-GB" altLang="en-US" sz="2400">
                      <a:latin typeface="Calibri" panose="020F0502020204030204" pitchFamily="34" charset="0"/>
                    </a:rPr>
                    <a:t>x</a:t>
                  </a:r>
                  <a:r>
                    <a:rPr lang="en-GB" altLang="en-US" sz="2400" baseline="-25000">
                      <a:latin typeface="Calibri" panose="020F0502020204030204" pitchFamily="34" charset="0"/>
                    </a:rPr>
                    <a:t>2</a:t>
                  </a:r>
                  <a:endParaRPr lang="en-US" altLang="en-US" sz="2400"/>
                </a:p>
              </p:txBody>
            </p:sp>
          </p:grpSp>
          <p:grpSp>
            <p:nvGrpSpPr>
              <p:cNvPr id="80" name="Group 35"/>
              <p:cNvGrpSpPr>
                <a:grpSpLocks/>
              </p:cNvGrpSpPr>
              <p:nvPr/>
            </p:nvGrpSpPr>
            <p:grpSpPr bwMode="auto">
              <a:xfrm>
                <a:off x="2033638" y="1737382"/>
                <a:ext cx="344427" cy="284173"/>
                <a:chOff x="3651" y="5597"/>
                <a:chExt cx="300" cy="348"/>
              </a:xfrm>
            </p:grpSpPr>
            <p:sp>
              <p:nvSpPr>
                <p:cNvPr id="88" name="Oval 36"/>
                <p:cNvSpPr>
                  <a:spLocks noChangeArrowheads="1"/>
                </p:cNvSpPr>
                <p:nvPr/>
              </p:nvSpPr>
              <p:spPr bwMode="auto">
                <a:xfrm>
                  <a:off x="3651" y="5597"/>
                  <a:ext cx="300" cy="348"/>
                </a:xfrm>
                <a:prstGeom prst="ellipse">
                  <a:avLst/>
                </a:prstGeom>
                <a:blipFill>
                  <a:blip r:embed="rId4" cstate="print"/>
                  <a:tile tx="0" ty="0" sx="100000" sy="100000" flip="none" algn="tl"/>
                </a:blipFill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txBody>
                <a:bodyPr/>
                <a:lstStyle/>
                <a:p>
                  <a:pPr eaLnBrk="1" hangingPunct="1">
                    <a:defRPr/>
                  </a:pPr>
                  <a:endParaRPr lang="en-US"/>
                </a:p>
              </p:txBody>
            </p:sp>
            <p:sp>
              <p:nvSpPr>
                <p:cNvPr id="89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3651" y="5612"/>
                  <a:ext cx="237" cy="3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</a:pPr>
                  <a:r>
                    <a:rPr lang="en-GB" altLang="en-US" sz="2000" dirty="0">
                      <a:latin typeface="Calibri" panose="020F0502020204030204" pitchFamily="34" charset="0"/>
                    </a:rPr>
                    <a:t>  1</a:t>
                  </a:r>
                  <a:endParaRPr lang="en-US" altLang="en-US" sz="2000" dirty="0"/>
                </a:p>
              </p:txBody>
            </p:sp>
          </p:grpSp>
        </p:grpSp>
        <p:sp>
          <p:nvSpPr>
            <p:cNvPr id="199" name="Oval 36"/>
            <p:cNvSpPr>
              <a:spLocks noChangeArrowheads="1"/>
            </p:cNvSpPr>
            <p:nvPr/>
          </p:nvSpPr>
          <p:spPr bwMode="auto">
            <a:xfrm>
              <a:off x="1022866" y="4670131"/>
              <a:ext cx="344428" cy="284118"/>
            </a:xfrm>
            <a:prstGeom prst="ellipse">
              <a:avLst/>
            </a:prstGeom>
            <a:blipFill>
              <a:blip r:embed="rId4" cstate="print"/>
              <a:tile tx="0" ty="0" sx="100000" sy="100000" flip="none" algn="tl"/>
            </a:blipFill>
            <a:ln w="12700">
              <a:solidFill>
                <a:srgbClr val="000000"/>
              </a:solidFill>
              <a:round/>
              <a:headEnd/>
              <a:tailEnd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200" name="Oval 36"/>
            <p:cNvSpPr>
              <a:spLocks noChangeArrowheads="1"/>
            </p:cNvSpPr>
            <p:nvPr/>
          </p:nvSpPr>
          <p:spPr bwMode="auto">
            <a:xfrm>
              <a:off x="1011023" y="5150192"/>
              <a:ext cx="344428" cy="284118"/>
            </a:xfrm>
            <a:prstGeom prst="ellipse">
              <a:avLst/>
            </a:prstGeom>
            <a:blipFill>
              <a:blip r:embed="rId4" cstate="print"/>
              <a:tile tx="0" ty="0" sx="100000" sy="100000" flip="none" algn="tl"/>
            </a:blipFill>
            <a:ln w="12700">
              <a:solidFill>
                <a:srgbClr val="000000"/>
              </a:solidFill>
              <a:round/>
              <a:headEnd/>
              <a:tailEnd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/>
            <a:lstStyle/>
            <a:p>
              <a:pPr eaLnBrk="1" hangingPunct="1">
                <a:defRPr/>
              </a:pPr>
              <a:endParaRPr lang="en-US"/>
            </a:p>
          </p:txBody>
        </p:sp>
      </p:grpSp>
      <p:graphicFrame>
        <p:nvGraphicFramePr>
          <p:cNvPr id="144" name="Table 143">
            <a:extLst>
              <a:ext uri="{FF2B5EF4-FFF2-40B4-BE49-F238E27FC236}">
                <a16:creationId xmlns:a16="http://schemas.microsoft.com/office/drawing/2014/main" id="{C3BCDCC0-5547-41EB-9F69-9E2F367E9F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06855"/>
              </p:ext>
            </p:extLst>
          </p:nvPr>
        </p:nvGraphicFramePr>
        <p:xfrm>
          <a:off x="955022" y="1188782"/>
          <a:ext cx="543233" cy="1800225"/>
        </p:xfrm>
        <a:graphic>
          <a:graphicData uri="http://schemas.openxmlformats.org/drawingml/2006/table">
            <a:tbl>
              <a:tblPr/>
              <a:tblGrid>
                <a:gridCol w="543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x</a:t>
                      </a:r>
                      <a:r>
                        <a:rPr lang="en-US" sz="1800" baseline="-25000" dirty="0">
                          <a:latin typeface="Times New Roman"/>
                          <a:ea typeface="Times New Roman"/>
                        </a:rPr>
                        <a:t>0</a:t>
                      </a:r>
                      <a:endParaRPr lang="en-GB" sz="1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      </a:t>
                      </a:r>
                      <a:endParaRPr lang="en-GB" sz="1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       </a:t>
                      </a:r>
                      <a:endParaRPr lang="en-GB" sz="1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       </a:t>
                      </a:r>
                      <a:endParaRPr lang="en-GB" sz="1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       </a:t>
                      </a:r>
                      <a:endParaRPr lang="en-GB" sz="1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5B1A3DD-BB97-4A80-9558-04D213320735}"/>
              </a:ext>
            </a:extLst>
          </p:cNvPr>
          <p:cNvGrpSpPr/>
          <p:nvPr/>
        </p:nvGrpSpPr>
        <p:grpSpPr>
          <a:xfrm>
            <a:off x="4850330" y="3977327"/>
            <a:ext cx="3691811" cy="1581449"/>
            <a:chOff x="4786954" y="4114716"/>
            <a:chExt cx="3691811" cy="1581449"/>
          </a:xfrm>
        </p:grpSpPr>
        <p:grpSp>
          <p:nvGrpSpPr>
            <p:cNvPr id="7" name="Group 6"/>
            <p:cNvGrpSpPr/>
            <p:nvPr/>
          </p:nvGrpSpPr>
          <p:grpSpPr>
            <a:xfrm>
              <a:off x="4786954" y="4217884"/>
              <a:ext cx="3691811" cy="1429572"/>
              <a:chOff x="4774095" y="4202325"/>
              <a:chExt cx="3691811" cy="1429572"/>
            </a:xfrm>
          </p:grpSpPr>
          <p:grpSp>
            <p:nvGrpSpPr>
              <p:cNvPr id="157" name="Group 110"/>
              <p:cNvGrpSpPr>
                <a:grpSpLocks/>
              </p:cNvGrpSpPr>
              <p:nvPr/>
            </p:nvGrpSpPr>
            <p:grpSpPr bwMode="auto">
              <a:xfrm>
                <a:off x="4774095" y="4202325"/>
                <a:ext cx="810165" cy="1429572"/>
                <a:chOff x="1567903" y="1571612"/>
                <a:chExt cx="810162" cy="1429849"/>
              </a:xfrm>
            </p:grpSpPr>
            <p:grpSp>
              <p:nvGrpSpPr>
                <p:cNvPr id="158" name="Group 108"/>
                <p:cNvGrpSpPr>
                  <a:grpSpLocks/>
                </p:cNvGrpSpPr>
                <p:nvPr/>
              </p:nvGrpSpPr>
              <p:grpSpPr bwMode="auto">
                <a:xfrm>
                  <a:off x="1567903" y="1571612"/>
                  <a:ext cx="498272" cy="1429849"/>
                  <a:chOff x="1428728" y="1569366"/>
                  <a:chExt cx="498272" cy="1429849"/>
                </a:xfrm>
              </p:grpSpPr>
              <p:sp>
                <p:nvSpPr>
                  <p:cNvPr id="166" name="Rectangle 34"/>
                  <p:cNvSpPr>
                    <a:spLocks noChangeArrowheads="1"/>
                  </p:cNvSpPr>
                  <p:nvPr/>
                </p:nvSpPr>
                <p:spPr bwMode="auto">
                  <a:xfrm>
                    <a:off x="1460875" y="1569366"/>
                    <a:ext cx="466125" cy="35603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</a:pPr>
                    <a:r>
                      <a:rPr lang="en-GB" altLang="en-US" sz="2400">
                        <a:latin typeface="Calibri" panose="020F0502020204030204" pitchFamily="34" charset="0"/>
                      </a:rPr>
                      <a:t>x</a:t>
                    </a:r>
                    <a:r>
                      <a:rPr lang="en-GB" altLang="en-US" sz="2400" baseline="-25000">
                        <a:latin typeface="Times New Roman" panose="02020603050405020304" pitchFamily="18" charset="0"/>
                      </a:rPr>
                      <a:t>0</a:t>
                    </a:r>
                    <a:endParaRPr lang="en-US" altLang="en-US" sz="2400"/>
                  </a:p>
                </p:txBody>
              </p:sp>
              <p:sp>
                <p:nvSpPr>
                  <p:cNvPr id="167" name="Rectangle 38"/>
                  <p:cNvSpPr>
                    <a:spLocks noChangeArrowheads="1"/>
                  </p:cNvSpPr>
                  <p:nvPr/>
                </p:nvSpPr>
                <p:spPr bwMode="auto">
                  <a:xfrm>
                    <a:off x="1428728" y="2020940"/>
                    <a:ext cx="466125" cy="35603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</a:pPr>
                    <a:r>
                      <a:rPr lang="en-GB" altLang="en-US" sz="2400">
                        <a:latin typeface="Calibri" panose="020F0502020204030204" pitchFamily="34" charset="0"/>
                      </a:rPr>
                      <a:t>x</a:t>
                    </a:r>
                    <a:r>
                      <a:rPr lang="en-GB" altLang="en-US" sz="2400" baseline="-25000">
                        <a:latin typeface="Calibri" panose="020F0502020204030204" pitchFamily="34" charset="0"/>
                      </a:rPr>
                      <a:t>1</a:t>
                    </a:r>
                    <a:endParaRPr lang="en-US" altLang="en-US" sz="2400"/>
                  </a:p>
                </p:txBody>
              </p:sp>
              <p:sp>
                <p:nvSpPr>
                  <p:cNvPr id="168" name="Rectangle 49"/>
                  <p:cNvSpPr>
                    <a:spLocks noChangeArrowheads="1"/>
                  </p:cNvSpPr>
                  <p:nvPr/>
                </p:nvSpPr>
                <p:spPr bwMode="auto">
                  <a:xfrm>
                    <a:off x="1428728" y="2643182"/>
                    <a:ext cx="466125" cy="35603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</a:pPr>
                    <a:r>
                      <a:rPr lang="en-GB" altLang="en-US" sz="2400">
                        <a:latin typeface="Calibri" panose="020F0502020204030204" pitchFamily="34" charset="0"/>
                      </a:rPr>
                      <a:t>x</a:t>
                    </a:r>
                    <a:r>
                      <a:rPr lang="en-GB" altLang="en-US" sz="2400" baseline="-25000">
                        <a:latin typeface="Calibri" panose="020F0502020204030204" pitchFamily="34" charset="0"/>
                      </a:rPr>
                      <a:t>2</a:t>
                    </a:r>
                    <a:endParaRPr lang="en-US" altLang="en-US" sz="2400"/>
                  </a:p>
                </p:txBody>
              </p:sp>
            </p:grpSp>
            <p:grpSp>
              <p:nvGrpSpPr>
                <p:cNvPr id="160" name="Group 35"/>
                <p:cNvGrpSpPr>
                  <a:grpSpLocks/>
                </p:cNvGrpSpPr>
                <p:nvPr/>
              </p:nvGrpSpPr>
              <p:grpSpPr bwMode="auto">
                <a:xfrm>
                  <a:off x="2033638" y="1737382"/>
                  <a:ext cx="344427" cy="284173"/>
                  <a:chOff x="3651" y="5597"/>
                  <a:chExt cx="300" cy="348"/>
                </a:xfrm>
              </p:grpSpPr>
              <p:sp>
                <p:nvSpPr>
                  <p:cNvPr id="164" name="Oval 36"/>
                  <p:cNvSpPr>
                    <a:spLocks noChangeArrowheads="1"/>
                  </p:cNvSpPr>
                  <p:nvPr/>
                </p:nvSpPr>
                <p:spPr bwMode="auto">
                  <a:xfrm>
                    <a:off x="3651" y="5597"/>
                    <a:ext cx="300" cy="348"/>
                  </a:xfrm>
                  <a:prstGeom prst="ellipse">
                    <a:avLst/>
                  </a:prstGeom>
                  <a:blipFill>
                    <a:blip r:embed="rId4" cstate="print"/>
                    <a:tile tx="0" ty="0" sx="100000" sy="100000" flip="none" algn="tl"/>
                  </a:blip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en-US"/>
                  </a:p>
                </p:txBody>
              </p:sp>
              <p:sp>
                <p:nvSpPr>
                  <p:cNvPr id="165" name="Text Box 3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51" y="5612"/>
                    <a:ext cx="237" cy="33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</a:pPr>
                    <a:r>
                      <a:rPr lang="en-GB" altLang="en-US" sz="2000" dirty="0">
                        <a:latin typeface="Calibri" panose="020F0502020204030204" pitchFamily="34" charset="0"/>
                      </a:rPr>
                      <a:t>  1</a:t>
                    </a:r>
                    <a:endParaRPr lang="en-US" altLang="en-US" sz="2000" dirty="0"/>
                  </a:p>
                </p:txBody>
              </p:sp>
            </p:grpSp>
          </p:grpSp>
          <p:grpSp>
            <p:nvGrpSpPr>
              <p:cNvPr id="169" name="Group 111"/>
              <p:cNvGrpSpPr>
                <a:grpSpLocks/>
              </p:cNvGrpSpPr>
              <p:nvPr/>
            </p:nvGrpSpPr>
            <p:grpSpPr bwMode="auto">
              <a:xfrm>
                <a:off x="6478522" y="4279131"/>
                <a:ext cx="426397" cy="853937"/>
                <a:chOff x="4206502" y="1875382"/>
                <a:chExt cx="426415" cy="854166"/>
              </a:xfrm>
            </p:grpSpPr>
            <p:sp>
              <p:nvSpPr>
                <p:cNvPr id="170" name="Oval 39"/>
                <p:cNvSpPr>
                  <a:spLocks noChangeArrowheads="1"/>
                </p:cNvSpPr>
                <p:nvPr/>
              </p:nvSpPr>
              <p:spPr bwMode="auto">
                <a:xfrm>
                  <a:off x="4206502" y="2450144"/>
                  <a:ext cx="314626" cy="279404"/>
                </a:xfrm>
                <a:prstGeom prst="ellipse">
                  <a:avLst/>
                </a:prstGeom>
                <a:blipFill>
                  <a:blip r:embed="rId4" cstate="print">
                    <a:alphaModFix amt="82000"/>
                  </a:blip>
                  <a:tile tx="0" ty="0" sx="100000" sy="100000" flip="none" algn="tl"/>
                </a:blipFill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txBody>
                <a:bodyPr/>
                <a:lstStyle/>
                <a:p>
                  <a:pPr eaLnBrk="1" hangingPunct="1">
                    <a:defRPr/>
                  </a:pPr>
                  <a:endParaRPr lang="en-US"/>
                </a:p>
              </p:txBody>
            </p:sp>
            <p:grpSp>
              <p:nvGrpSpPr>
                <p:cNvPr id="174" name="Group 97"/>
                <p:cNvGrpSpPr>
                  <a:grpSpLocks/>
                </p:cNvGrpSpPr>
                <p:nvPr/>
              </p:nvGrpSpPr>
              <p:grpSpPr bwMode="auto">
                <a:xfrm>
                  <a:off x="4302267" y="1875382"/>
                  <a:ext cx="330650" cy="341334"/>
                  <a:chOff x="3742" y="5737"/>
                  <a:chExt cx="288" cy="418"/>
                </a:xfrm>
              </p:grpSpPr>
              <p:sp>
                <p:nvSpPr>
                  <p:cNvPr id="176" name="Oval 98"/>
                  <p:cNvSpPr>
                    <a:spLocks noChangeArrowheads="1"/>
                  </p:cNvSpPr>
                  <p:nvPr/>
                </p:nvSpPr>
                <p:spPr bwMode="auto">
                  <a:xfrm>
                    <a:off x="3742" y="5807"/>
                    <a:ext cx="288" cy="348"/>
                  </a:xfrm>
                  <a:prstGeom prst="ellipse">
                    <a:avLst/>
                  </a:prstGeom>
                  <a:blipFill>
                    <a:blip r:embed="rId4" cstate="print"/>
                    <a:tile tx="0" ty="0" sx="100000" sy="100000" flip="none" algn="tl"/>
                  </a:blip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en-US"/>
                  </a:p>
                </p:txBody>
              </p:sp>
              <p:sp>
                <p:nvSpPr>
                  <p:cNvPr id="177" name="Text Box 9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759" y="5737"/>
                    <a:ext cx="220" cy="38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</a:pPr>
                    <a:r>
                      <a:rPr lang="en-GB" altLang="en-US" sz="2400" dirty="0">
                        <a:latin typeface="Calibri" panose="020F0502020204030204" pitchFamily="34" charset="0"/>
                      </a:rPr>
                      <a:t> </a:t>
                    </a:r>
                    <a:r>
                      <a:rPr lang="en-GB" altLang="en-US" sz="2000" dirty="0">
                        <a:latin typeface="Calibri" panose="020F0502020204030204" pitchFamily="34" charset="0"/>
                      </a:rPr>
                      <a:t>1</a:t>
                    </a:r>
                    <a:endParaRPr lang="en-US" altLang="en-US" sz="2000" dirty="0"/>
                  </a:p>
                </p:txBody>
              </p:sp>
            </p:grpSp>
          </p:grpSp>
          <p:grpSp>
            <p:nvGrpSpPr>
              <p:cNvPr id="178" name="Group 120"/>
              <p:cNvGrpSpPr>
                <a:grpSpLocks/>
              </p:cNvGrpSpPr>
              <p:nvPr/>
            </p:nvGrpSpPr>
            <p:grpSpPr bwMode="auto">
              <a:xfrm>
                <a:off x="7672213" y="4523285"/>
                <a:ext cx="793693" cy="623075"/>
                <a:chOff x="5946113" y="1851443"/>
                <a:chExt cx="793562" cy="623217"/>
              </a:xfrm>
            </p:grpSpPr>
            <p:sp>
              <p:nvSpPr>
                <p:cNvPr id="179" name="Oval 46"/>
                <p:cNvSpPr>
                  <a:spLocks noChangeArrowheads="1"/>
                </p:cNvSpPr>
                <p:nvPr/>
              </p:nvSpPr>
              <p:spPr bwMode="auto">
                <a:xfrm>
                  <a:off x="5946113" y="2226107"/>
                  <a:ext cx="276253" cy="248553"/>
                </a:xfrm>
                <a:prstGeom prst="ellipse">
                  <a:avLst/>
                </a:prstGeom>
                <a:blipFill>
                  <a:blip r:embed="rId4" cstate="print"/>
                  <a:tile tx="0" ty="0" sx="100000" sy="100000" flip="none" algn="tl"/>
                </a:blipFill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txBody>
                <a:bodyPr/>
                <a:lstStyle/>
                <a:p>
                  <a:pPr eaLnBrk="1" hangingPunct="1">
                    <a:defRPr/>
                  </a:pPr>
                  <a:endParaRPr lang="en-US"/>
                </a:p>
              </p:txBody>
            </p:sp>
            <p:sp>
              <p:nvSpPr>
                <p:cNvPr id="180" name="Rectangle 70"/>
                <p:cNvSpPr>
                  <a:spLocks noChangeArrowheads="1"/>
                </p:cNvSpPr>
                <p:nvPr/>
              </p:nvSpPr>
              <p:spPr bwMode="auto">
                <a:xfrm>
                  <a:off x="6426904" y="1851443"/>
                  <a:ext cx="247060" cy="3544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</a:pPr>
                  <a:r>
                    <a:rPr lang="en-GB" altLang="en-US" sz="2400" dirty="0">
                      <a:latin typeface="Calibri" panose="020F0502020204030204" pitchFamily="34" charset="0"/>
                    </a:rPr>
                    <a:t>y</a:t>
                  </a:r>
                  <a:endParaRPr lang="en-US" altLang="en-US" sz="2400" dirty="0"/>
                </a:p>
              </p:txBody>
            </p:sp>
            <p:sp>
              <p:nvSpPr>
                <p:cNvPr id="181" name="Line 96"/>
                <p:cNvSpPr>
                  <a:spLocks noChangeShapeType="1"/>
                </p:cNvSpPr>
                <p:nvPr/>
              </p:nvSpPr>
              <p:spPr bwMode="auto">
                <a:xfrm flipV="1">
                  <a:off x="6274428" y="2358578"/>
                  <a:ext cx="465247" cy="505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82" name="Group 116"/>
              <p:cNvGrpSpPr>
                <a:grpSpLocks/>
              </p:cNvGrpSpPr>
              <p:nvPr/>
            </p:nvGrpSpPr>
            <p:grpSpPr bwMode="auto">
              <a:xfrm>
                <a:off x="5453458" y="4535624"/>
                <a:ext cx="1015667" cy="846456"/>
                <a:chOff x="2220777" y="1910994"/>
                <a:chExt cx="1016044" cy="846304"/>
              </a:xfrm>
            </p:grpSpPr>
            <p:sp>
              <p:nvSpPr>
                <p:cNvPr id="183" name="Line 51"/>
                <p:cNvSpPr>
                  <a:spLocks noChangeShapeType="1"/>
                </p:cNvSpPr>
                <p:nvPr/>
              </p:nvSpPr>
              <p:spPr bwMode="auto">
                <a:xfrm>
                  <a:off x="2220777" y="2300827"/>
                  <a:ext cx="1016044" cy="3173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85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2244887" y="2408112"/>
                  <a:ext cx="991934" cy="34918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88" name="Line 102"/>
                <p:cNvSpPr>
                  <a:spLocks noChangeShapeType="1"/>
                </p:cNvSpPr>
                <p:nvPr/>
              </p:nvSpPr>
              <p:spPr bwMode="auto">
                <a:xfrm>
                  <a:off x="2354683" y="1910994"/>
                  <a:ext cx="871909" cy="32958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90" name="Group 118"/>
              <p:cNvGrpSpPr>
                <a:grpSpLocks/>
              </p:cNvGrpSpPr>
              <p:nvPr/>
            </p:nvGrpSpPr>
            <p:grpSpPr bwMode="auto">
              <a:xfrm>
                <a:off x="6841157" y="4539440"/>
                <a:ext cx="778127" cy="470340"/>
                <a:chOff x="4552556" y="1927747"/>
                <a:chExt cx="794480" cy="470401"/>
              </a:xfrm>
            </p:grpSpPr>
            <p:sp>
              <p:nvSpPr>
                <p:cNvPr id="191" name="Line 60"/>
                <p:cNvSpPr>
                  <a:spLocks noChangeShapeType="1"/>
                </p:cNvSpPr>
                <p:nvPr/>
              </p:nvSpPr>
              <p:spPr bwMode="auto">
                <a:xfrm>
                  <a:off x="4552556" y="2366689"/>
                  <a:ext cx="794480" cy="3145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93" name="Line 105"/>
                <p:cNvSpPr>
                  <a:spLocks noChangeShapeType="1"/>
                </p:cNvSpPr>
                <p:nvPr/>
              </p:nvSpPr>
              <p:spPr bwMode="auto">
                <a:xfrm>
                  <a:off x="4598519" y="1927747"/>
                  <a:ext cx="745098" cy="38613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201" name="Oval 36"/>
            <p:cNvSpPr>
              <a:spLocks noChangeArrowheads="1"/>
            </p:cNvSpPr>
            <p:nvPr/>
          </p:nvSpPr>
          <p:spPr bwMode="auto">
            <a:xfrm>
              <a:off x="5269808" y="4816482"/>
              <a:ext cx="344428" cy="284118"/>
            </a:xfrm>
            <a:prstGeom prst="ellipse">
              <a:avLst/>
            </a:prstGeom>
            <a:blipFill>
              <a:blip r:embed="rId4" cstate="print"/>
              <a:tile tx="0" ty="0" sx="100000" sy="100000" flip="none" algn="tl"/>
            </a:blipFill>
            <a:ln w="12700">
              <a:solidFill>
                <a:srgbClr val="000000"/>
              </a:solidFill>
              <a:round/>
              <a:headEnd/>
              <a:tailEnd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202" name="Oval 36"/>
            <p:cNvSpPr>
              <a:spLocks noChangeArrowheads="1"/>
            </p:cNvSpPr>
            <p:nvPr/>
          </p:nvSpPr>
          <p:spPr bwMode="auto">
            <a:xfrm>
              <a:off x="5252691" y="5218649"/>
              <a:ext cx="344428" cy="284118"/>
            </a:xfrm>
            <a:prstGeom prst="ellipse">
              <a:avLst/>
            </a:prstGeom>
            <a:blipFill>
              <a:blip r:embed="rId4" cstate="print"/>
              <a:tile tx="0" ty="0" sx="100000" sy="100000" flip="none" algn="tl"/>
            </a:blipFill>
            <a:ln w="12700">
              <a:solidFill>
                <a:srgbClr val="000000"/>
              </a:solidFill>
              <a:round/>
              <a:headEnd/>
              <a:tailEnd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1CBE3D0-EC6E-438F-80A7-D3C5CC408153}"/>
                </a:ext>
              </a:extLst>
            </p:cNvPr>
            <p:cNvSpPr/>
            <p:nvPr/>
          </p:nvSpPr>
          <p:spPr bwMode="auto">
            <a:xfrm>
              <a:off x="5608320" y="4114716"/>
              <a:ext cx="2103120" cy="739224"/>
            </a:xfrm>
            <a:custGeom>
              <a:avLst/>
              <a:gdLst>
                <a:gd name="connsiteX0" fmla="*/ 0 w 2103120"/>
                <a:gd name="connsiteY0" fmla="*/ 701124 h 739224"/>
                <a:gd name="connsiteX1" fmla="*/ 998220 w 2103120"/>
                <a:gd name="connsiteY1" fmla="*/ 84 h 739224"/>
                <a:gd name="connsiteX2" fmla="*/ 2103120 w 2103120"/>
                <a:gd name="connsiteY2" fmla="*/ 739224 h 739224"/>
                <a:gd name="connsiteX3" fmla="*/ 2103120 w 2103120"/>
                <a:gd name="connsiteY3" fmla="*/ 739224 h 739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03120" h="739224">
                  <a:moveTo>
                    <a:pt x="0" y="701124"/>
                  </a:moveTo>
                  <a:cubicBezTo>
                    <a:pt x="323850" y="347429"/>
                    <a:pt x="647700" y="-6266"/>
                    <a:pt x="998220" y="84"/>
                  </a:cubicBezTo>
                  <a:cubicBezTo>
                    <a:pt x="1348740" y="6434"/>
                    <a:pt x="2103120" y="739224"/>
                    <a:pt x="2103120" y="739224"/>
                  </a:cubicBezTo>
                  <a:lnTo>
                    <a:pt x="2103120" y="739224"/>
                  </a:ln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A698B98-A5C3-4413-A49F-444D1EE7B4B1}"/>
                </a:ext>
              </a:extLst>
            </p:cNvPr>
            <p:cNvSpPr/>
            <p:nvPr/>
          </p:nvSpPr>
          <p:spPr bwMode="auto">
            <a:xfrm>
              <a:off x="5577840" y="5181600"/>
              <a:ext cx="2125980" cy="514565"/>
            </a:xfrm>
            <a:custGeom>
              <a:avLst/>
              <a:gdLst>
                <a:gd name="connsiteX0" fmla="*/ 0 w 2125980"/>
                <a:gd name="connsiteY0" fmla="*/ 304800 h 514565"/>
                <a:gd name="connsiteX1" fmla="*/ 1066800 w 2125980"/>
                <a:gd name="connsiteY1" fmla="*/ 502920 h 514565"/>
                <a:gd name="connsiteX2" fmla="*/ 2125980 w 2125980"/>
                <a:gd name="connsiteY2" fmla="*/ 0 h 51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25980" h="514565">
                  <a:moveTo>
                    <a:pt x="0" y="304800"/>
                  </a:moveTo>
                  <a:cubicBezTo>
                    <a:pt x="356235" y="429260"/>
                    <a:pt x="712470" y="553720"/>
                    <a:pt x="1066800" y="502920"/>
                  </a:cubicBezTo>
                  <a:cubicBezTo>
                    <a:pt x="1421130" y="452120"/>
                    <a:pt x="1773555" y="226060"/>
                    <a:pt x="2125980" y="0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1D628E9-7EF6-7B72-6BED-B4C1E9787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134502"/>
              </p:ext>
            </p:extLst>
          </p:nvPr>
        </p:nvGraphicFramePr>
        <p:xfrm>
          <a:off x="2400399" y="1557402"/>
          <a:ext cx="1323247" cy="1440180"/>
        </p:xfrm>
        <a:graphic>
          <a:graphicData uri="http://schemas.openxmlformats.org/drawingml/2006/table">
            <a:tbl>
              <a:tblPr/>
              <a:tblGrid>
                <a:gridCol w="1323247">
                  <a:extLst>
                    <a:ext uri="{9D8B030D-6E8A-4147-A177-3AD203B41FA5}">
                      <a16:colId xmlns:a16="http://schemas.microsoft.com/office/drawing/2014/main" val="2412199069"/>
                    </a:ext>
                  </a:extLst>
                </a:gridCol>
              </a:tblGrid>
              <a:tr h="3600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3366FF"/>
                          </a:solidFill>
                          <a:latin typeface="Times New Roman"/>
                          <a:ea typeface="Times New Roman"/>
                        </a:rPr>
                        <a:t>0 </a:t>
                      </a:r>
                      <a:endParaRPr lang="en-GB" sz="1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3779906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339966"/>
                          </a:solidFill>
                          <a:latin typeface="Times New Roman"/>
                          <a:ea typeface="Times New Roman"/>
                        </a:rPr>
                        <a:t>1 </a:t>
                      </a:r>
                      <a:endParaRPr lang="en-GB" sz="1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3997174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339966"/>
                          </a:solidFill>
                          <a:latin typeface="Times New Roman"/>
                          <a:ea typeface="Times New Roman"/>
                        </a:rPr>
                        <a:t>1 </a:t>
                      </a:r>
                      <a:endParaRPr lang="en-GB" sz="1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548765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3366FF"/>
                          </a:solidFill>
                          <a:latin typeface="Times New Roman"/>
                          <a:ea typeface="Times New Roman"/>
                        </a:rPr>
                        <a:t>0 </a:t>
                      </a:r>
                      <a:endParaRPr lang="en-GB" sz="1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64199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 autoUpdateAnimBg="0"/>
      <p:bldP spid="156" grpId="0"/>
    </p:bldLst>
  </p:timing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7</TotalTime>
  <Words>118</Words>
  <Application>Microsoft Office PowerPoint</Application>
  <PresentationFormat>On-screen Show (4:3)</PresentationFormat>
  <Paragraphs>50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Calibri</vt:lpstr>
      <vt:lpstr>Helvetica</vt:lpstr>
      <vt:lpstr>Tahoma</vt:lpstr>
      <vt:lpstr>Times New Roman</vt:lpstr>
      <vt:lpstr>Wingdings</vt:lpstr>
      <vt:lpstr>Blends</vt:lpstr>
      <vt:lpstr>Equation</vt:lpstr>
      <vt:lpstr>PowerPoint Presentation</vt:lpstr>
    </vt:vector>
  </TitlesOfParts>
  <Company>University of Portsmouth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APADS</dc:title>
  <dc:creator>I. Jordanov</dc:creator>
  <cp:lastModifiedBy>Ivan Jordanov</cp:lastModifiedBy>
  <cp:revision>945</cp:revision>
  <cp:lastPrinted>2000-09-29T16:37:59Z</cp:lastPrinted>
  <dcterms:created xsi:type="dcterms:W3CDTF">2000-06-14T13:53:40Z</dcterms:created>
  <dcterms:modified xsi:type="dcterms:W3CDTF">2026-02-17T19:44:06Z</dcterms:modified>
</cp:coreProperties>
</file>