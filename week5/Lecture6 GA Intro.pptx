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33"/>
  </p:notesMasterIdLst>
  <p:handoutMasterIdLst>
    <p:handoutMasterId r:id="rId34"/>
  </p:handoutMasterIdLst>
  <p:sldIdLst>
    <p:sldId id="414" r:id="rId2"/>
    <p:sldId id="510" r:id="rId3"/>
    <p:sldId id="486" r:id="rId4"/>
    <p:sldId id="501" r:id="rId5"/>
    <p:sldId id="532" r:id="rId6"/>
    <p:sldId id="438" r:id="rId7"/>
    <p:sldId id="531" r:id="rId8"/>
    <p:sldId id="536" r:id="rId9"/>
    <p:sldId id="448" r:id="rId10"/>
    <p:sldId id="513" r:id="rId11"/>
    <p:sldId id="514" r:id="rId12"/>
    <p:sldId id="454" r:id="rId13"/>
    <p:sldId id="530" r:id="rId14"/>
    <p:sldId id="534" r:id="rId15"/>
    <p:sldId id="487" r:id="rId16"/>
    <p:sldId id="505" r:id="rId17"/>
    <p:sldId id="488" r:id="rId18"/>
    <p:sldId id="469" r:id="rId19"/>
    <p:sldId id="489" r:id="rId20"/>
    <p:sldId id="511" r:id="rId21"/>
    <p:sldId id="512" r:id="rId22"/>
    <p:sldId id="473" r:id="rId23"/>
    <p:sldId id="480" r:id="rId24"/>
    <p:sldId id="502" r:id="rId25"/>
    <p:sldId id="535" r:id="rId26"/>
    <p:sldId id="503" r:id="rId27"/>
    <p:sldId id="504" r:id="rId28"/>
    <p:sldId id="506" r:id="rId29"/>
    <p:sldId id="515" r:id="rId30"/>
    <p:sldId id="516" r:id="rId31"/>
    <p:sldId id="517" r:id="rId32"/>
  </p:sldIdLst>
  <p:sldSz cx="9144000" cy="6858000" type="screen4x3"/>
  <p:notesSz cx="6794500" cy="9906000"/>
  <p:defaultTextStyle>
    <a:defPPr>
      <a:defRPr lang="en-GB"/>
    </a:defPPr>
    <a:lvl1pPr algn="l" rtl="0" eaLnBrk="0" fontAlgn="base" hangingPunct="0">
      <a:spcBef>
        <a:spcPct val="0"/>
      </a:spcBef>
      <a:spcAft>
        <a:spcPct val="0"/>
      </a:spcAft>
      <a:defRPr sz="2400" kern="1200">
        <a:solidFill>
          <a:schemeClr val="tx1"/>
        </a:solidFill>
        <a:latin typeface="Tahoma" pitchFamily="34" charset="0"/>
        <a:ea typeface="+mn-ea"/>
        <a:cs typeface="+mn-cs"/>
      </a:defRPr>
    </a:lvl1pPr>
    <a:lvl2pPr marL="457200" algn="l" rtl="0" eaLnBrk="0" fontAlgn="base" hangingPunct="0">
      <a:spcBef>
        <a:spcPct val="0"/>
      </a:spcBef>
      <a:spcAft>
        <a:spcPct val="0"/>
      </a:spcAft>
      <a:defRPr sz="2400" kern="1200">
        <a:solidFill>
          <a:schemeClr val="tx1"/>
        </a:solidFill>
        <a:latin typeface="Tahoma" pitchFamily="34" charset="0"/>
        <a:ea typeface="+mn-ea"/>
        <a:cs typeface="+mn-cs"/>
      </a:defRPr>
    </a:lvl2pPr>
    <a:lvl3pPr marL="914400" algn="l" rtl="0" eaLnBrk="0" fontAlgn="base" hangingPunct="0">
      <a:spcBef>
        <a:spcPct val="0"/>
      </a:spcBef>
      <a:spcAft>
        <a:spcPct val="0"/>
      </a:spcAft>
      <a:defRPr sz="2400"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Tahoma" pitchFamily="34" charset="0"/>
        <a:ea typeface="+mn-ea"/>
        <a:cs typeface="+mn-cs"/>
      </a:defRPr>
    </a:lvl5pPr>
    <a:lvl6pPr marL="2286000" algn="l" defTabSz="914400" rtl="0" eaLnBrk="1" latinLnBrk="0" hangingPunct="1">
      <a:defRPr sz="2400" kern="1200">
        <a:solidFill>
          <a:schemeClr val="tx1"/>
        </a:solidFill>
        <a:latin typeface="Tahoma" pitchFamily="34" charset="0"/>
        <a:ea typeface="+mn-ea"/>
        <a:cs typeface="+mn-cs"/>
      </a:defRPr>
    </a:lvl6pPr>
    <a:lvl7pPr marL="2743200" algn="l" defTabSz="914400" rtl="0" eaLnBrk="1" latinLnBrk="0" hangingPunct="1">
      <a:defRPr sz="2400" kern="1200">
        <a:solidFill>
          <a:schemeClr val="tx1"/>
        </a:solidFill>
        <a:latin typeface="Tahoma" pitchFamily="34" charset="0"/>
        <a:ea typeface="+mn-ea"/>
        <a:cs typeface="+mn-cs"/>
      </a:defRPr>
    </a:lvl7pPr>
    <a:lvl8pPr marL="3200400" algn="l" defTabSz="914400" rtl="0" eaLnBrk="1" latinLnBrk="0" hangingPunct="1">
      <a:defRPr sz="2400" kern="1200">
        <a:solidFill>
          <a:schemeClr val="tx1"/>
        </a:solidFill>
        <a:latin typeface="Tahoma" pitchFamily="34" charset="0"/>
        <a:ea typeface="+mn-ea"/>
        <a:cs typeface="+mn-cs"/>
      </a:defRPr>
    </a:lvl8pPr>
    <a:lvl9pPr marL="3657600" algn="l" defTabSz="914400" rtl="0" eaLnBrk="1" latinLnBrk="0" hangingPunct="1">
      <a:defRPr sz="24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1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00FF"/>
    <a:srgbClr val="993300"/>
    <a:srgbClr val="0051F2"/>
    <a:srgbClr val="003FBC"/>
    <a:srgbClr val="0037A4"/>
    <a:srgbClr val="996633"/>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67" autoAdjust="0"/>
    <p:restoredTop sz="94640" autoAdjust="0"/>
  </p:normalViewPr>
  <p:slideViewPr>
    <p:cSldViewPr>
      <p:cViewPr varScale="1">
        <p:scale>
          <a:sx n="75" d="100"/>
          <a:sy n="75" d="100"/>
        </p:scale>
        <p:origin x="773" y="38"/>
      </p:cViewPr>
      <p:guideLst>
        <p:guide orient="horz" pos="2160"/>
        <p:guide pos="1824"/>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Lst>
  </p:outlineViewPr>
  <p:notesTextViewPr>
    <p:cViewPr>
      <p:scale>
        <a:sx n="100" d="100"/>
        <a:sy n="100" d="100"/>
      </p:scale>
      <p:origin x="0" y="0"/>
    </p:cViewPr>
  </p:notesTextViewPr>
  <p:sorterViewPr>
    <p:cViewPr>
      <p:scale>
        <a:sx n="66" d="100"/>
        <a:sy n="66" d="100"/>
      </p:scale>
      <p:origin x="0" y="0"/>
    </p:cViewPr>
  </p:sorter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8" Type="http://schemas.openxmlformats.org/officeDocument/2006/relationships/slide" Target="slides/slide30.xml"/><Relationship Id="rId3" Type="http://schemas.openxmlformats.org/officeDocument/2006/relationships/slide" Target="slides/slide3.xml"/><Relationship Id="rId7" Type="http://schemas.openxmlformats.org/officeDocument/2006/relationships/slide" Target="slides/slide29.xml"/><Relationship Id="rId2" Type="http://schemas.openxmlformats.org/officeDocument/2006/relationships/slide" Target="slides/slide2.xml"/><Relationship Id="rId1" Type="http://schemas.openxmlformats.org/officeDocument/2006/relationships/slide" Target="slides/slide1.xml"/><Relationship Id="rId6" Type="http://schemas.openxmlformats.org/officeDocument/2006/relationships/slide" Target="slides/slide8.xml"/><Relationship Id="rId5" Type="http://schemas.openxmlformats.org/officeDocument/2006/relationships/slide" Target="slides/slide7.xml"/><Relationship Id="rId4"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17825" cy="531813"/>
          </a:xfrm>
          <a:prstGeom prst="rect">
            <a:avLst/>
          </a:prstGeom>
          <a:noFill/>
          <a:ln w="9525">
            <a:noFill/>
            <a:miter lim="800000"/>
            <a:headEnd/>
            <a:tailEnd/>
          </a:ln>
          <a:effectLst/>
        </p:spPr>
        <p:txBody>
          <a:bodyPr vert="horz" wrap="square" lIns="91021" tIns="45511" rIns="91021" bIns="45511" numCol="1" anchor="t" anchorCtr="0" compatLnSpc="1">
            <a:prstTxWarp prst="textNoShape">
              <a:avLst/>
            </a:prstTxWarp>
          </a:bodyPr>
          <a:lstStyle>
            <a:lvl1pPr defTabSz="909479" eaLnBrk="0" hangingPunct="0">
              <a:defRPr sz="1200">
                <a:latin typeface="Times New Roman" pitchFamily="18" charset="0"/>
              </a:defRPr>
            </a:lvl1pPr>
          </a:lstStyle>
          <a:p>
            <a:pPr>
              <a:defRPr/>
            </a:pPr>
            <a:endParaRPr lang="en-GB"/>
          </a:p>
        </p:txBody>
      </p:sp>
      <p:sp>
        <p:nvSpPr>
          <p:cNvPr id="48131" name="Rectangle 3"/>
          <p:cNvSpPr>
            <a:spLocks noGrp="1" noChangeArrowheads="1"/>
          </p:cNvSpPr>
          <p:nvPr>
            <p:ph type="dt" sz="quarter" idx="1"/>
          </p:nvPr>
        </p:nvSpPr>
        <p:spPr bwMode="auto">
          <a:xfrm>
            <a:off x="3838575" y="0"/>
            <a:ext cx="2917825" cy="531813"/>
          </a:xfrm>
          <a:prstGeom prst="rect">
            <a:avLst/>
          </a:prstGeom>
          <a:noFill/>
          <a:ln w="9525">
            <a:noFill/>
            <a:miter lim="800000"/>
            <a:headEnd/>
            <a:tailEnd/>
          </a:ln>
          <a:effectLst/>
        </p:spPr>
        <p:txBody>
          <a:bodyPr vert="horz" wrap="square" lIns="91021" tIns="45511" rIns="91021" bIns="45511" numCol="1" anchor="t" anchorCtr="0" compatLnSpc="1">
            <a:prstTxWarp prst="textNoShape">
              <a:avLst/>
            </a:prstTxWarp>
          </a:bodyPr>
          <a:lstStyle>
            <a:lvl1pPr algn="r" defTabSz="909479" eaLnBrk="0" hangingPunct="0">
              <a:defRPr sz="1200">
                <a:latin typeface="Times New Roman" pitchFamily="18" charset="0"/>
              </a:defRPr>
            </a:lvl1pPr>
          </a:lstStyle>
          <a:p>
            <a:pPr>
              <a:defRPr/>
            </a:pPr>
            <a:endParaRPr lang="en-GB"/>
          </a:p>
        </p:txBody>
      </p:sp>
      <p:sp>
        <p:nvSpPr>
          <p:cNvPr id="48132" name="Rectangle 4"/>
          <p:cNvSpPr>
            <a:spLocks noGrp="1" noChangeArrowheads="1"/>
          </p:cNvSpPr>
          <p:nvPr>
            <p:ph type="ftr" sz="quarter" idx="2"/>
          </p:nvPr>
        </p:nvSpPr>
        <p:spPr bwMode="auto">
          <a:xfrm>
            <a:off x="0" y="9374188"/>
            <a:ext cx="2917825" cy="531812"/>
          </a:xfrm>
          <a:prstGeom prst="rect">
            <a:avLst/>
          </a:prstGeom>
          <a:noFill/>
          <a:ln w="9525">
            <a:noFill/>
            <a:miter lim="800000"/>
            <a:headEnd/>
            <a:tailEnd/>
          </a:ln>
          <a:effectLst/>
        </p:spPr>
        <p:txBody>
          <a:bodyPr vert="horz" wrap="square" lIns="91021" tIns="45511" rIns="91021" bIns="45511" numCol="1" anchor="b" anchorCtr="0" compatLnSpc="1">
            <a:prstTxWarp prst="textNoShape">
              <a:avLst/>
            </a:prstTxWarp>
          </a:bodyPr>
          <a:lstStyle>
            <a:lvl1pPr defTabSz="909479" eaLnBrk="0" hangingPunct="0">
              <a:defRPr sz="1200">
                <a:latin typeface="Times New Roman" pitchFamily="18" charset="0"/>
              </a:defRPr>
            </a:lvl1pPr>
          </a:lstStyle>
          <a:p>
            <a:pPr>
              <a:defRPr/>
            </a:pPr>
            <a:endParaRPr lang="en-GB"/>
          </a:p>
        </p:txBody>
      </p:sp>
      <p:sp>
        <p:nvSpPr>
          <p:cNvPr id="48133" name="Rectangle 5"/>
          <p:cNvSpPr>
            <a:spLocks noGrp="1" noChangeArrowheads="1"/>
          </p:cNvSpPr>
          <p:nvPr>
            <p:ph type="sldNum" sz="quarter" idx="3"/>
          </p:nvPr>
        </p:nvSpPr>
        <p:spPr bwMode="auto">
          <a:xfrm>
            <a:off x="3838575" y="9374188"/>
            <a:ext cx="2917825" cy="531812"/>
          </a:xfrm>
          <a:prstGeom prst="rect">
            <a:avLst/>
          </a:prstGeom>
          <a:noFill/>
          <a:ln w="9525">
            <a:noFill/>
            <a:miter lim="800000"/>
            <a:headEnd/>
            <a:tailEnd/>
          </a:ln>
          <a:effectLst/>
        </p:spPr>
        <p:txBody>
          <a:bodyPr vert="horz" wrap="square" lIns="91021" tIns="45511" rIns="91021" bIns="45511" numCol="1" anchor="b" anchorCtr="0" compatLnSpc="1">
            <a:prstTxWarp prst="textNoShape">
              <a:avLst/>
            </a:prstTxWarp>
          </a:bodyPr>
          <a:lstStyle>
            <a:lvl1pPr algn="r" defTabSz="908050">
              <a:defRPr sz="1200">
                <a:latin typeface="Times New Roman" pitchFamily="18" charset="0"/>
              </a:defRPr>
            </a:lvl1pPr>
          </a:lstStyle>
          <a:p>
            <a:pPr>
              <a:defRPr/>
            </a:pPr>
            <a:fld id="{1884EA31-AEA0-4C50-9DBC-447CD6969B19}" type="slidenum">
              <a:rPr lang="en-GB" altLang="en-US"/>
              <a:pPr>
                <a:defRPr/>
              </a:pPr>
              <a:t>‹#›</a:t>
            </a:fld>
            <a:endParaRPr lang="en-GB" altLang="en-US"/>
          </a:p>
        </p:txBody>
      </p:sp>
    </p:spTree>
    <p:extLst>
      <p:ext uri="{BB962C8B-B14F-4D97-AF65-F5344CB8AC3E}">
        <p14:creationId xmlns:p14="http://schemas.microsoft.com/office/powerpoint/2010/main" val="28160754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43225" cy="496888"/>
          </a:xfrm>
          <a:prstGeom prst="rect">
            <a:avLst/>
          </a:prstGeom>
          <a:noFill/>
          <a:ln w="9525">
            <a:noFill/>
            <a:miter lim="800000"/>
            <a:headEnd/>
            <a:tailEnd/>
          </a:ln>
          <a:effectLst/>
        </p:spPr>
        <p:txBody>
          <a:bodyPr vert="horz" wrap="square" lIns="91021" tIns="45511" rIns="91021" bIns="45511" numCol="1" anchor="t" anchorCtr="0" compatLnSpc="1">
            <a:prstTxWarp prst="textNoShape">
              <a:avLst/>
            </a:prstTxWarp>
          </a:bodyPr>
          <a:lstStyle>
            <a:lvl1pPr defTabSz="909479" eaLnBrk="0" hangingPunct="0">
              <a:defRPr sz="1200">
                <a:latin typeface="Times New Roman" pitchFamily="18" charset="0"/>
              </a:defRPr>
            </a:lvl1pPr>
          </a:lstStyle>
          <a:p>
            <a:pPr>
              <a:defRPr/>
            </a:pPr>
            <a:endParaRPr lang="en-GB"/>
          </a:p>
        </p:txBody>
      </p:sp>
      <p:sp>
        <p:nvSpPr>
          <p:cNvPr id="3075" name="Rectangle 3"/>
          <p:cNvSpPr>
            <a:spLocks noGrp="1" noChangeArrowheads="1"/>
          </p:cNvSpPr>
          <p:nvPr>
            <p:ph type="dt" idx="1"/>
          </p:nvPr>
        </p:nvSpPr>
        <p:spPr bwMode="auto">
          <a:xfrm>
            <a:off x="3851275" y="0"/>
            <a:ext cx="2943225" cy="496888"/>
          </a:xfrm>
          <a:prstGeom prst="rect">
            <a:avLst/>
          </a:prstGeom>
          <a:noFill/>
          <a:ln w="9525">
            <a:noFill/>
            <a:miter lim="800000"/>
            <a:headEnd/>
            <a:tailEnd/>
          </a:ln>
          <a:effectLst/>
        </p:spPr>
        <p:txBody>
          <a:bodyPr vert="horz" wrap="square" lIns="91021" tIns="45511" rIns="91021" bIns="45511" numCol="1" anchor="t" anchorCtr="0" compatLnSpc="1">
            <a:prstTxWarp prst="textNoShape">
              <a:avLst/>
            </a:prstTxWarp>
          </a:bodyPr>
          <a:lstStyle>
            <a:lvl1pPr algn="r" defTabSz="909479" eaLnBrk="0" hangingPunct="0">
              <a:defRPr sz="1200">
                <a:latin typeface="Times New Roman" pitchFamily="18" charset="0"/>
              </a:defRPr>
            </a:lvl1pPr>
          </a:lstStyle>
          <a:p>
            <a:pPr>
              <a:defRPr/>
            </a:pPr>
            <a:endParaRPr lang="en-GB"/>
          </a:p>
        </p:txBody>
      </p:sp>
      <p:sp>
        <p:nvSpPr>
          <p:cNvPr id="40964" name="Rectangle 4"/>
          <p:cNvSpPr>
            <a:spLocks noGrp="1" noRot="1" noChangeAspect="1" noChangeArrowheads="1" noTextEdit="1"/>
          </p:cNvSpPr>
          <p:nvPr>
            <p:ph type="sldImg" idx="2"/>
          </p:nvPr>
        </p:nvSpPr>
        <p:spPr bwMode="auto">
          <a:xfrm>
            <a:off x="923925" y="742950"/>
            <a:ext cx="4948238" cy="3713163"/>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04875" y="4705350"/>
            <a:ext cx="4984750" cy="4457700"/>
          </a:xfrm>
          <a:prstGeom prst="rect">
            <a:avLst/>
          </a:prstGeom>
          <a:noFill/>
          <a:ln w="9525">
            <a:noFill/>
            <a:miter lim="800000"/>
            <a:headEnd/>
            <a:tailEnd/>
          </a:ln>
          <a:effectLst/>
        </p:spPr>
        <p:txBody>
          <a:bodyPr vert="horz" wrap="square" lIns="91021" tIns="45511" rIns="91021" bIns="45511"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078" name="Rectangle 6"/>
          <p:cNvSpPr>
            <a:spLocks noGrp="1" noChangeArrowheads="1"/>
          </p:cNvSpPr>
          <p:nvPr>
            <p:ph type="ftr" sz="quarter" idx="4"/>
          </p:nvPr>
        </p:nvSpPr>
        <p:spPr bwMode="auto">
          <a:xfrm>
            <a:off x="0" y="9409113"/>
            <a:ext cx="2943225" cy="496887"/>
          </a:xfrm>
          <a:prstGeom prst="rect">
            <a:avLst/>
          </a:prstGeom>
          <a:noFill/>
          <a:ln w="9525">
            <a:noFill/>
            <a:miter lim="800000"/>
            <a:headEnd/>
            <a:tailEnd/>
          </a:ln>
          <a:effectLst/>
        </p:spPr>
        <p:txBody>
          <a:bodyPr vert="horz" wrap="square" lIns="91021" tIns="45511" rIns="91021" bIns="45511" numCol="1" anchor="b" anchorCtr="0" compatLnSpc="1">
            <a:prstTxWarp prst="textNoShape">
              <a:avLst/>
            </a:prstTxWarp>
          </a:bodyPr>
          <a:lstStyle>
            <a:lvl1pPr defTabSz="909479" eaLnBrk="0" hangingPunct="0">
              <a:defRPr sz="1200">
                <a:latin typeface="Times New Roman" pitchFamily="18" charset="0"/>
              </a:defRPr>
            </a:lvl1pPr>
          </a:lstStyle>
          <a:p>
            <a:pPr>
              <a:defRPr/>
            </a:pPr>
            <a:endParaRPr lang="en-GB"/>
          </a:p>
        </p:txBody>
      </p:sp>
      <p:sp>
        <p:nvSpPr>
          <p:cNvPr id="3079" name="Rectangle 7"/>
          <p:cNvSpPr>
            <a:spLocks noGrp="1" noChangeArrowheads="1"/>
          </p:cNvSpPr>
          <p:nvPr>
            <p:ph type="sldNum" sz="quarter" idx="5"/>
          </p:nvPr>
        </p:nvSpPr>
        <p:spPr bwMode="auto">
          <a:xfrm>
            <a:off x="3851275" y="9409113"/>
            <a:ext cx="2943225" cy="496887"/>
          </a:xfrm>
          <a:prstGeom prst="rect">
            <a:avLst/>
          </a:prstGeom>
          <a:noFill/>
          <a:ln w="9525">
            <a:noFill/>
            <a:miter lim="800000"/>
            <a:headEnd/>
            <a:tailEnd/>
          </a:ln>
          <a:effectLst/>
        </p:spPr>
        <p:txBody>
          <a:bodyPr vert="horz" wrap="square" lIns="91021" tIns="45511" rIns="91021" bIns="45511" numCol="1" anchor="b" anchorCtr="0" compatLnSpc="1">
            <a:prstTxWarp prst="textNoShape">
              <a:avLst/>
            </a:prstTxWarp>
          </a:bodyPr>
          <a:lstStyle>
            <a:lvl1pPr algn="r" defTabSz="908050">
              <a:defRPr sz="1200">
                <a:latin typeface="Times New Roman" pitchFamily="18" charset="0"/>
              </a:defRPr>
            </a:lvl1pPr>
          </a:lstStyle>
          <a:p>
            <a:pPr>
              <a:defRPr/>
            </a:pPr>
            <a:fld id="{75CBDFC4-C6F9-4D31-A317-85D371D07524}" type="slidenum">
              <a:rPr lang="en-GB" altLang="en-US"/>
              <a:pPr>
                <a:defRPr/>
              </a:pPr>
              <a:t>‹#›</a:t>
            </a:fld>
            <a:endParaRPr lang="en-GB" altLang="en-US"/>
          </a:p>
        </p:txBody>
      </p:sp>
    </p:spTree>
    <p:extLst>
      <p:ext uri="{BB962C8B-B14F-4D97-AF65-F5344CB8AC3E}">
        <p14:creationId xmlns:p14="http://schemas.microsoft.com/office/powerpoint/2010/main" val="14359267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E23626C8-F642-4D3B-851D-F009BB3BDE56}" type="slidenum">
              <a:rPr lang="en-GB" altLang="en-US" smtClean="0"/>
              <a:pPr/>
              <a:t>10</a:t>
            </a:fld>
            <a:endParaRPr lang="en-GB" altLang="en-US"/>
          </a:p>
        </p:txBody>
      </p:sp>
      <p:sp>
        <p:nvSpPr>
          <p:cNvPr id="41987" name="Rectangle 2"/>
          <p:cNvSpPr>
            <a:spLocks noGrp="1" noRot="1" noChangeAspect="1" noChangeArrowheads="1" noTextEdit="1"/>
          </p:cNvSpPr>
          <p:nvPr>
            <p:ph type="sldImg"/>
          </p:nvPr>
        </p:nvSpPr>
        <p:spPr>
          <a:solidFill>
            <a:srgbClr val="FFFFFF"/>
          </a:solidFill>
          <a:ln/>
        </p:spPr>
      </p:sp>
      <p:sp>
        <p:nvSpPr>
          <p:cNvPr id="41988"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p>
        </p:txBody>
      </p:sp>
    </p:spTree>
    <p:extLst>
      <p:ext uri="{BB962C8B-B14F-4D97-AF65-F5344CB8AC3E}">
        <p14:creationId xmlns:p14="http://schemas.microsoft.com/office/powerpoint/2010/main" val="1580158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060A5842-DEEA-442F-8FFF-CDE3D612EBB7}" type="slidenum">
              <a:rPr lang="en-GB" altLang="en-US" smtClean="0"/>
              <a:pPr/>
              <a:t>11</a:t>
            </a:fld>
            <a:endParaRPr lang="en-GB" altLang="en-US"/>
          </a:p>
        </p:txBody>
      </p:sp>
      <p:sp>
        <p:nvSpPr>
          <p:cNvPr id="43011" name="Rectangle 2"/>
          <p:cNvSpPr>
            <a:spLocks noGrp="1" noRot="1" noChangeAspect="1" noChangeArrowheads="1" noTextEdit="1"/>
          </p:cNvSpPr>
          <p:nvPr>
            <p:ph type="sldImg"/>
          </p:nvPr>
        </p:nvSpPr>
        <p:spPr>
          <a:solidFill>
            <a:srgbClr val="FFFFFF"/>
          </a:solidFill>
          <a:ln/>
        </p:spPr>
      </p:sp>
      <p:sp>
        <p:nvSpPr>
          <p:cNvPr id="4301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p>
        </p:txBody>
      </p:sp>
    </p:spTree>
    <p:extLst>
      <p:ext uri="{BB962C8B-B14F-4D97-AF65-F5344CB8AC3E}">
        <p14:creationId xmlns:p14="http://schemas.microsoft.com/office/powerpoint/2010/main" val="34169092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p:cNvSpPr>
            <a:spLocks noGrp="1" noChangeArrowheads="1"/>
          </p:cNvSpPr>
          <p:nvPr>
            <p:ph type="dt" sz="half" idx="10"/>
          </p:nvPr>
        </p:nvSpPr>
        <p:spPr>
          <a:ln/>
        </p:spPr>
        <p:txBody>
          <a:bodyPr/>
          <a:lstStyle>
            <a:lvl1pPr>
              <a:defRPr/>
            </a:lvl1pPr>
          </a:lstStyle>
          <a:p>
            <a:pPr>
              <a:defRPr/>
            </a:pPr>
            <a:fld id="{0B5B8AAC-7616-44CD-A621-CBF184E36B41}" type="datetime1">
              <a:rPr lang="en-GB"/>
              <a:pPr>
                <a:defRPr/>
              </a:pPr>
              <a:t>17/02/2026</a:t>
            </a:fld>
            <a:endParaRPr lang="en-GB"/>
          </a:p>
        </p:txBody>
      </p:sp>
      <p:sp>
        <p:nvSpPr>
          <p:cNvPr id="5" name="Rectangle 12"/>
          <p:cNvSpPr>
            <a:spLocks noGrp="1" noChangeArrowheads="1"/>
          </p:cNvSpPr>
          <p:nvPr>
            <p:ph type="ftr" sz="quarter" idx="11"/>
          </p:nvPr>
        </p:nvSpPr>
        <p:spPr>
          <a:ln/>
        </p:spPr>
        <p:txBody>
          <a:bodyPr/>
          <a:lstStyle>
            <a:lvl1pPr>
              <a:defRPr/>
            </a:lvl1pPr>
          </a:lstStyle>
          <a:p>
            <a:pPr>
              <a:defRPr/>
            </a:pPr>
            <a:r>
              <a:rPr lang="en-GB"/>
              <a:t>Dr. I. Jordanov</a:t>
            </a:r>
          </a:p>
        </p:txBody>
      </p:sp>
      <p:sp>
        <p:nvSpPr>
          <p:cNvPr id="6" name="Rectangle 13"/>
          <p:cNvSpPr>
            <a:spLocks noGrp="1" noChangeArrowheads="1"/>
          </p:cNvSpPr>
          <p:nvPr>
            <p:ph type="sldNum" sz="quarter" idx="12"/>
          </p:nvPr>
        </p:nvSpPr>
        <p:spPr>
          <a:ln/>
        </p:spPr>
        <p:txBody>
          <a:bodyPr/>
          <a:lstStyle>
            <a:lvl1pPr>
              <a:defRPr/>
            </a:lvl1pPr>
          </a:lstStyle>
          <a:p>
            <a:pPr>
              <a:defRPr/>
            </a:pPr>
            <a:fld id="{68B95B90-84E8-46E8-960D-25A309790829}" type="slidenum">
              <a:rPr lang="en-GB" altLang="en-US"/>
              <a:pPr>
                <a:defRPr/>
              </a:pPr>
              <a:t>‹#›</a:t>
            </a:fld>
            <a:endParaRPr lang="en-GB"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p:cNvSpPr>
            <a:spLocks noGrp="1" noChangeArrowheads="1"/>
          </p:cNvSpPr>
          <p:nvPr>
            <p:ph type="dt" sz="half" idx="10"/>
          </p:nvPr>
        </p:nvSpPr>
        <p:spPr>
          <a:ln/>
        </p:spPr>
        <p:txBody>
          <a:bodyPr/>
          <a:lstStyle>
            <a:lvl1pPr>
              <a:defRPr/>
            </a:lvl1pPr>
          </a:lstStyle>
          <a:p>
            <a:pPr>
              <a:defRPr/>
            </a:pPr>
            <a:fld id="{696D2E16-7652-48D6-B116-AB562FAA403F}" type="datetime1">
              <a:rPr lang="en-GB"/>
              <a:pPr>
                <a:defRPr/>
              </a:pPr>
              <a:t>17/02/2026</a:t>
            </a:fld>
            <a:endParaRPr lang="en-GB"/>
          </a:p>
        </p:txBody>
      </p:sp>
      <p:sp>
        <p:nvSpPr>
          <p:cNvPr id="5" name="Rectangle 12"/>
          <p:cNvSpPr>
            <a:spLocks noGrp="1" noChangeArrowheads="1"/>
          </p:cNvSpPr>
          <p:nvPr>
            <p:ph type="ftr" sz="quarter" idx="11"/>
          </p:nvPr>
        </p:nvSpPr>
        <p:spPr>
          <a:ln/>
        </p:spPr>
        <p:txBody>
          <a:bodyPr/>
          <a:lstStyle>
            <a:lvl1pPr>
              <a:defRPr/>
            </a:lvl1pPr>
          </a:lstStyle>
          <a:p>
            <a:pPr>
              <a:defRPr/>
            </a:pPr>
            <a:r>
              <a:rPr lang="en-GB"/>
              <a:t>Dr. I. Jordanov</a:t>
            </a:r>
          </a:p>
        </p:txBody>
      </p:sp>
      <p:sp>
        <p:nvSpPr>
          <p:cNvPr id="6" name="Rectangle 13"/>
          <p:cNvSpPr>
            <a:spLocks noGrp="1" noChangeArrowheads="1"/>
          </p:cNvSpPr>
          <p:nvPr>
            <p:ph type="sldNum" sz="quarter" idx="12"/>
          </p:nvPr>
        </p:nvSpPr>
        <p:spPr>
          <a:ln/>
        </p:spPr>
        <p:txBody>
          <a:bodyPr/>
          <a:lstStyle>
            <a:lvl1pPr>
              <a:defRPr/>
            </a:lvl1pPr>
          </a:lstStyle>
          <a:p>
            <a:pPr>
              <a:defRPr/>
            </a:pPr>
            <a:fld id="{DE1A8BB2-FCE0-40C3-9436-F32B45F4B3E5}" type="slidenum">
              <a:rPr lang="en-GB" altLang="en-US"/>
              <a:pPr>
                <a:defRPr/>
              </a:pPr>
              <a:t>‹#›</a:t>
            </a:fld>
            <a:endParaRPr lang="en-GB"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p:cNvSpPr>
            <a:spLocks noGrp="1" noChangeArrowheads="1"/>
          </p:cNvSpPr>
          <p:nvPr>
            <p:ph type="dt" sz="half" idx="10"/>
          </p:nvPr>
        </p:nvSpPr>
        <p:spPr>
          <a:ln/>
        </p:spPr>
        <p:txBody>
          <a:bodyPr/>
          <a:lstStyle>
            <a:lvl1pPr>
              <a:defRPr/>
            </a:lvl1pPr>
          </a:lstStyle>
          <a:p>
            <a:pPr>
              <a:defRPr/>
            </a:pPr>
            <a:fld id="{57967BD6-ABAA-42EE-9666-37270184B3DB}" type="datetime1">
              <a:rPr lang="en-GB"/>
              <a:pPr>
                <a:defRPr/>
              </a:pPr>
              <a:t>17/02/2026</a:t>
            </a:fld>
            <a:endParaRPr lang="en-GB"/>
          </a:p>
        </p:txBody>
      </p:sp>
      <p:sp>
        <p:nvSpPr>
          <p:cNvPr id="6" name="Rectangle 12"/>
          <p:cNvSpPr>
            <a:spLocks noGrp="1" noChangeArrowheads="1"/>
          </p:cNvSpPr>
          <p:nvPr>
            <p:ph type="ftr" sz="quarter" idx="11"/>
          </p:nvPr>
        </p:nvSpPr>
        <p:spPr>
          <a:ln/>
        </p:spPr>
        <p:txBody>
          <a:bodyPr/>
          <a:lstStyle>
            <a:lvl1pPr>
              <a:defRPr/>
            </a:lvl1pPr>
          </a:lstStyle>
          <a:p>
            <a:pPr>
              <a:defRPr/>
            </a:pPr>
            <a:r>
              <a:rPr lang="en-GB"/>
              <a:t>Dr. I. Jordanov</a:t>
            </a:r>
          </a:p>
        </p:txBody>
      </p:sp>
      <p:sp>
        <p:nvSpPr>
          <p:cNvPr id="7" name="Rectangle 13"/>
          <p:cNvSpPr>
            <a:spLocks noGrp="1" noChangeArrowheads="1"/>
          </p:cNvSpPr>
          <p:nvPr>
            <p:ph type="sldNum" sz="quarter" idx="12"/>
          </p:nvPr>
        </p:nvSpPr>
        <p:spPr>
          <a:ln/>
        </p:spPr>
        <p:txBody>
          <a:bodyPr/>
          <a:lstStyle>
            <a:lvl1pPr>
              <a:defRPr/>
            </a:lvl1pPr>
          </a:lstStyle>
          <a:p>
            <a:pPr>
              <a:defRPr/>
            </a:pPr>
            <a:fld id="{F4D89CF0-A87D-479F-B2F5-3AA0073C2A06}" type="slidenum">
              <a:rPr lang="en-GB" altLang="en-US"/>
              <a:pPr>
                <a:defRPr/>
              </a:pPr>
              <a:t>‹#›</a:t>
            </a:fld>
            <a:endParaRPr lang="en-GB"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1"/>
          <p:cNvSpPr>
            <a:spLocks noGrp="1" noChangeArrowheads="1"/>
          </p:cNvSpPr>
          <p:nvPr>
            <p:ph type="dt" sz="half" idx="10"/>
          </p:nvPr>
        </p:nvSpPr>
        <p:spPr>
          <a:ln/>
        </p:spPr>
        <p:txBody>
          <a:bodyPr/>
          <a:lstStyle>
            <a:lvl1pPr>
              <a:defRPr/>
            </a:lvl1pPr>
          </a:lstStyle>
          <a:p>
            <a:pPr>
              <a:defRPr/>
            </a:pPr>
            <a:fld id="{EB70D05F-A6EF-46B8-BB68-626FFEB4C228}" type="datetime1">
              <a:rPr lang="en-GB"/>
              <a:pPr>
                <a:defRPr/>
              </a:pPr>
              <a:t>17/02/2026</a:t>
            </a:fld>
            <a:endParaRPr lang="en-GB"/>
          </a:p>
        </p:txBody>
      </p:sp>
      <p:sp>
        <p:nvSpPr>
          <p:cNvPr id="8" name="Rectangle 12"/>
          <p:cNvSpPr>
            <a:spLocks noGrp="1" noChangeArrowheads="1"/>
          </p:cNvSpPr>
          <p:nvPr>
            <p:ph type="ftr" sz="quarter" idx="11"/>
          </p:nvPr>
        </p:nvSpPr>
        <p:spPr>
          <a:ln/>
        </p:spPr>
        <p:txBody>
          <a:bodyPr/>
          <a:lstStyle>
            <a:lvl1pPr>
              <a:defRPr/>
            </a:lvl1pPr>
          </a:lstStyle>
          <a:p>
            <a:pPr>
              <a:defRPr/>
            </a:pPr>
            <a:r>
              <a:rPr lang="en-GB"/>
              <a:t>Dr. I. Jordanov</a:t>
            </a:r>
          </a:p>
        </p:txBody>
      </p:sp>
      <p:sp>
        <p:nvSpPr>
          <p:cNvPr id="9" name="Rectangle 13"/>
          <p:cNvSpPr>
            <a:spLocks noGrp="1" noChangeArrowheads="1"/>
          </p:cNvSpPr>
          <p:nvPr>
            <p:ph type="sldNum" sz="quarter" idx="12"/>
          </p:nvPr>
        </p:nvSpPr>
        <p:spPr>
          <a:ln/>
        </p:spPr>
        <p:txBody>
          <a:bodyPr/>
          <a:lstStyle>
            <a:lvl1pPr>
              <a:defRPr/>
            </a:lvl1pPr>
          </a:lstStyle>
          <a:p>
            <a:pPr>
              <a:defRPr/>
            </a:pPr>
            <a:fld id="{0C1E747E-2772-41B2-B434-D59F4739CA0A}" type="slidenum">
              <a:rPr lang="en-GB" altLang="en-US"/>
              <a:pPr>
                <a:defRPr/>
              </a:pPr>
              <a:t>‹#›</a:t>
            </a:fld>
            <a:endParaRPr lang="en-GB"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1"/>
          <p:cNvSpPr>
            <a:spLocks noGrp="1" noChangeArrowheads="1"/>
          </p:cNvSpPr>
          <p:nvPr>
            <p:ph type="dt" sz="half" idx="10"/>
          </p:nvPr>
        </p:nvSpPr>
        <p:spPr>
          <a:ln/>
        </p:spPr>
        <p:txBody>
          <a:bodyPr/>
          <a:lstStyle>
            <a:lvl1pPr>
              <a:defRPr/>
            </a:lvl1pPr>
          </a:lstStyle>
          <a:p>
            <a:pPr>
              <a:defRPr/>
            </a:pPr>
            <a:fld id="{4EA6B993-293F-4970-8B44-88341F6AB6D7}" type="datetime1">
              <a:rPr lang="en-GB"/>
              <a:pPr>
                <a:defRPr/>
              </a:pPr>
              <a:t>17/02/2026</a:t>
            </a:fld>
            <a:endParaRPr lang="en-GB"/>
          </a:p>
        </p:txBody>
      </p:sp>
      <p:sp>
        <p:nvSpPr>
          <p:cNvPr id="4" name="Rectangle 12"/>
          <p:cNvSpPr>
            <a:spLocks noGrp="1" noChangeArrowheads="1"/>
          </p:cNvSpPr>
          <p:nvPr>
            <p:ph type="ftr" sz="quarter" idx="11"/>
          </p:nvPr>
        </p:nvSpPr>
        <p:spPr>
          <a:ln/>
        </p:spPr>
        <p:txBody>
          <a:bodyPr/>
          <a:lstStyle>
            <a:lvl1pPr>
              <a:defRPr/>
            </a:lvl1pPr>
          </a:lstStyle>
          <a:p>
            <a:pPr>
              <a:defRPr/>
            </a:pPr>
            <a:r>
              <a:rPr lang="en-GB"/>
              <a:t>Dr. I. Jordanov</a:t>
            </a:r>
          </a:p>
        </p:txBody>
      </p:sp>
      <p:sp>
        <p:nvSpPr>
          <p:cNvPr id="5" name="Rectangle 13"/>
          <p:cNvSpPr>
            <a:spLocks noGrp="1" noChangeArrowheads="1"/>
          </p:cNvSpPr>
          <p:nvPr>
            <p:ph type="sldNum" sz="quarter" idx="12"/>
          </p:nvPr>
        </p:nvSpPr>
        <p:spPr>
          <a:ln/>
        </p:spPr>
        <p:txBody>
          <a:bodyPr/>
          <a:lstStyle>
            <a:lvl1pPr>
              <a:defRPr/>
            </a:lvl1pPr>
          </a:lstStyle>
          <a:p>
            <a:pPr>
              <a:defRPr/>
            </a:pPr>
            <a:fld id="{3161F985-F3D8-4684-B302-67FD8B8DD4F9}" type="slidenum">
              <a:rPr lang="en-GB" altLang="en-US"/>
              <a:pPr>
                <a:defRPr/>
              </a:pPr>
              <a:t>‹#›</a:t>
            </a:fld>
            <a:endParaRPr lang="en-GB"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fld id="{71196A8E-32A1-42CA-9A12-69DB1473D2FC}" type="datetime1">
              <a:rPr lang="en-GB"/>
              <a:pPr>
                <a:defRPr/>
              </a:pPr>
              <a:t>17/02/2026</a:t>
            </a:fld>
            <a:endParaRPr lang="en-GB"/>
          </a:p>
        </p:txBody>
      </p:sp>
      <p:sp>
        <p:nvSpPr>
          <p:cNvPr id="3" name="Rectangle 12"/>
          <p:cNvSpPr>
            <a:spLocks noGrp="1" noChangeArrowheads="1"/>
          </p:cNvSpPr>
          <p:nvPr>
            <p:ph type="ftr" sz="quarter" idx="11"/>
          </p:nvPr>
        </p:nvSpPr>
        <p:spPr>
          <a:ln/>
        </p:spPr>
        <p:txBody>
          <a:bodyPr/>
          <a:lstStyle>
            <a:lvl1pPr>
              <a:defRPr/>
            </a:lvl1pPr>
          </a:lstStyle>
          <a:p>
            <a:pPr>
              <a:defRPr/>
            </a:pPr>
            <a:r>
              <a:rPr lang="en-GB"/>
              <a:t>Dr. I. Jordanov</a:t>
            </a:r>
          </a:p>
        </p:txBody>
      </p:sp>
      <p:sp>
        <p:nvSpPr>
          <p:cNvPr id="4" name="Rectangle 13"/>
          <p:cNvSpPr>
            <a:spLocks noGrp="1" noChangeArrowheads="1"/>
          </p:cNvSpPr>
          <p:nvPr>
            <p:ph type="sldNum" sz="quarter" idx="12"/>
          </p:nvPr>
        </p:nvSpPr>
        <p:spPr>
          <a:ln/>
        </p:spPr>
        <p:txBody>
          <a:bodyPr/>
          <a:lstStyle>
            <a:lvl1pPr>
              <a:defRPr/>
            </a:lvl1pPr>
          </a:lstStyle>
          <a:p>
            <a:pPr>
              <a:defRPr/>
            </a:pPr>
            <a:fld id="{FDEE7552-7F83-4154-A8B1-D5FAA1F1EE28}" type="slidenum">
              <a:rPr lang="en-GB" altLang="en-US"/>
              <a:pPr>
                <a:defRPr/>
              </a:pPr>
              <a:t>‹#›</a:t>
            </a:fld>
            <a:endParaRPr lang="en-GB"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fld id="{CF41A8A6-B608-4340-8E58-94B297CB5BC0}" type="datetime1">
              <a:rPr lang="en-GB"/>
              <a:pPr>
                <a:defRPr/>
              </a:pPr>
              <a:t>17/02/2026</a:t>
            </a:fld>
            <a:endParaRPr lang="en-GB"/>
          </a:p>
        </p:txBody>
      </p:sp>
      <p:sp>
        <p:nvSpPr>
          <p:cNvPr id="6" name="Rectangle 12"/>
          <p:cNvSpPr>
            <a:spLocks noGrp="1" noChangeArrowheads="1"/>
          </p:cNvSpPr>
          <p:nvPr>
            <p:ph type="ftr" sz="quarter" idx="11"/>
          </p:nvPr>
        </p:nvSpPr>
        <p:spPr>
          <a:ln/>
        </p:spPr>
        <p:txBody>
          <a:bodyPr/>
          <a:lstStyle>
            <a:lvl1pPr>
              <a:defRPr/>
            </a:lvl1pPr>
          </a:lstStyle>
          <a:p>
            <a:pPr>
              <a:defRPr/>
            </a:pPr>
            <a:r>
              <a:rPr lang="en-GB"/>
              <a:t>Dr. I. Jordanov</a:t>
            </a:r>
          </a:p>
        </p:txBody>
      </p:sp>
      <p:sp>
        <p:nvSpPr>
          <p:cNvPr id="7" name="Rectangle 13"/>
          <p:cNvSpPr>
            <a:spLocks noGrp="1" noChangeArrowheads="1"/>
          </p:cNvSpPr>
          <p:nvPr>
            <p:ph type="sldNum" sz="quarter" idx="12"/>
          </p:nvPr>
        </p:nvSpPr>
        <p:spPr>
          <a:ln/>
        </p:spPr>
        <p:txBody>
          <a:bodyPr/>
          <a:lstStyle>
            <a:lvl1pPr>
              <a:defRPr/>
            </a:lvl1pPr>
          </a:lstStyle>
          <a:p>
            <a:pPr>
              <a:defRPr/>
            </a:pPr>
            <a:fld id="{AA698EC2-AF01-4838-A26C-0410E44EC6D4}" type="slidenum">
              <a:rPr lang="en-GB" altLang="en-US"/>
              <a:pPr>
                <a:defRPr/>
              </a:pPr>
              <a:t>‹#›</a:t>
            </a:fld>
            <a:endParaRPr lang="en-GB"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fld id="{75031E60-960E-483E-8A7E-145A2DAFA56B}" type="datetime1">
              <a:rPr lang="en-GB"/>
              <a:pPr>
                <a:defRPr/>
              </a:pPr>
              <a:t>17/02/2026</a:t>
            </a:fld>
            <a:endParaRPr lang="en-GB"/>
          </a:p>
        </p:txBody>
      </p:sp>
      <p:sp>
        <p:nvSpPr>
          <p:cNvPr id="6" name="Rectangle 12"/>
          <p:cNvSpPr>
            <a:spLocks noGrp="1" noChangeArrowheads="1"/>
          </p:cNvSpPr>
          <p:nvPr>
            <p:ph type="ftr" sz="quarter" idx="11"/>
          </p:nvPr>
        </p:nvSpPr>
        <p:spPr>
          <a:ln/>
        </p:spPr>
        <p:txBody>
          <a:bodyPr/>
          <a:lstStyle>
            <a:lvl1pPr>
              <a:defRPr/>
            </a:lvl1pPr>
          </a:lstStyle>
          <a:p>
            <a:pPr>
              <a:defRPr/>
            </a:pPr>
            <a:r>
              <a:rPr lang="en-GB"/>
              <a:t>Dr. I. Jordanov</a:t>
            </a:r>
          </a:p>
        </p:txBody>
      </p:sp>
      <p:sp>
        <p:nvSpPr>
          <p:cNvPr id="7" name="Rectangle 13"/>
          <p:cNvSpPr>
            <a:spLocks noGrp="1" noChangeArrowheads="1"/>
          </p:cNvSpPr>
          <p:nvPr>
            <p:ph type="sldNum" sz="quarter" idx="12"/>
          </p:nvPr>
        </p:nvSpPr>
        <p:spPr>
          <a:ln/>
        </p:spPr>
        <p:txBody>
          <a:bodyPr/>
          <a:lstStyle>
            <a:lvl1pPr>
              <a:defRPr/>
            </a:lvl1pPr>
          </a:lstStyle>
          <a:p>
            <a:pPr>
              <a:defRPr/>
            </a:pPr>
            <a:fld id="{1F30426E-3049-459B-9F15-640C6B3E822C}" type="slidenum">
              <a:rPr lang="en-GB" altLang="en-US"/>
              <a:pPr>
                <a:defRPr/>
              </a:pPr>
              <a:t>‹#›</a:t>
            </a:fld>
            <a:endParaRPr lang="en-GB"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p:cNvSpPr>
            <a:spLocks noGrp="1" noChangeArrowheads="1"/>
          </p:cNvSpPr>
          <p:nvPr>
            <p:ph type="dt" sz="half" idx="10"/>
          </p:nvPr>
        </p:nvSpPr>
        <p:spPr>
          <a:ln/>
        </p:spPr>
        <p:txBody>
          <a:bodyPr/>
          <a:lstStyle>
            <a:lvl1pPr>
              <a:defRPr/>
            </a:lvl1pPr>
          </a:lstStyle>
          <a:p>
            <a:pPr>
              <a:defRPr/>
            </a:pPr>
            <a:fld id="{7931B546-D9B2-489C-9103-F4689ACD0AE9}" type="datetime1">
              <a:rPr lang="en-GB"/>
              <a:pPr>
                <a:defRPr/>
              </a:pPr>
              <a:t>17/02/2026</a:t>
            </a:fld>
            <a:endParaRPr lang="en-GB"/>
          </a:p>
        </p:txBody>
      </p:sp>
      <p:sp>
        <p:nvSpPr>
          <p:cNvPr id="5" name="Rectangle 12"/>
          <p:cNvSpPr>
            <a:spLocks noGrp="1" noChangeArrowheads="1"/>
          </p:cNvSpPr>
          <p:nvPr>
            <p:ph type="ftr" sz="quarter" idx="11"/>
          </p:nvPr>
        </p:nvSpPr>
        <p:spPr>
          <a:ln/>
        </p:spPr>
        <p:txBody>
          <a:bodyPr/>
          <a:lstStyle>
            <a:lvl1pPr>
              <a:defRPr/>
            </a:lvl1pPr>
          </a:lstStyle>
          <a:p>
            <a:pPr>
              <a:defRPr/>
            </a:pPr>
            <a:r>
              <a:rPr lang="en-GB"/>
              <a:t>Dr. I. Jordanov</a:t>
            </a:r>
          </a:p>
        </p:txBody>
      </p:sp>
      <p:sp>
        <p:nvSpPr>
          <p:cNvPr id="6" name="Rectangle 13"/>
          <p:cNvSpPr>
            <a:spLocks noGrp="1" noChangeArrowheads="1"/>
          </p:cNvSpPr>
          <p:nvPr>
            <p:ph type="sldNum" sz="quarter" idx="12"/>
          </p:nvPr>
        </p:nvSpPr>
        <p:spPr>
          <a:ln/>
        </p:spPr>
        <p:txBody>
          <a:bodyPr/>
          <a:lstStyle>
            <a:lvl1pPr>
              <a:defRPr/>
            </a:lvl1pPr>
          </a:lstStyle>
          <a:p>
            <a:pPr>
              <a:defRPr/>
            </a:pPr>
            <a:fld id="{9E1ACB47-72B5-411C-AE94-31F43B71E35D}" type="slidenum">
              <a:rPr lang="en-GB" altLang="en-US"/>
              <a:pPr>
                <a:defRPr/>
              </a:pPr>
              <a:t>‹#›</a:t>
            </a:fld>
            <a:endParaRPr lang="en-GB"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24700" y="76200"/>
            <a:ext cx="2019300" cy="6056313"/>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066800" y="76200"/>
            <a:ext cx="5905500" cy="60563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p:cNvSpPr>
            <a:spLocks noGrp="1" noChangeArrowheads="1"/>
          </p:cNvSpPr>
          <p:nvPr>
            <p:ph type="dt" sz="half" idx="10"/>
          </p:nvPr>
        </p:nvSpPr>
        <p:spPr>
          <a:ln/>
        </p:spPr>
        <p:txBody>
          <a:bodyPr/>
          <a:lstStyle>
            <a:lvl1pPr>
              <a:defRPr/>
            </a:lvl1pPr>
          </a:lstStyle>
          <a:p>
            <a:pPr>
              <a:defRPr/>
            </a:pPr>
            <a:fld id="{D6C634D5-19FB-4BCB-BC34-B3AA7470B1E1}" type="datetime1">
              <a:rPr lang="en-GB"/>
              <a:pPr>
                <a:defRPr/>
              </a:pPr>
              <a:t>17/02/2026</a:t>
            </a:fld>
            <a:endParaRPr lang="en-GB"/>
          </a:p>
        </p:txBody>
      </p:sp>
      <p:sp>
        <p:nvSpPr>
          <p:cNvPr id="5" name="Rectangle 12"/>
          <p:cNvSpPr>
            <a:spLocks noGrp="1" noChangeArrowheads="1"/>
          </p:cNvSpPr>
          <p:nvPr>
            <p:ph type="ftr" sz="quarter" idx="11"/>
          </p:nvPr>
        </p:nvSpPr>
        <p:spPr>
          <a:ln/>
        </p:spPr>
        <p:txBody>
          <a:bodyPr/>
          <a:lstStyle>
            <a:lvl1pPr>
              <a:defRPr/>
            </a:lvl1pPr>
          </a:lstStyle>
          <a:p>
            <a:pPr>
              <a:defRPr/>
            </a:pPr>
            <a:r>
              <a:rPr lang="en-GB"/>
              <a:t>Dr. I. Jordanov</a:t>
            </a:r>
          </a:p>
        </p:txBody>
      </p:sp>
      <p:sp>
        <p:nvSpPr>
          <p:cNvPr id="6" name="Rectangle 13"/>
          <p:cNvSpPr>
            <a:spLocks noGrp="1" noChangeArrowheads="1"/>
          </p:cNvSpPr>
          <p:nvPr>
            <p:ph type="sldNum" sz="quarter" idx="12"/>
          </p:nvPr>
        </p:nvSpPr>
        <p:spPr>
          <a:ln/>
        </p:spPr>
        <p:txBody>
          <a:bodyPr/>
          <a:lstStyle>
            <a:lvl1pPr>
              <a:defRPr/>
            </a:lvl1pPr>
          </a:lstStyle>
          <a:p>
            <a:pPr>
              <a:defRPr/>
            </a:pPr>
            <a:fld id="{8B164F9F-6F91-412B-A79C-7EBB0C1DD0F8}" type="slidenum">
              <a:rPr lang="en-GB" altLang="en-US"/>
              <a:pPr>
                <a:defRPr/>
              </a:pPr>
              <a:t>‹#›</a:t>
            </a:fld>
            <a:endParaRPr lang="en-GB"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146" name="Group 14"/>
          <p:cNvGrpSpPr>
            <a:grpSpLocks/>
          </p:cNvGrpSpPr>
          <p:nvPr userDrawn="1"/>
        </p:nvGrpSpPr>
        <p:grpSpPr bwMode="auto">
          <a:xfrm>
            <a:off x="0" y="0"/>
            <a:ext cx="8542338" cy="1052513"/>
            <a:chOff x="80" y="624"/>
            <a:chExt cx="5381" cy="663"/>
          </a:xfrm>
        </p:grpSpPr>
        <p:sp>
          <p:nvSpPr>
            <p:cNvPr id="1032" name="Rectangle 2"/>
            <p:cNvSpPr>
              <a:spLocks noChangeArrowheads="1"/>
            </p:cNvSpPr>
            <p:nvPr/>
          </p:nvSpPr>
          <p:spPr bwMode="ltGray">
            <a:xfrm>
              <a:off x="263" y="692"/>
              <a:ext cx="276" cy="299"/>
            </a:xfrm>
            <a:prstGeom prst="rect">
              <a:avLst/>
            </a:prstGeom>
            <a:solidFill>
              <a:schemeClr val="accent2"/>
            </a:solidFill>
            <a:ln>
              <a:noFill/>
            </a:ln>
          </p:spPr>
          <p:txBody>
            <a:bodyPr wrap="none" anchor="ct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defRPr/>
              </a:pPr>
              <a:endParaRPr kumimoji="1" lang="en-US" altLang="en-US"/>
            </a:p>
          </p:txBody>
        </p:sp>
        <p:sp>
          <p:nvSpPr>
            <p:cNvPr id="1033" name="Rectangle 3"/>
            <p:cNvSpPr>
              <a:spLocks noChangeArrowheads="1"/>
            </p:cNvSpPr>
            <p:nvPr/>
          </p:nvSpPr>
          <p:spPr bwMode="ltGray">
            <a:xfrm>
              <a:off x="504" y="692"/>
              <a:ext cx="207" cy="299"/>
            </a:xfrm>
            <a:prstGeom prst="rect">
              <a:avLst/>
            </a:prstGeom>
            <a:gradFill rotWithShape="0">
              <a:gsLst>
                <a:gs pos="0">
                  <a:schemeClr val="accent2"/>
                </a:gs>
                <a:gs pos="100000">
                  <a:schemeClr val="bg1"/>
                </a:gs>
              </a:gsLst>
              <a:lin ang="0" scaled="1"/>
            </a:gradFill>
            <a:ln>
              <a:noFill/>
            </a:ln>
          </p:spPr>
          <p:txBody>
            <a:bodyPr wrap="none" anchor="ct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defRPr/>
              </a:pPr>
              <a:endParaRPr kumimoji="1" lang="en-US" altLang="en-US"/>
            </a:p>
          </p:txBody>
        </p:sp>
        <p:sp>
          <p:nvSpPr>
            <p:cNvPr id="1034" name="Rectangle 4"/>
            <p:cNvSpPr>
              <a:spLocks noChangeArrowheads="1"/>
            </p:cNvSpPr>
            <p:nvPr/>
          </p:nvSpPr>
          <p:spPr bwMode="ltGray">
            <a:xfrm>
              <a:off x="341" y="958"/>
              <a:ext cx="266" cy="299"/>
            </a:xfrm>
            <a:prstGeom prst="rect">
              <a:avLst/>
            </a:prstGeom>
            <a:solidFill>
              <a:schemeClr val="folHlink"/>
            </a:solidFill>
            <a:ln>
              <a:noFill/>
            </a:ln>
          </p:spPr>
          <p:txBody>
            <a:bodyPr wrap="none" anchor="ct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defRPr/>
              </a:pPr>
              <a:endParaRPr kumimoji="1" lang="en-US" altLang="en-US"/>
            </a:p>
          </p:txBody>
        </p:sp>
        <p:sp>
          <p:nvSpPr>
            <p:cNvPr id="1035" name="Rectangle 5"/>
            <p:cNvSpPr>
              <a:spLocks noChangeArrowheads="1"/>
            </p:cNvSpPr>
            <p:nvPr/>
          </p:nvSpPr>
          <p:spPr bwMode="ltGray">
            <a:xfrm>
              <a:off x="574" y="958"/>
              <a:ext cx="232" cy="299"/>
            </a:xfrm>
            <a:prstGeom prst="rect">
              <a:avLst/>
            </a:prstGeom>
            <a:gradFill rotWithShape="0">
              <a:gsLst>
                <a:gs pos="0">
                  <a:schemeClr val="folHlink"/>
                </a:gs>
                <a:gs pos="100000">
                  <a:schemeClr val="bg1"/>
                </a:gs>
              </a:gsLst>
              <a:lin ang="0" scaled="1"/>
            </a:gradFill>
            <a:ln>
              <a:noFill/>
            </a:ln>
          </p:spPr>
          <p:txBody>
            <a:bodyPr wrap="none" anchor="ct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defRPr/>
              </a:pPr>
              <a:endParaRPr kumimoji="1" lang="en-US" altLang="en-US"/>
            </a:p>
          </p:txBody>
        </p:sp>
        <p:sp>
          <p:nvSpPr>
            <p:cNvPr id="1036" name="Rectangle 6"/>
            <p:cNvSpPr>
              <a:spLocks noChangeArrowheads="1"/>
            </p:cNvSpPr>
            <p:nvPr/>
          </p:nvSpPr>
          <p:spPr bwMode="ltGray">
            <a:xfrm>
              <a:off x="80" y="912"/>
              <a:ext cx="353" cy="266"/>
            </a:xfrm>
            <a:prstGeom prst="rect">
              <a:avLst/>
            </a:prstGeom>
            <a:gradFill rotWithShape="0">
              <a:gsLst>
                <a:gs pos="0">
                  <a:schemeClr val="bg1"/>
                </a:gs>
                <a:gs pos="100000">
                  <a:schemeClr val="hlink"/>
                </a:gs>
              </a:gsLst>
              <a:lin ang="18900000" scaled="1"/>
            </a:gradFill>
            <a:ln>
              <a:noFill/>
            </a:ln>
          </p:spPr>
          <p:txBody>
            <a:bodyPr wrap="none" anchor="ct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defRPr/>
              </a:pPr>
              <a:endParaRPr kumimoji="1" lang="en-US" altLang="en-US"/>
            </a:p>
          </p:txBody>
        </p:sp>
        <p:sp>
          <p:nvSpPr>
            <p:cNvPr id="1037" name="Rectangle 7"/>
            <p:cNvSpPr>
              <a:spLocks noChangeArrowheads="1"/>
            </p:cNvSpPr>
            <p:nvPr/>
          </p:nvSpPr>
          <p:spPr bwMode="gray">
            <a:xfrm>
              <a:off x="480" y="624"/>
              <a:ext cx="20" cy="663"/>
            </a:xfrm>
            <a:prstGeom prst="rect">
              <a:avLst/>
            </a:prstGeom>
            <a:solidFill>
              <a:schemeClr val="bg2"/>
            </a:solidFill>
            <a:ln>
              <a:noFill/>
            </a:ln>
          </p:spPr>
          <p:txBody>
            <a:bodyPr wrap="none" anchor="ct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defRPr/>
              </a:pPr>
              <a:endParaRPr kumimoji="1" lang="en-US" altLang="en-US"/>
            </a:p>
          </p:txBody>
        </p:sp>
        <p:sp>
          <p:nvSpPr>
            <p:cNvPr id="1038" name="Rectangle 8"/>
            <p:cNvSpPr>
              <a:spLocks noChangeArrowheads="1"/>
            </p:cNvSpPr>
            <p:nvPr/>
          </p:nvSpPr>
          <p:spPr bwMode="gray">
            <a:xfrm>
              <a:off x="279" y="1122"/>
              <a:ext cx="5182" cy="20"/>
            </a:xfrm>
            <a:prstGeom prst="rect">
              <a:avLst/>
            </a:prstGeom>
            <a:gradFill rotWithShape="0">
              <a:gsLst>
                <a:gs pos="0">
                  <a:schemeClr val="bg2"/>
                </a:gs>
                <a:gs pos="100000">
                  <a:schemeClr val="bg1"/>
                </a:gs>
              </a:gsLst>
              <a:lin ang="0" scaled="1"/>
            </a:gradFill>
            <a:ln>
              <a:noFill/>
            </a:ln>
          </p:spPr>
          <p:txBody>
            <a:bodyPr wrap="none" anchor="ct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defRPr/>
              </a:pPr>
              <a:endParaRPr kumimoji="1" lang="en-US" altLang="en-US"/>
            </a:p>
          </p:txBody>
        </p:sp>
      </p:grpSp>
      <p:sp>
        <p:nvSpPr>
          <p:cNvPr id="6147" name="Rectangle 9"/>
          <p:cNvSpPr>
            <a:spLocks noGrp="1" noChangeArrowheads="1"/>
          </p:cNvSpPr>
          <p:nvPr>
            <p:ph type="title"/>
          </p:nvPr>
        </p:nvSpPr>
        <p:spPr bwMode="auto">
          <a:xfrm>
            <a:off x="1066800" y="76200"/>
            <a:ext cx="8077200" cy="7620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GB" altLang="en-US"/>
              <a:t>Click to edit Master title style</a:t>
            </a:r>
          </a:p>
        </p:txBody>
      </p:sp>
      <p:sp>
        <p:nvSpPr>
          <p:cNvPr id="6148" name="Rectangle 10"/>
          <p:cNvSpPr>
            <a:spLocks noGrp="1" noChangeArrowheads="1"/>
          </p:cNvSpPr>
          <p:nvPr>
            <p:ph type="body" idx="1"/>
          </p:nvPr>
        </p:nvSpPr>
        <p:spPr bwMode="auto">
          <a:xfrm>
            <a:off x="1182688" y="2017713"/>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96267" name="Rectangle 11"/>
          <p:cNvSpPr>
            <a:spLocks noGrp="1" noChangeArrowheads="1"/>
          </p:cNvSpPr>
          <p:nvPr>
            <p:ph type="dt" sz="half" idx="2"/>
          </p:nvPr>
        </p:nvSpPr>
        <p:spPr bwMode="auto">
          <a:xfrm>
            <a:off x="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fld id="{10F0686D-DB96-49A2-8204-7759807A7E7E}" type="datetime1">
              <a:rPr lang="en-GB"/>
              <a:pPr>
                <a:defRPr/>
              </a:pPr>
              <a:t>17/02/2026</a:t>
            </a:fld>
            <a:endParaRPr lang="en-GB"/>
          </a:p>
        </p:txBody>
      </p:sp>
      <p:sp>
        <p:nvSpPr>
          <p:cNvPr id="96268" name="Rectangle 12"/>
          <p:cNvSpPr>
            <a:spLocks noGrp="1" noChangeArrowheads="1"/>
          </p:cNvSpPr>
          <p:nvPr>
            <p:ph type="ftr" sz="quarter" idx="3"/>
          </p:nvPr>
        </p:nvSpPr>
        <p:spPr bwMode="auto">
          <a:xfrm>
            <a:off x="1981200" y="6400800"/>
            <a:ext cx="5181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vl1pPr>
          </a:lstStyle>
          <a:p>
            <a:pPr>
              <a:defRPr/>
            </a:pPr>
            <a:r>
              <a:rPr lang="en-GB"/>
              <a:t>Dr. I. Jordanov</a:t>
            </a:r>
          </a:p>
        </p:txBody>
      </p:sp>
      <p:sp>
        <p:nvSpPr>
          <p:cNvPr id="96269" name="Rectangle 13"/>
          <p:cNvSpPr>
            <a:spLocks noGrp="1" noChangeArrowheads="1"/>
          </p:cNvSpPr>
          <p:nvPr>
            <p:ph type="sldNum" sz="quarter" idx="4"/>
          </p:nvPr>
        </p:nvSpPr>
        <p:spPr bwMode="auto">
          <a:xfrm>
            <a:off x="723900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14901F3C-1D0F-4F82-93E6-D9F8EEC216E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hdr="0"/>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Tahoma" pitchFamily="34" charset="0"/>
        </a:defRPr>
      </a:lvl2pPr>
      <a:lvl3pPr algn="l" rtl="0" eaLnBrk="0" fontAlgn="base" hangingPunct="0">
        <a:spcBef>
          <a:spcPct val="0"/>
        </a:spcBef>
        <a:spcAft>
          <a:spcPct val="0"/>
        </a:spcAft>
        <a:defRPr sz="4400" b="1">
          <a:solidFill>
            <a:schemeClr val="tx2"/>
          </a:solidFill>
          <a:latin typeface="Tahoma" pitchFamily="34" charset="0"/>
        </a:defRPr>
      </a:lvl3pPr>
      <a:lvl4pPr algn="l" rtl="0" eaLnBrk="0" fontAlgn="base" hangingPunct="0">
        <a:spcBef>
          <a:spcPct val="0"/>
        </a:spcBef>
        <a:spcAft>
          <a:spcPct val="0"/>
        </a:spcAft>
        <a:defRPr sz="4400" b="1">
          <a:solidFill>
            <a:schemeClr val="tx2"/>
          </a:solidFill>
          <a:latin typeface="Tahoma" pitchFamily="34" charset="0"/>
        </a:defRPr>
      </a:lvl4pPr>
      <a:lvl5pPr algn="l" rtl="0" eaLnBrk="0" fontAlgn="base" hangingPunct="0">
        <a:spcBef>
          <a:spcPct val="0"/>
        </a:spcBef>
        <a:spcAft>
          <a:spcPct val="0"/>
        </a:spcAft>
        <a:defRPr sz="4400" b="1">
          <a:solidFill>
            <a:schemeClr val="tx2"/>
          </a:solidFill>
          <a:latin typeface="Tahoma" pitchFamily="34" charset="0"/>
        </a:defRPr>
      </a:lvl5pPr>
      <a:lvl6pPr marL="457200" algn="l" rtl="0" fontAlgn="base">
        <a:spcBef>
          <a:spcPct val="0"/>
        </a:spcBef>
        <a:spcAft>
          <a:spcPct val="0"/>
        </a:spcAft>
        <a:defRPr sz="4400" b="1">
          <a:solidFill>
            <a:schemeClr val="tx2"/>
          </a:solidFill>
          <a:latin typeface="Tahoma" pitchFamily="34" charset="0"/>
        </a:defRPr>
      </a:lvl6pPr>
      <a:lvl7pPr marL="914400" algn="l" rtl="0" fontAlgn="base">
        <a:spcBef>
          <a:spcPct val="0"/>
        </a:spcBef>
        <a:spcAft>
          <a:spcPct val="0"/>
        </a:spcAft>
        <a:defRPr sz="4400" b="1">
          <a:solidFill>
            <a:schemeClr val="tx2"/>
          </a:solidFill>
          <a:latin typeface="Tahoma" pitchFamily="34" charset="0"/>
        </a:defRPr>
      </a:lvl7pPr>
      <a:lvl8pPr marL="1371600" algn="l" rtl="0" fontAlgn="base">
        <a:spcBef>
          <a:spcPct val="0"/>
        </a:spcBef>
        <a:spcAft>
          <a:spcPct val="0"/>
        </a:spcAft>
        <a:defRPr sz="4400" b="1">
          <a:solidFill>
            <a:schemeClr val="tx2"/>
          </a:solidFill>
          <a:latin typeface="Tahoma" pitchFamily="34" charset="0"/>
        </a:defRPr>
      </a:lvl8pPr>
      <a:lvl9pPr marL="1828800" algn="l" rtl="0" fontAlgn="base">
        <a:spcBef>
          <a:spcPct val="0"/>
        </a:spcBef>
        <a:spcAft>
          <a:spcPct val="0"/>
        </a:spcAft>
        <a:defRPr sz="4400" b="1">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portdotacdotuk-my.sharepoint.com/personal/ivan_jordanov_port_ac_uk/Documents/AAI%20(NN%20&amp;GA)/Lectures%20registry%20M33176%20AAI%20(NN_GA)%202026.xlsx?web=1"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0.emf"/></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bin"/><Relationship Id="rId1" Type="http://schemas.openxmlformats.org/officeDocument/2006/relationships/slideLayout" Target="../slideLayouts/slideLayout1.xml"/><Relationship Id="rId5" Type="http://schemas.openxmlformats.org/officeDocument/2006/relationships/image" Target="../media/image15.wmf"/><Relationship Id="rId4" Type="http://schemas.openxmlformats.org/officeDocument/2006/relationships/oleObject" Target="../embeddings/oleObject2.bin"/></Relationships>
</file>

<file path=ppt/slides/_rels/slide3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3.bin"/><Relationship Id="rId1" Type="http://schemas.openxmlformats.org/officeDocument/2006/relationships/slideLayout" Target="../slideLayouts/slideLayout1.xml"/><Relationship Id="rId5" Type="http://schemas.openxmlformats.org/officeDocument/2006/relationships/image" Target="../media/image17.wmf"/><Relationship Id="rId4" Type="http://schemas.openxmlformats.org/officeDocument/2006/relationships/oleObject" Target="../embeddings/oleObject4.bin"/></Relationships>
</file>

<file path=ppt/slides/_rels/slide31.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5.bin"/><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Date Placeholder 3"/>
          <p:cNvSpPr>
            <a:spLocks noGrp="1"/>
          </p:cNvSpPr>
          <p:nvPr>
            <p:ph type="dt" sz="quarter" idx="10"/>
          </p:nvPr>
        </p:nvSpPr>
        <p:spPr>
          <a:noFill/>
        </p:spPr>
        <p:txBody>
          <a:bodyPr/>
          <a:lstStyle/>
          <a:p>
            <a:fld id="{CA7FB454-240C-485B-819E-F43761316F44}" type="datetime1">
              <a:rPr lang="en-GB" altLang="en-US" smtClean="0"/>
              <a:pPr/>
              <a:t>17/02/2026</a:t>
            </a:fld>
            <a:endParaRPr lang="en-GB" altLang="en-US"/>
          </a:p>
        </p:txBody>
      </p:sp>
      <p:sp>
        <p:nvSpPr>
          <p:cNvPr id="7171" name="Footer Placeholder 4"/>
          <p:cNvSpPr>
            <a:spLocks noGrp="1"/>
          </p:cNvSpPr>
          <p:nvPr>
            <p:ph type="ftr" sz="quarter" idx="11"/>
          </p:nvPr>
        </p:nvSpPr>
        <p:spPr>
          <a:xfrm>
            <a:off x="1981200" y="6556376"/>
            <a:ext cx="4030960" cy="301624"/>
          </a:xfrm>
          <a:noFill/>
        </p:spPr>
        <p:txBody>
          <a:bodyPr/>
          <a:lstStyle/>
          <a:p>
            <a:r>
              <a:rPr lang="en-GB" altLang="en-US" dirty="0"/>
              <a:t>Prof. I. Jordanov</a:t>
            </a:r>
          </a:p>
        </p:txBody>
      </p:sp>
      <p:sp>
        <p:nvSpPr>
          <p:cNvPr id="7172" name="Slide Number Placeholder 5"/>
          <p:cNvSpPr>
            <a:spLocks noGrp="1"/>
          </p:cNvSpPr>
          <p:nvPr>
            <p:ph type="sldNum" sz="quarter" idx="12"/>
          </p:nvPr>
        </p:nvSpPr>
        <p:spPr>
          <a:noFill/>
        </p:spPr>
        <p:txBody>
          <a:bodyPr/>
          <a:lstStyle/>
          <a:p>
            <a:fld id="{9555986C-A437-4FEB-B893-DB55F465892B}" type="slidenum">
              <a:rPr lang="en-GB" altLang="en-US" smtClean="0"/>
              <a:pPr/>
              <a:t>1</a:t>
            </a:fld>
            <a:endParaRPr lang="en-GB" altLang="en-US"/>
          </a:p>
        </p:txBody>
      </p:sp>
      <p:sp>
        <p:nvSpPr>
          <p:cNvPr id="259075" name="Rectangle 3"/>
          <p:cNvSpPr>
            <a:spLocks noGrp="1" noChangeArrowheads="1"/>
          </p:cNvSpPr>
          <p:nvPr>
            <p:ph type="body" idx="1"/>
          </p:nvPr>
        </p:nvSpPr>
        <p:spPr>
          <a:xfrm>
            <a:off x="1043608" y="4468343"/>
            <a:ext cx="7705725" cy="2088033"/>
          </a:xfrm>
        </p:spPr>
        <p:txBody>
          <a:bodyPr/>
          <a:lstStyle/>
          <a:p>
            <a:r>
              <a:rPr lang="en-GB" altLang="en-US" sz="2800" dirty="0"/>
              <a:t>Introduction</a:t>
            </a:r>
          </a:p>
          <a:p>
            <a:r>
              <a:rPr lang="en-GB" altLang="en-US" sz="2800" dirty="0"/>
              <a:t>GA terminology</a:t>
            </a:r>
          </a:p>
          <a:p>
            <a:r>
              <a:rPr lang="en-GB" altLang="en-US" sz="2800" dirty="0"/>
              <a:t>Genetic operators</a:t>
            </a:r>
          </a:p>
          <a:p>
            <a:r>
              <a:rPr lang="en-GB" altLang="en-US" sz="2800" dirty="0"/>
              <a:t>Example: Fitness proportional selection</a:t>
            </a:r>
          </a:p>
        </p:txBody>
      </p:sp>
      <p:sp>
        <p:nvSpPr>
          <p:cNvPr id="259079" name="Rectangle 7"/>
          <p:cNvSpPr>
            <a:spLocks noChangeArrowheads="1"/>
          </p:cNvSpPr>
          <p:nvPr/>
        </p:nvSpPr>
        <p:spPr bwMode="auto">
          <a:xfrm>
            <a:off x="952500" y="3980297"/>
            <a:ext cx="3357562" cy="571500"/>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None/>
            </a:pPr>
            <a:r>
              <a:rPr lang="en-GB" altLang="en-US" sz="2800" b="1" u="sng" dirty="0"/>
              <a:t>Objectives</a:t>
            </a:r>
          </a:p>
        </p:txBody>
      </p:sp>
      <p:sp>
        <p:nvSpPr>
          <p:cNvPr id="3080" name="Rectangle 10"/>
          <p:cNvSpPr>
            <a:spLocks noChangeArrowheads="1"/>
          </p:cNvSpPr>
          <p:nvPr/>
        </p:nvSpPr>
        <p:spPr bwMode="auto">
          <a:xfrm>
            <a:off x="907944" y="938089"/>
            <a:ext cx="6804235" cy="584775"/>
          </a:xfrm>
          <a:prstGeom prst="rect">
            <a:avLst/>
          </a:prstGeom>
          <a:noFill/>
          <a:ln w="9525">
            <a:noFill/>
            <a:miter lim="800000"/>
            <a:headEnd/>
            <a:tailEnd/>
          </a:ln>
        </p:spPr>
        <p:txBody>
          <a:bodyPr wrap="square" anchor="ctr">
            <a:spAutoFit/>
          </a:bodyPr>
          <a:lstStyle/>
          <a:p>
            <a:pPr algn="ctr" eaLnBrk="1" hangingPunct="1"/>
            <a:r>
              <a:rPr lang="en-US" altLang="en-US" sz="3200" b="1" dirty="0">
                <a:solidFill>
                  <a:srgbClr val="0000FF"/>
                </a:solidFill>
              </a:rPr>
              <a:t>Genetic Algorithms (GA)</a:t>
            </a:r>
            <a:endParaRPr lang="en-GB" altLang="en-US" sz="3200" dirty="0">
              <a:solidFill>
                <a:srgbClr val="0000FF"/>
              </a:solidFill>
            </a:endParaRPr>
          </a:p>
        </p:txBody>
      </p:sp>
      <p:sp>
        <p:nvSpPr>
          <p:cNvPr id="2" name="Rectangle 2">
            <a:extLst>
              <a:ext uri="{FF2B5EF4-FFF2-40B4-BE49-F238E27FC236}">
                <a16:creationId xmlns:a16="http://schemas.microsoft.com/office/drawing/2014/main" id="{1C7BA970-432A-7FA4-CA3E-D800499A0EC9}"/>
              </a:ext>
            </a:extLst>
          </p:cNvPr>
          <p:cNvSpPr>
            <a:spLocks noGrp="1" noChangeArrowheads="1"/>
          </p:cNvSpPr>
          <p:nvPr>
            <p:ph type="title"/>
          </p:nvPr>
        </p:nvSpPr>
        <p:spPr>
          <a:xfrm>
            <a:off x="2087724" y="182223"/>
            <a:ext cx="4068452" cy="584774"/>
          </a:xfrm>
        </p:spPr>
        <p:txBody>
          <a:bodyPr/>
          <a:lstStyle/>
          <a:p>
            <a:pPr algn="ctr" eaLnBrk="1" hangingPunct="1">
              <a:spcAft>
                <a:spcPts val="600"/>
              </a:spcAft>
            </a:pPr>
            <a:r>
              <a:rPr lang="en-GB" altLang="en-US" sz="2800" dirty="0">
                <a:solidFill>
                  <a:srgbClr val="0000FF"/>
                </a:solidFill>
              </a:rPr>
              <a:t>Lecture 6</a:t>
            </a:r>
            <a:br>
              <a:rPr lang="en-GB" altLang="en-US" sz="2800" dirty="0">
                <a:solidFill>
                  <a:srgbClr val="0000FF"/>
                </a:solidFill>
              </a:rPr>
            </a:br>
            <a:r>
              <a:rPr kumimoji="0" lang="en-GB" altLang="en-US" sz="1200" b="1" i="0" u="none" strike="noStrike" kern="0" cap="none" spc="0" normalizeH="0" baseline="0" noProof="0" dirty="0">
                <a:ln>
                  <a:noFill/>
                </a:ln>
                <a:solidFill>
                  <a:srgbClr val="000000"/>
                </a:solidFill>
                <a:effectLst/>
                <a:uLnTx/>
                <a:uFillTx/>
                <a:latin typeface="Times New Roman" panose="02020603050405020304" pitchFamily="18" charset="0"/>
                <a:ea typeface="+mj-ea"/>
                <a:cs typeface="Times New Roman" panose="02020603050405020304" pitchFamily="18" charset="0"/>
              </a:rPr>
              <a:t>Register at: </a:t>
            </a:r>
            <a:r>
              <a:rPr kumimoji="0" lang="en-GB" altLang="en-US" sz="1200" b="1" i="0" u="none" strike="noStrike" kern="0" cap="none" spc="0" normalizeH="0" baseline="0" noProof="0" dirty="0">
                <a:ln>
                  <a:noFill/>
                </a:ln>
                <a:solidFill>
                  <a:srgbClr val="0000FF"/>
                </a:solidFill>
                <a:effectLst/>
                <a:uLnTx/>
                <a:uFillTx/>
                <a:latin typeface="Times New Roman" panose="02020603050405020304" pitchFamily="18" charset="0"/>
                <a:ea typeface="+mj-ea"/>
                <a:cs typeface="Times New Roman" panose="02020603050405020304" pitchFamily="18" charset="0"/>
                <a:hlinkClick r:id="rId2"/>
              </a:rPr>
              <a:t>Lecture registry</a:t>
            </a:r>
            <a:endParaRPr lang="en-GB" altLang="en-US" sz="2800" dirty="0">
              <a:solidFill>
                <a:srgbClr val="0000FF"/>
              </a:solidFill>
              <a:latin typeface="Times New Roman" panose="02020603050405020304" pitchFamily="18" charset="0"/>
              <a:cs typeface="Times New Roman" panose="02020603050405020304" pitchFamily="18" charset="0"/>
            </a:endParaRPr>
          </a:p>
        </p:txBody>
      </p:sp>
      <p:pic>
        <p:nvPicPr>
          <p:cNvPr id="10" name="Picture 9" descr="DNA Canvas, Double Helix Wall Art, DNA Strand Artwork, Science Decor, Large Canvas Print, High Quality Canvas image 1">
            <a:extLst>
              <a:ext uri="{FF2B5EF4-FFF2-40B4-BE49-F238E27FC236}">
                <a16:creationId xmlns:a16="http://schemas.microsoft.com/office/drawing/2014/main" id="{80B1DE5E-7886-4BED-98EC-2920E0EB87D8}"/>
              </a:ext>
            </a:extLst>
          </p:cNvPr>
          <p:cNvPicPr/>
          <p:nvPr/>
        </p:nvPicPr>
        <p:blipFill rotWithShape="1">
          <a:blip r:embed="rId3">
            <a:extLst>
              <a:ext uri="{28A0092B-C50C-407E-A947-70E740481C1C}">
                <a14:useLocalDpi xmlns:a14="http://schemas.microsoft.com/office/drawing/2010/main" val="0"/>
              </a:ext>
            </a:extLst>
          </a:blip>
          <a:srcRect l="27822" t="5386" r="28366" b="5339"/>
          <a:stretch/>
        </p:blipFill>
        <p:spPr bwMode="auto">
          <a:xfrm rot="16200000">
            <a:off x="3059308" y="332243"/>
            <a:ext cx="2483485" cy="4790374"/>
          </a:xfrm>
          <a:prstGeom prst="rect">
            <a:avLst/>
          </a:prstGeom>
          <a:noFill/>
          <a:ln>
            <a:noFill/>
          </a:ln>
          <a:extLst>
            <a:ext uri="{53640926-AAD7-44D8-BBD7-CCE9431645EC}">
              <a14:shadowObscured xmlns:a14="http://schemas.microsoft.com/office/drawing/2010/main"/>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8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259079"/>
                                        </p:tgtEl>
                                        <p:attrNameLst>
                                          <p:attrName>style.visibility</p:attrName>
                                        </p:attrNameLst>
                                      </p:cBhvr>
                                      <p:to>
                                        <p:strVal val="visible"/>
                                      </p:to>
                                    </p:set>
                                    <p:animEffect transition="in" filter="dissolve">
                                      <p:cBhvr>
                                        <p:cTn id="11" dur="500"/>
                                        <p:tgtEl>
                                          <p:spTgt spid="25907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259075">
                                            <p:txEl>
                                              <p:pRg st="0" end="0"/>
                                            </p:txEl>
                                          </p:spTgt>
                                        </p:tgtEl>
                                        <p:attrNameLst>
                                          <p:attrName>style.visibility</p:attrName>
                                        </p:attrNameLst>
                                      </p:cBhvr>
                                      <p:to>
                                        <p:strVal val="visible"/>
                                      </p:to>
                                    </p:set>
                                    <p:animEffect transition="in" filter="blinds(horizontal)">
                                      <p:cBhvr>
                                        <p:cTn id="16" dur="500"/>
                                        <p:tgtEl>
                                          <p:spTgt spid="259075">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59075">
                                            <p:txEl>
                                              <p:pRg st="1" end="1"/>
                                            </p:txEl>
                                          </p:spTgt>
                                        </p:tgtEl>
                                        <p:attrNameLst>
                                          <p:attrName>style.visibility</p:attrName>
                                        </p:attrNameLst>
                                      </p:cBhvr>
                                      <p:to>
                                        <p:strVal val="visible"/>
                                      </p:to>
                                    </p:set>
                                    <p:animEffect transition="in" filter="blinds(horizontal)">
                                      <p:cBhvr>
                                        <p:cTn id="21" dur="500"/>
                                        <p:tgtEl>
                                          <p:spTgt spid="259075">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59075">
                                            <p:txEl>
                                              <p:pRg st="2" end="2"/>
                                            </p:txEl>
                                          </p:spTgt>
                                        </p:tgtEl>
                                        <p:attrNameLst>
                                          <p:attrName>style.visibility</p:attrName>
                                        </p:attrNameLst>
                                      </p:cBhvr>
                                      <p:to>
                                        <p:strVal val="visible"/>
                                      </p:to>
                                    </p:set>
                                    <p:animEffect transition="in" filter="blinds(horizontal)">
                                      <p:cBhvr>
                                        <p:cTn id="26" dur="500"/>
                                        <p:tgtEl>
                                          <p:spTgt spid="259075">
                                            <p:txEl>
                                              <p:pRg st="2" end="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59075">
                                            <p:txEl>
                                              <p:pRg st="3" end="3"/>
                                            </p:txEl>
                                          </p:spTgt>
                                        </p:tgtEl>
                                        <p:attrNameLst>
                                          <p:attrName>style.visibility</p:attrName>
                                        </p:attrNameLst>
                                      </p:cBhvr>
                                      <p:to>
                                        <p:strVal val="visible"/>
                                      </p:to>
                                    </p:set>
                                    <p:animEffect transition="in" filter="blinds(horizontal)">
                                      <p:cBhvr>
                                        <p:cTn id="31" dur="500"/>
                                        <p:tgtEl>
                                          <p:spTgt spid="2590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75" grpId="0" build="p" autoUpdateAnimBg="0"/>
      <p:bldP spid="259079" grpId="0" autoUpdateAnimBg="0"/>
      <p:bldP spid="3080"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Date Placeholder 3"/>
          <p:cNvSpPr>
            <a:spLocks noGrp="1"/>
          </p:cNvSpPr>
          <p:nvPr>
            <p:ph type="dt" sz="quarter" idx="10"/>
          </p:nvPr>
        </p:nvSpPr>
        <p:spPr>
          <a:noFill/>
        </p:spPr>
        <p:txBody>
          <a:bodyPr/>
          <a:lstStyle/>
          <a:p>
            <a:fld id="{9DA8F2C6-99A3-4F46-AD4E-6F327E233312}" type="datetime1">
              <a:rPr lang="en-GB" altLang="en-US" smtClean="0"/>
              <a:pPr/>
              <a:t>17/02/2026</a:t>
            </a:fld>
            <a:endParaRPr lang="en-GB" altLang="en-US"/>
          </a:p>
        </p:txBody>
      </p:sp>
      <p:sp>
        <p:nvSpPr>
          <p:cNvPr id="8195" name="Slide Number Placeholder 5"/>
          <p:cNvSpPr>
            <a:spLocks noGrp="1"/>
          </p:cNvSpPr>
          <p:nvPr>
            <p:ph type="sldNum" sz="quarter" idx="12"/>
          </p:nvPr>
        </p:nvSpPr>
        <p:spPr>
          <a:noFill/>
        </p:spPr>
        <p:txBody>
          <a:bodyPr/>
          <a:lstStyle/>
          <a:p>
            <a:fld id="{68DBC450-6382-46E7-B884-FE02F22E4197}" type="slidenum">
              <a:rPr lang="en-GB" altLang="en-US" smtClean="0"/>
              <a:pPr/>
              <a:t>2</a:t>
            </a:fld>
            <a:endParaRPr lang="en-GB" altLang="en-US" dirty="0"/>
          </a:p>
        </p:txBody>
      </p:sp>
      <p:sp>
        <p:nvSpPr>
          <p:cNvPr id="9221" name="Rectangle 2"/>
          <p:cNvSpPr>
            <a:spLocks noGrp="1" noChangeArrowheads="1"/>
          </p:cNvSpPr>
          <p:nvPr>
            <p:ph type="title"/>
          </p:nvPr>
        </p:nvSpPr>
        <p:spPr>
          <a:xfrm>
            <a:off x="2071689" y="142875"/>
            <a:ext cx="3827522" cy="661988"/>
          </a:xfrm>
        </p:spPr>
        <p:txBody>
          <a:bodyPr/>
          <a:lstStyle/>
          <a:p>
            <a:r>
              <a:rPr lang="en-US" altLang="en-US" sz="3600" dirty="0"/>
              <a:t>Introduction</a:t>
            </a:r>
            <a:endParaRPr lang="en-GB" altLang="en-US" sz="3600" u="sng" baseline="30000" dirty="0"/>
          </a:p>
        </p:txBody>
      </p:sp>
      <p:sp>
        <p:nvSpPr>
          <p:cNvPr id="12" name="Rectangle 3"/>
          <p:cNvSpPr>
            <a:spLocks noChangeArrowheads="1"/>
          </p:cNvSpPr>
          <p:nvPr/>
        </p:nvSpPr>
        <p:spPr bwMode="auto">
          <a:xfrm>
            <a:off x="456053" y="5265204"/>
            <a:ext cx="8532440" cy="1236241"/>
          </a:xfrm>
          <a:prstGeom prst="rect">
            <a:avLst/>
          </a:prstGeom>
          <a:noFill/>
          <a:ln w="9525">
            <a:noFill/>
            <a:miter lim="800000"/>
            <a:headEnd/>
            <a:tailEnd/>
          </a:ln>
        </p:spPr>
        <p:txBody>
          <a:bodyPr/>
          <a:lstStyle/>
          <a:p>
            <a:pPr eaLnBrk="1" hangingPunct="1"/>
            <a:r>
              <a:rPr lang="en-US" altLang="en-US" dirty="0"/>
              <a:t>Fig. 1. The </a:t>
            </a:r>
            <a:r>
              <a:rPr lang="en-US" altLang="en-US" i="1" dirty="0"/>
              <a:t>Cookie</a:t>
            </a:r>
            <a:r>
              <a:rPr lang="en-US" altLang="en-US" dirty="0"/>
              <a:t> problem - the axes are the amounts (</a:t>
            </a:r>
            <a:r>
              <a:rPr lang="en-US" altLang="en-US" dirty="0">
                <a:solidFill>
                  <a:srgbClr val="0000FF"/>
                </a:solidFill>
              </a:rPr>
              <a:t>in kilos</a:t>
            </a:r>
            <a:r>
              <a:rPr lang="en-US" altLang="en-US" dirty="0"/>
              <a:t>) of flour and sugar per batch – giving the cookies quality value (0 to 10) in the cells</a:t>
            </a:r>
            <a:r>
              <a:rPr lang="en-GB" altLang="en-US" dirty="0"/>
              <a:t>.</a:t>
            </a:r>
          </a:p>
        </p:txBody>
      </p:sp>
      <p:sp>
        <p:nvSpPr>
          <p:cNvPr id="8198"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8199" name="Rectangle 1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grpSp>
        <p:nvGrpSpPr>
          <p:cNvPr id="2" name="Group 11"/>
          <p:cNvGrpSpPr>
            <a:grpSpLocks/>
          </p:cNvGrpSpPr>
          <p:nvPr/>
        </p:nvGrpSpPr>
        <p:grpSpPr bwMode="auto">
          <a:xfrm>
            <a:off x="3951859" y="1160748"/>
            <a:ext cx="4754562" cy="3881437"/>
            <a:chOff x="2890" y="2325"/>
            <a:chExt cx="6357" cy="6030"/>
          </a:xfrm>
        </p:grpSpPr>
        <p:sp>
          <p:nvSpPr>
            <p:cNvPr id="8202" name="Rectangle 12"/>
            <p:cNvSpPr>
              <a:spLocks noChangeArrowheads="1"/>
            </p:cNvSpPr>
            <p:nvPr/>
          </p:nvSpPr>
          <p:spPr bwMode="auto">
            <a:xfrm>
              <a:off x="4127"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dirty="0">
                  <a:solidFill>
                    <a:srgbClr val="000000"/>
                  </a:solidFill>
                  <a:latin typeface="Arial" pitchFamily="34" charset="0"/>
                </a:rPr>
                <a:t>1</a:t>
              </a:r>
              <a:endParaRPr lang="en-US" altLang="en-US" dirty="0"/>
            </a:p>
          </p:txBody>
        </p:sp>
        <p:sp>
          <p:nvSpPr>
            <p:cNvPr id="8203" name="Rectangle 13"/>
            <p:cNvSpPr>
              <a:spLocks noChangeArrowheads="1"/>
            </p:cNvSpPr>
            <p:nvPr/>
          </p:nvSpPr>
          <p:spPr bwMode="auto">
            <a:xfrm>
              <a:off x="4691" y="3410"/>
              <a:ext cx="614"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8204" name="Rectangle 14"/>
            <p:cNvSpPr>
              <a:spLocks noChangeArrowheads="1"/>
            </p:cNvSpPr>
            <p:nvPr/>
          </p:nvSpPr>
          <p:spPr bwMode="auto">
            <a:xfrm>
              <a:off x="5253"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8205" name="Rectangle 15"/>
            <p:cNvSpPr>
              <a:spLocks noChangeArrowheads="1"/>
            </p:cNvSpPr>
            <p:nvPr/>
          </p:nvSpPr>
          <p:spPr bwMode="auto">
            <a:xfrm>
              <a:off x="5816"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8206" name="Rectangle 16"/>
            <p:cNvSpPr>
              <a:spLocks noChangeArrowheads="1"/>
            </p:cNvSpPr>
            <p:nvPr/>
          </p:nvSpPr>
          <p:spPr bwMode="auto">
            <a:xfrm>
              <a:off x="6380"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8207" name="Rectangle 17"/>
            <p:cNvSpPr>
              <a:spLocks noChangeArrowheads="1"/>
            </p:cNvSpPr>
            <p:nvPr/>
          </p:nvSpPr>
          <p:spPr bwMode="auto">
            <a:xfrm>
              <a:off x="6943"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8208" name="Rectangle 18"/>
            <p:cNvSpPr>
              <a:spLocks noChangeArrowheads="1"/>
            </p:cNvSpPr>
            <p:nvPr/>
          </p:nvSpPr>
          <p:spPr bwMode="auto">
            <a:xfrm>
              <a:off x="7506"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8209" name="Rectangle 19"/>
            <p:cNvSpPr>
              <a:spLocks noChangeArrowheads="1"/>
            </p:cNvSpPr>
            <p:nvPr/>
          </p:nvSpPr>
          <p:spPr bwMode="auto">
            <a:xfrm>
              <a:off x="8069"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8210" name="Rectangle 20"/>
            <p:cNvSpPr>
              <a:spLocks noChangeArrowheads="1"/>
            </p:cNvSpPr>
            <p:nvPr/>
          </p:nvSpPr>
          <p:spPr bwMode="auto">
            <a:xfrm>
              <a:off x="8632"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1</a:t>
              </a:r>
              <a:endParaRPr lang="en-US" altLang="en-US"/>
            </a:p>
          </p:txBody>
        </p:sp>
        <p:sp>
          <p:nvSpPr>
            <p:cNvPr id="8211" name="Rectangle 21"/>
            <p:cNvSpPr>
              <a:spLocks noChangeArrowheads="1"/>
            </p:cNvSpPr>
            <p:nvPr/>
          </p:nvSpPr>
          <p:spPr bwMode="auto">
            <a:xfrm>
              <a:off x="4127" y="2861"/>
              <a:ext cx="583"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dirty="0">
                  <a:solidFill>
                    <a:srgbClr val="0000FF"/>
                  </a:solidFill>
                  <a:latin typeface="Arial" pitchFamily="34" charset="0"/>
                </a:rPr>
                <a:t>1</a:t>
              </a:r>
              <a:endParaRPr lang="en-US" altLang="en-US" sz="2000" dirty="0">
                <a:solidFill>
                  <a:srgbClr val="0000FF"/>
                </a:solidFill>
              </a:endParaRPr>
            </a:p>
          </p:txBody>
        </p:sp>
        <p:sp>
          <p:nvSpPr>
            <p:cNvPr id="8212" name="Rectangle 22"/>
            <p:cNvSpPr>
              <a:spLocks noChangeArrowheads="1"/>
            </p:cNvSpPr>
            <p:nvPr/>
          </p:nvSpPr>
          <p:spPr bwMode="auto">
            <a:xfrm>
              <a:off x="4689" y="2861"/>
              <a:ext cx="584"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2</a:t>
              </a:r>
              <a:endParaRPr lang="en-US" altLang="en-US" sz="2000">
                <a:solidFill>
                  <a:srgbClr val="0000FF"/>
                </a:solidFill>
              </a:endParaRPr>
            </a:p>
          </p:txBody>
        </p:sp>
        <p:sp>
          <p:nvSpPr>
            <p:cNvPr id="8213" name="Rectangle 23"/>
            <p:cNvSpPr>
              <a:spLocks noChangeArrowheads="1"/>
            </p:cNvSpPr>
            <p:nvPr/>
          </p:nvSpPr>
          <p:spPr bwMode="auto">
            <a:xfrm>
              <a:off x="5253" y="2861"/>
              <a:ext cx="583"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3</a:t>
              </a:r>
              <a:endParaRPr lang="en-US" altLang="en-US" sz="2000">
                <a:solidFill>
                  <a:srgbClr val="0000FF"/>
                </a:solidFill>
              </a:endParaRPr>
            </a:p>
          </p:txBody>
        </p:sp>
        <p:sp>
          <p:nvSpPr>
            <p:cNvPr id="8214" name="Rectangle 24"/>
            <p:cNvSpPr>
              <a:spLocks noChangeArrowheads="1"/>
            </p:cNvSpPr>
            <p:nvPr/>
          </p:nvSpPr>
          <p:spPr bwMode="auto">
            <a:xfrm>
              <a:off x="5817" y="2861"/>
              <a:ext cx="584"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4</a:t>
              </a:r>
              <a:endParaRPr lang="en-US" altLang="en-US" sz="2000">
                <a:solidFill>
                  <a:srgbClr val="0000FF"/>
                </a:solidFill>
              </a:endParaRPr>
            </a:p>
          </p:txBody>
        </p:sp>
        <p:sp>
          <p:nvSpPr>
            <p:cNvPr id="8215" name="Rectangle 25"/>
            <p:cNvSpPr>
              <a:spLocks noChangeArrowheads="1"/>
            </p:cNvSpPr>
            <p:nvPr/>
          </p:nvSpPr>
          <p:spPr bwMode="auto">
            <a:xfrm>
              <a:off x="6380" y="2861"/>
              <a:ext cx="583"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5</a:t>
              </a:r>
              <a:endParaRPr lang="en-US" altLang="en-US" sz="2000">
                <a:solidFill>
                  <a:srgbClr val="0000FF"/>
                </a:solidFill>
              </a:endParaRPr>
            </a:p>
          </p:txBody>
        </p:sp>
        <p:sp>
          <p:nvSpPr>
            <p:cNvPr id="8216" name="Rectangle 26"/>
            <p:cNvSpPr>
              <a:spLocks noChangeArrowheads="1"/>
            </p:cNvSpPr>
            <p:nvPr/>
          </p:nvSpPr>
          <p:spPr bwMode="auto">
            <a:xfrm>
              <a:off x="6943" y="2861"/>
              <a:ext cx="583"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6</a:t>
              </a:r>
              <a:endParaRPr lang="en-US" altLang="en-US" sz="2000">
                <a:solidFill>
                  <a:srgbClr val="0000FF"/>
                </a:solidFill>
              </a:endParaRPr>
            </a:p>
          </p:txBody>
        </p:sp>
        <p:sp>
          <p:nvSpPr>
            <p:cNvPr id="8217" name="Rectangle 27"/>
            <p:cNvSpPr>
              <a:spLocks noChangeArrowheads="1"/>
            </p:cNvSpPr>
            <p:nvPr/>
          </p:nvSpPr>
          <p:spPr bwMode="auto">
            <a:xfrm>
              <a:off x="7506" y="2861"/>
              <a:ext cx="584"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7</a:t>
              </a:r>
              <a:endParaRPr lang="en-US" altLang="en-US" sz="2000">
                <a:solidFill>
                  <a:srgbClr val="0000FF"/>
                </a:solidFill>
              </a:endParaRPr>
            </a:p>
          </p:txBody>
        </p:sp>
        <p:sp>
          <p:nvSpPr>
            <p:cNvPr id="8218" name="Rectangle 28"/>
            <p:cNvSpPr>
              <a:spLocks noChangeArrowheads="1"/>
            </p:cNvSpPr>
            <p:nvPr/>
          </p:nvSpPr>
          <p:spPr bwMode="auto">
            <a:xfrm>
              <a:off x="8069" y="2861"/>
              <a:ext cx="583"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8</a:t>
              </a:r>
              <a:endParaRPr lang="en-US" altLang="en-US" sz="2000">
                <a:solidFill>
                  <a:srgbClr val="0000FF"/>
                </a:solidFill>
              </a:endParaRPr>
            </a:p>
          </p:txBody>
        </p:sp>
        <p:sp>
          <p:nvSpPr>
            <p:cNvPr id="8219" name="Rectangle 29"/>
            <p:cNvSpPr>
              <a:spLocks noChangeArrowheads="1"/>
            </p:cNvSpPr>
            <p:nvPr/>
          </p:nvSpPr>
          <p:spPr bwMode="auto">
            <a:xfrm>
              <a:off x="8632" y="2861"/>
              <a:ext cx="583"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9</a:t>
              </a:r>
              <a:endParaRPr lang="en-US" altLang="en-US" sz="2000">
                <a:solidFill>
                  <a:srgbClr val="0000FF"/>
                </a:solidFill>
              </a:endParaRPr>
            </a:p>
          </p:txBody>
        </p:sp>
        <p:sp>
          <p:nvSpPr>
            <p:cNvPr id="8220" name="Rectangle 30"/>
            <p:cNvSpPr>
              <a:spLocks noChangeArrowheads="1"/>
            </p:cNvSpPr>
            <p:nvPr/>
          </p:nvSpPr>
          <p:spPr bwMode="auto">
            <a:xfrm>
              <a:off x="3470" y="3410"/>
              <a:ext cx="584" cy="550"/>
            </a:xfrm>
            <a:prstGeom prst="rect">
              <a:avLst/>
            </a:prstGeom>
            <a:noFill/>
            <a:ln w="19050">
              <a:noFill/>
              <a:miter lim="800000"/>
              <a:headEnd/>
              <a:tailEnd/>
            </a:ln>
          </p:spPr>
          <p:txBody>
            <a:bodyPr tIns="0" bIns="0" anchor="ctr"/>
            <a:lstStyle/>
            <a:p>
              <a:pPr algn="ctr" eaLnBrk="1" hangingPunct="1">
                <a:spcAft>
                  <a:spcPts val="1000"/>
                </a:spcAft>
              </a:pPr>
              <a:r>
                <a:rPr lang="en-GB" altLang="en-US" sz="2000" dirty="0">
                  <a:solidFill>
                    <a:srgbClr val="0000FF"/>
                  </a:solidFill>
                  <a:latin typeface="Arial" pitchFamily="34" charset="0"/>
                </a:rPr>
                <a:t>1</a:t>
              </a:r>
              <a:endParaRPr lang="en-US" altLang="en-US" sz="2000" dirty="0">
                <a:solidFill>
                  <a:srgbClr val="0000FF"/>
                </a:solidFill>
              </a:endParaRPr>
            </a:p>
          </p:txBody>
        </p:sp>
        <p:sp>
          <p:nvSpPr>
            <p:cNvPr id="8221" name="Rectangle 31"/>
            <p:cNvSpPr>
              <a:spLocks noChangeArrowheads="1"/>
            </p:cNvSpPr>
            <p:nvPr/>
          </p:nvSpPr>
          <p:spPr bwMode="auto">
            <a:xfrm>
              <a:off x="4127" y="3960"/>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8222" name="Rectangle 32"/>
            <p:cNvSpPr>
              <a:spLocks noChangeArrowheads="1"/>
            </p:cNvSpPr>
            <p:nvPr/>
          </p:nvSpPr>
          <p:spPr bwMode="auto">
            <a:xfrm>
              <a:off x="4689" y="3960"/>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8223" name="Rectangle 33"/>
            <p:cNvSpPr>
              <a:spLocks noChangeArrowheads="1"/>
            </p:cNvSpPr>
            <p:nvPr/>
          </p:nvSpPr>
          <p:spPr bwMode="auto">
            <a:xfrm>
              <a:off x="5253" y="3960"/>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8224" name="Rectangle 34"/>
            <p:cNvSpPr>
              <a:spLocks noChangeArrowheads="1"/>
            </p:cNvSpPr>
            <p:nvPr/>
          </p:nvSpPr>
          <p:spPr bwMode="auto">
            <a:xfrm>
              <a:off x="5817" y="3960"/>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8225" name="Rectangle 35"/>
            <p:cNvSpPr>
              <a:spLocks noChangeArrowheads="1"/>
            </p:cNvSpPr>
            <p:nvPr/>
          </p:nvSpPr>
          <p:spPr bwMode="auto">
            <a:xfrm>
              <a:off x="6380" y="3960"/>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8226" name="Rectangle 36"/>
            <p:cNvSpPr>
              <a:spLocks noChangeArrowheads="1"/>
            </p:cNvSpPr>
            <p:nvPr/>
          </p:nvSpPr>
          <p:spPr bwMode="auto">
            <a:xfrm>
              <a:off x="6943" y="3960"/>
              <a:ext cx="584"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8227" name="Rectangle 37"/>
            <p:cNvSpPr>
              <a:spLocks noChangeArrowheads="1"/>
            </p:cNvSpPr>
            <p:nvPr/>
          </p:nvSpPr>
          <p:spPr bwMode="auto">
            <a:xfrm>
              <a:off x="7506" y="3960"/>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8228" name="Rectangle 38"/>
            <p:cNvSpPr>
              <a:spLocks noChangeArrowheads="1"/>
            </p:cNvSpPr>
            <p:nvPr/>
          </p:nvSpPr>
          <p:spPr bwMode="auto">
            <a:xfrm>
              <a:off x="8069" y="3960"/>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8229" name="Rectangle 39"/>
            <p:cNvSpPr>
              <a:spLocks noChangeArrowheads="1"/>
            </p:cNvSpPr>
            <p:nvPr/>
          </p:nvSpPr>
          <p:spPr bwMode="auto">
            <a:xfrm>
              <a:off x="8632" y="3960"/>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8230" name="Rectangle 40"/>
            <p:cNvSpPr>
              <a:spLocks noChangeArrowheads="1"/>
            </p:cNvSpPr>
            <p:nvPr/>
          </p:nvSpPr>
          <p:spPr bwMode="auto">
            <a:xfrm>
              <a:off x="3470" y="3960"/>
              <a:ext cx="584"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2</a:t>
              </a:r>
              <a:endParaRPr lang="en-US" altLang="en-US" sz="2000">
                <a:solidFill>
                  <a:srgbClr val="0000FF"/>
                </a:solidFill>
              </a:endParaRPr>
            </a:p>
          </p:txBody>
        </p:sp>
        <p:sp>
          <p:nvSpPr>
            <p:cNvPr id="8231" name="Rectangle 41"/>
            <p:cNvSpPr>
              <a:spLocks noChangeArrowheads="1"/>
            </p:cNvSpPr>
            <p:nvPr/>
          </p:nvSpPr>
          <p:spPr bwMode="auto">
            <a:xfrm>
              <a:off x="4127" y="450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8232" name="Rectangle 42"/>
            <p:cNvSpPr>
              <a:spLocks noChangeArrowheads="1"/>
            </p:cNvSpPr>
            <p:nvPr/>
          </p:nvSpPr>
          <p:spPr bwMode="auto">
            <a:xfrm>
              <a:off x="4691" y="4509"/>
              <a:ext cx="614"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8233" name="Rectangle 43"/>
            <p:cNvSpPr>
              <a:spLocks noChangeArrowheads="1"/>
            </p:cNvSpPr>
            <p:nvPr/>
          </p:nvSpPr>
          <p:spPr bwMode="auto">
            <a:xfrm>
              <a:off x="5253" y="450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8234" name="Rectangle 44"/>
            <p:cNvSpPr>
              <a:spLocks noChangeArrowheads="1"/>
            </p:cNvSpPr>
            <p:nvPr/>
          </p:nvSpPr>
          <p:spPr bwMode="auto">
            <a:xfrm>
              <a:off x="5817" y="450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8235" name="Rectangle 45"/>
            <p:cNvSpPr>
              <a:spLocks noChangeArrowheads="1"/>
            </p:cNvSpPr>
            <p:nvPr/>
          </p:nvSpPr>
          <p:spPr bwMode="auto">
            <a:xfrm>
              <a:off x="6380" y="450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7</a:t>
              </a:r>
              <a:endParaRPr lang="en-US" altLang="en-US"/>
            </a:p>
          </p:txBody>
        </p:sp>
        <p:sp>
          <p:nvSpPr>
            <p:cNvPr id="8236" name="Rectangle 46"/>
            <p:cNvSpPr>
              <a:spLocks noChangeArrowheads="1"/>
            </p:cNvSpPr>
            <p:nvPr/>
          </p:nvSpPr>
          <p:spPr bwMode="auto">
            <a:xfrm>
              <a:off x="6943" y="450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8237" name="Rectangle 47"/>
            <p:cNvSpPr>
              <a:spLocks noChangeArrowheads="1"/>
            </p:cNvSpPr>
            <p:nvPr/>
          </p:nvSpPr>
          <p:spPr bwMode="auto">
            <a:xfrm>
              <a:off x="7506" y="450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8238" name="Rectangle 48"/>
            <p:cNvSpPr>
              <a:spLocks noChangeArrowheads="1"/>
            </p:cNvSpPr>
            <p:nvPr/>
          </p:nvSpPr>
          <p:spPr bwMode="auto">
            <a:xfrm>
              <a:off x="8069" y="450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8239" name="Rectangle 49"/>
            <p:cNvSpPr>
              <a:spLocks noChangeArrowheads="1"/>
            </p:cNvSpPr>
            <p:nvPr/>
          </p:nvSpPr>
          <p:spPr bwMode="auto">
            <a:xfrm>
              <a:off x="8632" y="450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8240" name="Rectangle 50"/>
            <p:cNvSpPr>
              <a:spLocks noChangeArrowheads="1"/>
            </p:cNvSpPr>
            <p:nvPr/>
          </p:nvSpPr>
          <p:spPr bwMode="auto">
            <a:xfrm>
              <a:off x="3470" y="4509"/>
              <a:ext cx="584" cy="550"/>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3</a:t>
              </a:r>
              <a:endParaRPr lang="en-US" altLang="en-US" sz="2000">
                <a:solidFill>
                  <a:srgbClr val="0000FF"/>
                </a:solidFill>
              </a:endParaRPr>
            </a:p>
          </p:txBody>
        </p:sp>
        <p:sp>
          <p:nvSpPr>
            <p:cNvPr id="8241" name="Rectangle 51"/>
            <p:cNvSpPr>
              <a:spLocks noChangeArrowheads="1"/>
            </p:cNvSpPr>
            <p:nvPr/>
          </p:nvSpPr>
          <p:spPr bwMode="auto">
            <a:xfrm>
              <a:off x="4127" y="505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8242" name="Rectangle 52"/>
            <p:cNvSpPr>
              <a:spLocks noChangeArrowheads="1"/>
            </p:cNvSpPr>
            <p:nvPr/>
          </p:nvSpPr>
          <p:spPr bwMode="auto">
            <a:xfrm>
              <a:off x="4691" y="5059"/>
              <a:ext cx="614"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8243" name="Rectangle 53"/>
            <p:cNvSpPr>
              <a:spLocks noChangeArrowheads="1"/>
            </p:cNvSpPr>
            <p:nvPr/>
          </p:nvSpPr>
          <p:spPr bwMode="auto">
            <a:xfrm>
              <a:off x="5253" y="505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8244" name="Rectangle 54"/>
            <p:cNvSpPr>
              <a:spLocks noChangeArrowheads="1"/>
            </p:cNvSpPr>
            <p:nvPr/>
          </p:nvSpPr>
          <p:spPr bwMode="auto">
            <a:xfrm>
              <a:off x="5817" y="505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7</a:t>
              </a:r>
              <a:endParaRPr lang="en-US" altLang="en-US"/>
            </a:p>
          </p:txBody>
        </p:sp>
        <p:sp>
          <p:nvSpPr>
            <p:cNvPr id="8245" name="Rectangle 55"/>
            <p:cNvSpPr>
              <a:spLocks noChangeArrowheads="1"/>
            </p:cNvSpPr>
            <p:nvPr/>
          </p:nvSpPr>
          <p:spPr bwMode="auto">
            <a:xfrm>
              <a:off x="6380" y="505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8</a:t>
              </a:r>
              <a:endParaRPr lang="en-US" altLang="en-US"/>
            </a:p>
          </p:txBody>
        </p:sp>
        <p:sp>
          <p:nvSpPr>
            <p:cNvPr id="8246" name="Rectangle 56"/>
            <p:cNvSpPr>
              <a:spLocks noChangeArrowheads="1"/>
            </p:cNvSpPr>
            <p:nvPr/>
          </p:nvSpPr>
          <p:spPr bwMode="auto">
            <a:xfrm>
              <a:off x="6943" y="505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7</a:t>
              </a:r>
              <a:endParaRPr lang="en-US" altLang="en-US"/>
            </a:p>
          </p:txBody>
        </p:sp>
        <p:sp>
          <p:nvSpPr>
            <p:cNvPr id="8247" name="Rectangle 57"/>
            <p:cNvSpPr>
              <a:spLocks noChangeArrowheads="1"/>
            </p:cNvSpPr>
            <p:nvPr/>
          </p:nvSpPr>
          <p:spPr bwMode="auto">
            <a:xfrm>
              <a:off x="7506" y="505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8248" name="Rectangle 58"/>
            <p:cNvSpPr>
              <a:spLocks noChangeArrowheads="1"/>
            </p:cNvSpPr>
            <p:nvPr/>
          </p:nvSpPr>
          <p:spPr bwMode="auto">
            <a:xfrm>
              <a:off x="8069" y="505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8249" name="Rectangle 59"/>
            <p:cNvSpPr>
              <a:spLocks noChangeArrowheads="1"/>
            </p:cNvSpPr>
            <p:nvPr/>
          </p:nvSpPr>
          <p:spPr bwMode="auto">
            <a:xfrm>
              <a:off x="8632" y="505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8250" name="Rectangle 60"/>
            <p:cNvSpPr>
              <a:spLocks noChangeArrowheads="1"/>
            </p:cNvSpPr>
            <p:nvPr/>
          </p:nvSpPr>
          <p:spPr bwMode="auto">
            <a:xfrm>
              <a:off x="3470" y="5059"/>
              <a:ext cx="584" cy="550"/>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4</a:t>
              </a:r>
              <a:endParaRPr lang="en-US" altLang="en-US" sz="2000">
                <a:solidFill>
                  <a:srgbClr val="0000FF"/>
                </a:solidFill>
              </a:endParaRPr>
            </a:p>
          </p:txBody>
        </p:sp>
        <p:sp>
          <p:nvSpPr>
            <p:cNvPr id="8251" name="Rectangle 61"/>
            <p:cNvSpPr>
              <a:spLocks noChangeArrowheads="1"/>
            </p:cNvSpPr>
            <p:nvPr/>
          </p:nvSpPr>
          <p:spPr bwMode="auto">
            <a:xfrm>
              <a:off x="4127" y="5609"/>
              <a:ext cx="615" cy="548"/>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8252" name="Rectangle 62"/>
            <p:cNvSpPr>
              <a:spLocks noChangeArrowheads="1"/>
            </p:cNvSpPr>
            <p:nvPr/>
          </p:nvSpPr>
          <p:spPr bwMode="auto">
            <a:xfrm>
              <a:off x="4691" y="5609"/>
              <a:ext cx="614" cy="548"/>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8253" name="Rectangle 63"/>
            <p:cNvSpPr>
              <a:spLocks noChangeArrowheads="1"/>
            </p:cNvSpPr>
            <p:nvPr/>
          </p:nvSpPr>
          <p:spPr bwMode="auto">
            <a:xfrm>
              <a:off x="5253" y="5609"/>
              <a:ext cx="615" cy="548"/>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7</a:t>
              </a:r>
              <a:endParaRPr lang="en-US" altLang="en-US"/>
            </a:p>
          </p:txBody>
        </p:sp>
        <p:sp>
          <p:nvSpPr>
            <p:cNvPr id="8254" name="Rectangle 64"/>
            <p:cNvSpPr>
              <a:spLocks noChangeArrowheads="1"/>
            </p:cNvSpPr>
            <p:nvPr/>
          </p:nvSpPr>
          <p:spPr bwMode="auto">
            <a:xfrm>
              <a:off x="5817" y="5609"/>
              <a:ext cx="615" cy="548"/>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8</a:t>
              </a:r>
              <a:endParaRPr lang="en-US" altLang="en-US"/>
            </a:p>
          </p:txBody>
        </p:sp>
        <p:sp>
          <p:nvSpPr>
            <p:cNvPr id="4159" name="Rectangle 65"/>
            <p:cNvSpPr>
              <a:spLocks noChangeArrowheads="1"/>
            </p:cNvSpPr>
            <p:nvPr/>
          </p:nvSpPr>
          <p:spPr bwMode="auto">
            <a:xfrm>
              <a:off x="6379" y="5610"/>
              <a:ext cx="616" cy="548"/>
            </a:xfrm>
            <a:prstGeom prst="rect">
              <a:avLst/>
            </a:prstGeom>
            <a:solidFill>
              <a:schemeClr val="tx2">
                <a:lumMod val="60000"/>
                <a:lumOff val="40000"/>
              </a:schemeClr>
            </a:solidFill>
            <a:ln w="19050">
              <a:solidFill>
                <a:srgbClr val="000000"/>
              </a:solidFill>
              <a:miter lim="800000"/>
              <a:headEnd/>
              <a:tailEnd/>
            </a:ln>
          </p:spPr>
          <p:txBody>
            <a:bodyPr tIns="0" bIns="0" anchor="ctr"/>
            <a:lstStyle/>
            <a:p>
              <a:pPr algn="ctr" eaLnBrk="1" hangingPunct="1">
                <a:spcAft>
                  <a:spcPts val="1000"/>
                </a:spcAft>
                <a:defRPr/>
              </a:pPr>
              <a:r>
                <a:rPr lang="en-GB" dirty="0">
                  <a:solidFill>
                    <a:srgbClr val="000000"/>
                  </a:solidFill>
                  <a:latin typeface="Arial" charset="0"/>
                </a:rPr>
                <a:t>9</a:t>
              </a:r>
              <a:endParaRPr lang="en-US" dirty="0"/>
            </a:p>
          </p:txBody>
        </p:sp>
        <p:sp>
          <p:nvSpPr>
            <p:cNvPr id="8256" name="Rectangle 66"/>
            <p:cNvSpPr>
              <a:spLocks noChangeArrowheads="1"/>
            </p:cNvSpPr>
            <p:nvPr/>
          </p:nvSpPr>
          <p:spPr bwMode="auto">
            <a:xfrm>
              <a:off x="6943" y="5609"/>
              <a:ext cx="615" cy="548"/>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8</a:t>
              </a:r>
              <a:endParaRPr lang="en-US" altLang="en-US"/>
            </a:p>
          </p:txBody>
        </p:sp>
        <p:sp>
          <p:nvSpPr>
            <p:cNvPr id="8257" name="Rectangle 67"/>
            <p:cNvSpPr>
              <a:spLocks noChangeArrowheads="1"/>
            </p:cNvSpPr>
            <p:nvPr/>
          </p:nvSpPr>
          <p:spPr bwMode="auto">
            <a:xfrm>
              <a:off x="7506" y="5609"/>
              <a:ext cx="615" cy="548"/>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7</a:t>
              </a:r>
              <a:endParaRPr lang="en-US" altLang="en-US"/>
            </a:p>
          </p:txBody>
        </p:sp>
        <p:sp>
          <p:nvSpPr>
            <p:cNvPr id="8258" name="Rectangle 68"/>
            <p:cNvSpPr>
              <a:spLocks noChangeArrowheads="1"/>
            </p:cNvSpPr>
            <p:nvPr/>
          </p:nvSpPr>
          <p:spPr bwMode="auto">
            <a:xfrm>
              <a:off x="8069" y="5609"/>
              <a:ext cx="615" cy="548"/>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8259" name="Rectangle 69"/>
            <p:cNvSpPr>
              <a:spLocks noChangeArrowheads="1"/>
            </p:cNvSpPr>
            <p:nvPr/>
          </p:nvSpPr>
          <p:spPr bwMode="auto">
            <a:xfrm>
              <a:off x="8632" y="5609"/>
              <a:ext cx="615" cy="548"/>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8260" name="Rectangle 70"/>
            <p:cNvSpPr>
              <a:spLocks noChangeArrowheads="1"/>
            </p:cNvSpPr>
            <p:nvPr/>
          </p:nvSpPr>
          <p:spPr bwMode="auto">
            <a:xfrm>
              <a:off x="3470" y="5609"/>
              <a:ext cx="584" cy="548"/>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5</a:t>
              </a:r>
              <a:endParaRPr lang="en-US" altLang="en-US" sz="2000">
                <a:solidFill>
                  <a:srgbClr val="0000FF"/>
                </a:solidFill>
              </a:endParaRPr>
            </a:p>
          </p:txBody>
        </p:sp>
        <p:sp>
          <p:nvSpPr>
            <p:cNvPr id="8261" name="Rectangle 71"/>
            <p:cNvSpPr>
              <a:spLocks noChangeArrowheads="1"/>
            </p:cNvSpPr>
            <p:nvPr/>
          </p:nvSpPr>
          <p:spPr bwMode="auto">
            <a:xfrm>
              <a:off x="4127" y="6157"/>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8262" name="Rectangle 72"/>
            <p:cNvSpPr>
              <a:spLocks noChangeArrowheads="1"/>
            </p:cNvSpPr>
            <p:nvPr/>
          </p:nvSpPr>
          <p:spPr bwMode="auto">
            <a:xfrm>
              <a:off x="4691" y="6157"/>
              <a:ext cx="614"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8263" name="Rectangle 73"/>
            <p:cNvSpPr>
              <a:spLocks noChangeArrowheads="1"/>
            </p:cNvSpPr>
            <p:nvPr/>
          </p:nvSpPr>
          <p:spPr bwMode="auto">
            <a:xfrm>
              <a:off x="5253" y="6157"/>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8264" name="Rectangle 74"/>
            <p:cNvSpPr>
              <a:spLocks noChangeArrowheads="1"/>
            </p:cNvSpPr>
            <p:nvPr/>
          </p:nvSpPr>
          <p:spPr bwMode="auto">
            <a:xfrm>
              <a:off x="5817" y="6157"/>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7</a:t>
              </a:r>
              <a:endParaRPr lang="en-US" altLang="en-US"/>
            </a:p>
          </p:txBody>
        </p:sp>
        <p:sp>
          <p:nvSpPr>
            <p:cNvPr id="8265" name="Rectangle 75"/>
            <p:cNvSpPr>
              <a:spLocks noChangeArrowheads="1"/>
            </p:cNvSpPr>
            <p:nvPr/>
          </p:nvSpPr>
          <p:spPr bwMode="auto">
            <a:xfrm>
              <a:off x="6380" y="6157"/>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8</a:t>
              </a:r>
              <a:endParaRPr lang="en-US" altLang="en-US"/>
            </a:p>
          </p:txBody>
        </p:sp>
        <p:sp>
          <p:nvSpPr>
            <p:cNvPr id="8266" name="Rectangle 76"/>
            <p:cNvSpPr>
              <a:spLocks noChangeArrowheads="1"/>
            </p:cNvSpPr>
            <p:nvPr/>
          </p:nvSpPr>
          <p:spPr bwMode="auto">
            <a:xfrm>
              <a:off x="6943" y="6157"/>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7</a:t>
              </a:r>
              <a:endParaRPr lang="en-US" altLang="en-US"/>
            </a:p>
          </p:txBody>
        </p:sp>
        <p:sp>
          <p:nvSpPr>
            <p:cNvPr id="8267" name="Rectangle 77"/>
            <p:cNvSpPr>
              <a:spLocks noChangeArrowheads="1"/>
            </p:cNvSpPr>
            <p:nvPr/>
          </p:nvSpPr>
          <p:spPr bwMode="auto">
            <a:xfrm>
              <a:off x="7506" y="6157"/>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8268" name="Rectangle 78"/>
            <p:cNvSpPr>
              <a:spLocks noChangeArrowheads="1"/>
            </p:cNvSpPr>
            <p:nvPr/>
          </p:nvSpPr>
          <p:spPr bwMode="auto">
            <a:xfrm>
              <a:off x="8069" y="6157"/>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8269" name="Rectangle 79"/>
            <p:cNvSpPr>
              <a:spLocks noChangeArrowheads="1"/>
            </p:cNvSpPr>
            <p:nvPr/>
          </p:nvSpPr>
          <p:spPr bwMode="auto">
            <a:xfrm>
              <a:off x="8632" y="6157"/>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8270" name="Rectangle 80"/>
            <p:cNvSpPr>
              <a:spLocks noChangeArrowheads="1"/>
            </p:cNvSpPr>
            <p:nvPr/>
          </p:nvSpPr>
          <p:spPr bwMode="auto">
            <a:xfrm>
              <a:off x="3470" y="6157"/>
              <a:ext cx="584" cy="550"/>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6</a:t>
              </a:r>
              <a:endParaRPr lang="en-US" altLang="en-US" sz="2000">
                <a:solidFill>
                  <a:srgbClr val="0000FF"/>
                </a:solidFill>
              </a:endParaRPr>
            </a:p>
          </p:txBody>
        </p:sp>
        <p:sp>
          <p:nvSpPr>
            <p:cNvPr id="8271" name="Rectangle 81"/>
            <p:cNvSpPr>
              <a:spLocks noChangeArrowheads="1"/>
            </p:cNvSpPr>
            <p:nvPr/>
          </p:nvSpPr>
          <p:spPr bwMode="auto">
            <a:xfrm>
              <a:off x="4127" y="6707"/>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8272" name="Rectangle 82"/>
            <p:cNvSpPr>
              <a:spLocks noChangeArrowheads="1"/>
            </p:cNvSpPr>
            <p:nvPr/>
          </p:nvSpPr>
          <p:spPr bwMode="auto">
            <a:xfrm>
              <a:off x="4691" y="6707"/>
              <a:ext cx="614"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8273" name="Rectangle 83"/>
            <p:cNvSpPr>
              <a:spLocks noChangeArrowheads="1"/>
            </p:cNvSpPr>
            <p:nvPr/>
          </p:nvSpPr>
          <p:spPr bwMode="auto">
            <a:xfrm>
              <a:off x="5253" y="6707"/>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8274" name="Rectangle 84"/>
            <p:cNvSpPr>
              <a:spLocks noChangeArrowheads="1"/>
            </p:cNvSpPr>
            <p:nvPr/>
          </p:nvSpPr>
          <p:spPr bwMode="auto">
            <a:xfrm>
              <a:off x="5817" y="6707"/>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8275" name="Rectangle 85"/>
            <p:cNvSpPr>
              <a:spLocks noChangeArrowheads="1"/>
            </p:cNvSpPr>
            <p:nvPr/>
          </p:nvSpPr>
          <p:spPr bwMode="auto">
            <a:xfrm>
              <a:off x="6380" y="6707"/>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7</a:t>
              </a:r>
              <a:endParaRPr lang="en-US" altLang="en-US"/>
            </a:p>
          </p:txBody>
        </p:sp>
        <p:sp>
          <p:nvSpPr>
            <p:cNvPr id="8276" name="Rectangle 86"/>
            <p:cNvSpPr>
              <a:spLocks noChangeArrowheads="1"/>
            </p:cNvSpPr>
            <p:nvPr/>
          </p:nvSpPr>
          <p:spPr bwMode="auto">
            <a:xfrm>
              <a:off x="6943" y="6707"/>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8277" name="Rectangle 87"/>
            <p:cNvSpPr>
              <a:spLocks noChangeArrowheads="1"/>
            </p:cNvSpPr>
            <p:nvPr/>
          </p:nvSpPr>
          <p:spPr bwMode="auto">
            <a:xfrm>
              <a:off x="7506" y="6707"/>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8278" name="Rectangle 88"/>
            <p:cNvSpPr>
              <a:spLocks noChangeArrowheads="1"/>
            </p:cNvSpPr>
            <p:nvPr/>
          </p:nvSpPr>
          <p:spPr bwMode="auto">
            <a:xfrm>
              <a:off x="8069" y="6707"/>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8279" name="Rectangle 89"/>
            <p:cNvSpPr>
              <a:spLocks noChangeArrowheads="1"/>
            </p:cNvSpPr>
            <p:nvPr/>
          </p:nvSpPr>
          <p:spPr bwMode="auto">
            <a:xfrm>
              <a:off x="8632" y="6707"/>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8280" name="Rectangle 90"/>
            <p:cNvSpPr>
              <a:spLocks noChangeArrowheads="1"/>
            </p:cNvSpPr>
            <p:nvPr/>
          </p:nvSpPr>
          <p:spPr bwMode="auto">
            <a:xfrm>
              <a:off x="3470" y="6707"/>
              <a:ext cx="584"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7</a:t>
              </a:r>
              <a:endParaRPr lang="en-US" altLang="en-US" sz="2000">
                <a:solidFill>
                  <a:srgbClr val="0000FF"/>
                </a:solidFill>
              </a:endParaRPr>
            </a:p>
          </p:txBody>
        </p:sp>
        <p:sp>
          <p:nvSpPr>
            <p:cNvPr id="8281" name="Rectangle 91"/>
            <p:cNvSpPr>
              <a:spLocks noChangeArrowheads="1"/>
            </p:cNvSpPr>
            <p:nvPr/>
          </p:nvSpPr>
          <p:spPr bwMode="auto">
            <a:xfrm>
              <a:off x="4127" y="7256"/>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8282" name="Rectangle 92"/>
            <p:cNvSpPr>
              <a:spLocks noChangeArrowheads="1"/>
            </p:cNvSpPr>
            <p:nvPr/>
          </p:nvSpPr>
          <p:spPr bwMode="auto">
            <a:xfrm>
              <a:off x="4691" y="7256"/>
              <a:ext cx="614"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8283" name="Rectangle 93"/>
            <p:cNvSpPr>
              <a:spLocks noChangeArrowheads="1"/>
            </p:cNvSpPr>
            <p:nvPr/>
          </p:nvSpPr>
          <p:spPr bwMode="auto">
            <a:xfrm>
              <a:off x="5253" y="7256"/>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8284" name="Rectangle 94"/>
            <p:cNvSpPr>
              <a:spLocks noChangeArrowheads="1"/>
            </p:cNvSpPr>
            <p:nvPr/>
          </p:nvSpPr>
          <p:spPr bwMode="auto">
            <a:xfrm>
              <a:off x="5817" y="7256"/>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8285" name="Rectangle 95"/>
            <p:cNvSpPr>
              <a:spLocks noChangeArrowheads="1"/>
            </p:cNvSpPr>
            <p:nvPr/>
          </p:nvSpPr>
          <p:spPr bwMode="auto">
            <a:xfrm>
              <a:off x="6380" y="7256"/>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8286" name="Rectangle 96"/>
            <p:cNvSpPr>
              <a:spLocks noChangeArrowheads="1"/>
            </p:cNvSpPr>
            <p:nvPr/>
          </p:nvSpPr>
          <p:spPr bwMode="auto">
            <a:xfrm>
              <a:off x="6943" y="7256"/>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8287" name="Rectangle 97"/>
            <p:cNvSpPr>
              <a:spLocks noChangeArrowheads="1"/>
            </p:cNvSpPr>
            <p:nvPr/>
          </p:nvSpPr>
          <p:spPr bwMode="auto">
            <a:xfrm>
              <a:off x="7506" y="7256"/>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8288" name="Rectangle 98"/>
            <p:cNvSpPr>
              <a:spLocks noChangeArrowheads="1"/>
            </p:cNvSpPr>
            <p:nvPr/>
          </p:nvSpPr>
          <p:spPr bwMode="auto">
            <a:xfrm>
              <a:off x="8069" y="7256"/>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8289" name="Rectangle 99"/>
            <p:cNvSpPr>
              <a:spLocks noChangeArrowheads="1"/>
            </p:cNvSpPr>
            <p:nvPr/>
          </p:nvSpPr>
          <p:spPr bwMode="auto">
            <a:xfrm>
              <a:off x="8632" y="7256"/>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8290" name="Rectangle 100"/>
            <p:cNvSpPr>
              <a:spLocks noChangeArrowheads="1"/>
            </p:cNvSpPr>
            <p:nvPr/>
          </p:nvSpPr>
          <p:spPr bwMode="auto">
            <a:xfrm>
              <a:off x="3470" y="7256"/>
              <a:ext cx="584" cy="550"/>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8</a:t>
              </a:r>
              <a:endParaRPr lang="en-US" altLang="en-US" sz="2000">
                <a:solidFill>
                  <a:srgbClr val="0000FF"/>
                </a:solidFill>
              </a:endParaRPr>
            </a:p>
          </p:txBody>
        </p:sp>
        <p:sp>
          <p:nvSpPr>
            <p:cNvPr id="8291" name="Rectangle 101"/>
            <p:cNvSpPr>
              <a:spLocks noChangeArrowheads="1"/>
            </p:cNvSpPr>
            <p:nvPr/>
          </p:nvSpPr>
          <p:spPr bwMode="auto">
            <a:xfrm>
              <a:off x="4127"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1</a:t>
              </a:r>
              <a:endParaRPr lang="en-US" altLang="en-US"/>
            </a:p>
          </p:txBody>
        </p:sp>
        <p:sp>
          <p:nvSpPr>
            <p:cNvPr id="8292" name="Rectangle 102"/>
            <p:cNvSpPr>
              <a:spLocks noChangeArrowheads="1"/>
            </p:cNvSpPr>
            <p:nvPr/>
          </p:nvSpPr>
          <p:spPr bwMode="auto">
            <a:xfrm>
              <a:off x="4691" y="7806"/>
              <a:ext cx="614"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8293" name="Rectangle 103"/>
            <p:cNvSpPr>
              <a:spLocks noChangeArrowheads="1"/>
            </p:cNvSpPr>
            <p:nvPr/>
          </p:nvSpPr>
          <p:spPr bwMode="auto">
            <a:xfrm>
              <a:off x="5253"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8294" name="Rectangle 104"/>
            <p:cNvSpPr>
              <a:spLocks noChangeArrowheads="1"/>
            </p:cNvSpPr>
            <p:nvPr/>
          </p:nvSpPr>
          <p:spPr bwMode="auto">
            <a:xfrm>
              <a:off x="5817"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8295" name="Rectangle 105"/>
            <p:cNvSpPr>
              <a:spLocks noChangeArrowheads="1"/>
            </p:cNvSpPr>
            <p:nvPr/>
          </p:nvSpPr>
          <p:spPr bwMode="auto">
            <a:xfrm>
              <a:off x="6380"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8296" name="Rectangle 106"/>
            <p:cNvSpPr>
              <a:spLocks noChangeArrowheads="1"/>
            </p:cNvSpPr>
            <p:nvPr/>
          </p:nvSpPr>
          <p:spPr bwMode="auto">
            <a:xfrm>
              <a:off x="6943"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8297" name="Rectangle 107"/>
            <p:cNvSpPr>
              <a:spLocks noChangeArrowheads="1"/>
            </p:cNvSpPr>
            <p:nvPr/>
          </p:nvSpPr>
          <p:spPr bwMode="auto">
            <a:xfrm>
              <a:off x="7506"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8298" name="Rectangle 108"/>
            <p:cNvSpPr>
              <a:spLocks noChangeArrowheads="1"/>
            </p:cNvSpPr>
            <p:nvPr/>
          </p:nvSpPr>
          <p:spPr bwMode="auto">
            <a:xfrm>
              <a:off x="8069"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8299" name="Rectangle 109"/>
            <p:cNvSpPr>
              <a:spLocks noChangeArrowheads="1"/>
            </p:cNvSpPr>
            <p:nvPr/>
          </p:nvSpPr>
          <p:spPr bwMode="auto">
            <a:xfrm>
              <a:off x="8632"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1</a:t>
              </a:r>
              <a:endParaRPr lang="en-US" altLang="en-US"/>
            </a:p>
          </p:txBody>
        </p:sp>
        <p:sp>
          <p:nvSpPr>
            <p:cNvPr id="8300" name="Rectangle 110"/>
            <p:cNvSpPr>
              <a:spLocks noChangeArrowheads="1"/>
            </p:cNvSpPr>
            <p:nvPr/>
          </p:nvSpPr>
          <p:spPr bwMode="auto">
            <a:xfrm>
              <a:off x="3470" y="7806"/>
              <a:ext cx="584"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9</a:t>
              </a:r>
              <a:endParaRPr lang="en-US" altLang="en-US" sz="2000">
                <a:solidFill>
                  <a:srgbClr val="0000FF"/>
                </a:solidFill>
              </a:endParaRPr>
            </a:p>
          </p:txBody>
        </p:sp>
        <p:sp>
          <p:nvSpPr>
            <p:cNvPr id="8301" name="Rectangle 111"/>
            <p:cNvSpPr>
              <a:spLocks noChangeArrowheads="1"/>
            </p:cNvSpPr>
            <p:nvPr/>
          </p:nvSpPr>
          <p:spPr bwMode="auto">
            <a:xfrm>
              <a:off x="5666" y="2325"/>
              <a:ext cx="1284" cy="549"/>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flour</a:t>
              </a:r>
              <a:endParaRPr lang="en-US" altLang="en-US"/>
            </a:p>
          </p:txBody>
        </p:sp>
        <p:sp>
          <p:nvSpPr>
            <p:cNvPr id="8302" name="Rectangle 112"/>
            <p:cNvSpPr>
              <a:spLocks noChangeArrowheads="1"/>
            </p:cNvSpPr>
            <p:nvPr/>
          </p:nvSpPr>
          <p:spPr bwMode="auto">
            <a:xfrm rot="-5400000">
              <a:off x="2386" y="5485"/>
              <a:ext cx="1571" cy="563"/>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sugar</a:t>
              </a:r>
              <a:endParaRPr lang="en-US" altLang="en-US"/>
            </a:p>
          </p:txBody>
        </p:sp>
      </p:grpSp>
      <p:pic>
        <p:nvPicPr>
          <p:cNvPr id="4208" name="Picture 112" descr="Chocolate Chip Cookies Recipe"/>
          <p:cNvPicPr>
            <a:picLocks noChangeAspect="1" noChangeArrowheads="1"/>
          </p:cNvPicPr>
          <p:nvPr/>
        </p:nvPicPr>
        <p:blipFill>
          <a:blip r:embed="rId2" cstate="print"/>
          <a:srcRect l="19200" t="21687" r="16000" b="2409"/>
          <a:stretch>
            <a:fillRect/>
          </a:stretch>
        </p:blipFill>
        <p:spPr bwMode="auto">
          <a:xfrm>
            <a:off x="430653" y="1951936"/>
            <a:ext cx="3086100" cy="24003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21"/>
                                        </p:tgtEl>
                                        <p:attrNameLst>
                                          <p:attrName>style.visibility</p:attrName>
                                        </p:attrNameLst>
                                      </p:cBhvr>
                                      <p:to>
                                        <p:strVal val="visible"/>
                                      </p:to>
                                    </p:set>
                                    <p:anim calcmode="lin" valueType="num">
                                      <p:cBhvr additive="base">
                                        <p:cTn id="7" dur="500" fill="hold"/>
                                        <p:tgtEl>
                                          <p:spTgt spid="9221"/>
                                        </p:tgtEl>
                                        <p:attrNameLst>
                                          <p:attrName>ppt_x</p:attrName>
                                        </p:attrNameLst>
                                      </p:cBhvr>
                                      <p:tavLst>
                                        <p:tav tm="0">
                                          <p:val>
                                            <p:strVal val="0-#ppt_w/2"/>
                                          </p:val>
                                        </p:tav>
                                        <p:tav tm="100000">
                                          <p:val>
                                            <p:strVal val="#ppt_x"/>
                                          </p:val>
                                        </p:tav>
                                      </p:tavLst>
                                    </p:anim>
                                    <p:anim calcmode="lin" valueType="num">
                                      <p:cBhvr additive="base">
                                        <p:cTn id="8" dur="500" fill="hold"/>
                                        <p:tgtEl>
                                          <p:spTgt spid="922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208"/>
                                        </p:tgtEl>
                                        <p:attrNameLst>
                                          <p:attrName>style.visibility</p:attrName>
                                        </p:attrNameLst>
                                      </p:cBhvr>
                                      <p:to>
                                        <p:strVal val="visible"/>
                                      </p:to>
                                    </p:set>
                                    <p:anim calcmode="lin" valueType="num">
                                      <p:cBhvr additive="base">
                                        <p:cTn id="13" dur="1000" fill="hold"/>
                                        <p:tgtEl>
                                          <p:spTgt spid="4208"/>
                                        </p:tgtEl>
                                        <p:attrNameLst>
                                          <p:attrName>ppt_x</p:attrName>
                                        </p:attrNameLst>
                                      </p:cBhvr>
                                      <p:tavLst>
                                        <p:tav tm="0">
                                          <p:val>
                                            <p:strVal val="0-#ppt_w/2"/>
                                          </p:val>
                                        </p:tav>
                                        <p:tav tm="100000">
                                          <p:val>
                                            <p:strVal val="#ppt_x"/>
                                          </p:val>
                                        </p:tav>
                                      </p:tavLst>
                                    </p:anim>
                                    <p:anim calcmode="lin" valueType="num">
                                      <p:cBhvr additive="base">
                                        <p:cTn id="14" dur="1000" fill="hold"/>
                                        <p:tgtEl>
                                          <p:spTgt spid="420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up)">
                                      <p:cBhvr>
                                        <p:cTn id="19" dur="2000"/>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2">
                                            <p:txEl>
                                              <p:pRg st="0" end="0"/>
                                            </p:txEl>
                                          </p:spTgt>
                                        </p:tgtEl>
                                        <p:attrNameLst>
                                          <p:attrName>style.visibility</p:attrName>
                                        </p:attrNameLst>
                                      </p:cBhvr>
                                      <p:to>
                                        <p:strVal val="visible"/>
                                      </p:to>
                                    </p:set>
                                    <p:animEffect transition="in" filter="dissolve">
                                      <p:cBhvr>
                                        <p:cTn id="24"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autoUpdateAnimBg="0"/>
      <p:bldP spid="12"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Date Placeholder 3"/>
          <p:cNvSpPr>
            <a:spLocks noGrp="1"/>
          </p:cNvSpPr>
          <p:nvPr>
            <p:ph type="dt" sz="quarter" idx="10"/>
          </p:nvPr>
        </p:nvSpPr>
        <p:spPr>
          <a:noFill/>
        </p:spPr>
        <p:txBody>
          <a:bodyPr/>
          <a:lstStyle/>
          <a:p>
            <a:fld id="{BC5FAEA2-71FF-473A-AF07-5A99EBF240B3}" type="datetime1">
              <a:rPr lang="en-GB" altLang="en-US" smtClean="0"/>
              <a:pPr/>
              <a:t>17/02/2026</a:t>
            </a:fld>
            <a:endParaRPr lang="en-GB" altLang="en-US"/>
          </a:p>
        </p:txBody>
      </p:sp>
      <p:sp>
        <p:nvSpPr>
          <p:cNvPr id="9220" name="Slide Number Placeholder 5"/>
          <p:cNvSpPr>
            <a:spLocks noGrp="1"/>
          </p:cNvSpPr>
          <p:nvPr>
            <p:ph type="sldNum" sz="quarter" idx="12"/>
          </p:nvPr>
        </p:nvSpPr>
        <p:spPr>
          <a:noFill/>
        </p:spPr>
        <p:txBody>
          <a:bodyPr/>
          <a:lstStyle/>
          <a:p>
            <a:fld id="{EEBE7649-7D86-40D5-905D-45145A10880E}" type="slidenum">
              <a:rPr lang="en-GB" altLang="en-US" smtClean="0"/>
              <a:pPr/>
              <a:t>3</a:t>
            </a:fld>
            <a:endParaRPr lang="en-GB" altLang="en-US"/>
          </a:p>
        </p:txBody>
      </p:sp>
      <p:sp>
        <p:nvSpPr>
          <p:cNvPr id="9221"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9222" name="Rectangle 1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4347" name="Rectangle 3"/>
          <p:cNvSpPr>
            <a:spLocks noChangeArrowheads="1"/>
          </p:cNvSpPr>
          <p:nvPr/>
        </p:nvSpPr>
        <p:spPr bwMode="auto">
          <a:xfrm>
            <a:off x="521449" y="2608223"/>
            <a:ext cx="8409886" cy="787478"/>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dirty="0"/>
              <a:t>For example, a combination </a:t>
            </a:r>
            <a:r>
              <a:rPr lang="en-US" altLang="en-US" dirty="0">
                <a:solidFill>
                  <a:srgbClr val="0000FF"/>
                </a:solidFill>
              </a:rPr>
              <a:t>4:2</a:t>
            </a:r>
            <a:r>
              <a:rPr lang="en-US" altLang="en-US" dirty="0"/>
              <a:t> (</a:t>
            </a:r>
            <a:r>
              <a:rPr lang="en-US" altLang="en-US" dirty="0">
                <a:solidFill>
                  <a:srgbClr val="0000FF"/>
                </a:solidFill>
              </a:rPr>
              <a:t>4</a:t>
            </a:r>
            <a:r>
              <a:rPr lang="en-US" altLang="en-US" dirty="0"/>
              <a:t> kilos of sugar and </a:t>
            </a:r>
            <a:r>
              <a:rPr lang="en-US" altLang="en-US" dirty="0">
                <a:solidFill>
                  <a:srgbClr val="0000FF"/>
                </a:solidFill>
              </a:rPr>
              <a:t>2</a:t>
            </a:r>
            <a:r>
              <a:rPr lang="en-US" altLang="en-US" dirty="0"/>
              <a:t> kilos of flour) is evaluated with a quality value of 5 (fig.1).</a:t>
            </a:r>
            <a:endParaRPr lang="en-GB" altLang="en-US" dirty="0"/>
          </a:p>
        </p:txBody>
      </p:sp>
      <p:grpSp>
        <p:nvGrpSpPr>
          <p:cNvPr id="2" name="Group 22"/>
          <p:cNvGrpSpPr>
            <a:grpSpLocks/>
          </p:cNvGrpSpPr>
          <p:nvPr/>
        </p:nvGrpSpPr>
        <p:grpSpPr bwMode="auto">
          <a:xfrm>
            <a:off x="1691680" y="278387"/>
            <a:ext cx="2960687" cy="963612"/>
            <a:chOff x="2052603" y="361908"/>
            <a:chExt cx="2960689" cy="963066"/>
          </a:xfrm>
        </p:grpSpPr>
        <p:grpSp>
          <p:nvGrpSpPr>
            <p:cNvPr id="9232" name="Group 10"/>
            <p:cNvGrpSpPr>
              <a:grpSpLocks/>
            </p:cNvGrpSpPr>
            <p:nvPr/>
          </p:nvGrpSpPr>
          <p:grpSpPr bwMode="auto">
            <a:xfrm>
              <a:off x="3184506" y="982629"/>
              <a:ext cx="1828786" cy="342345"/>
              <a:chOff x="3141" y="9364"/>
              <a:chExt cx="2880" cy="540"/>
            </a:xfrm>
          </p:grpSpPr>
          <p:sp>
            <p:nvSpPr>
              <p:cNvPr id="9237" name="Text Box 11"/>
              <p:cNvSpPr txBox="1">
                <a:spLocks noChangeArrowheads="1"/>
              </p:cNvSpPr>
              <p:nvPr/>
            </p:nvSpPr>
            <p:spPr bwMode="auto">
              <a:xfrm>
                <a:off x="3141" y="9364"/>
                <a:ext cx="1440" cy="540"/>
              </a:xfrm>
              <a:prstGeom prst="rect">
                <a:avLst/>
              </a:prstGeom>
              <a:solidFill>
                <a:srgbClr val="00B0F0"/>
              </a:solidFill>
              <a:ln w="9525">
                <a:solidFill>
                  <a:srgbClr val="000000"/>
                </a:solidFill>
                <a:miter lim="800000"/>
                <a:headEnd/>
                <a:tailEnd/>
              </a:ln>
            </p:spPr>
            <p:txBody>
              <a:bodyPr lIns="36000" tIns="10800" rIns="36000" bIns="10800"/>
              <a:lstStyle/>
              <a:p>
                <a:pPr algn="ctr" eaLnBrk="1" hangingPunct="1">
                  <a:spcAft>
                    <a:spcPts val="1000"/>
                  </a:spcAft>
                </a:pPr>
                <a:r>
                  <a:rPr lang="en-GB" altLang="en-US">
                    <a:latin typeface="Calibri" pitchFamily="34" charset="0"/>
                  </a:rPr>
                  <a:t>4</a:t>
                </a:r>
                <a:endParaRPr lang="en-US" altLang="en-US"/>
              </a:p>
            </p:txBody>
          </p:sp>
          <p:sp>
            <p:nvSpPr>
              <p:cNvPr id="9238" name="Text Box 12"/>
              <p:cNvSpPr txBox="1">
                <a:spLocks noChangeArrowheads="1"/>
              </p:cNvSpPr>
              <p:nvPr/>
            </p:nvSpPr>
            <p:spPr bwMode="auto">
              <a:xfrm>
                <a:off x="4581" y="9364"/>
                <a:ext cx="1440" cy="540"/>
              </a:xfrm>
              <a:prstGeom prst="rect">
                <a:avLst/>
              </a:prstGeom>
              <a:solidFill>
                <a:srgbClr val="CC6600"/>
              </a:solidFill>
              <a:ln w="9525">
                <a:solidFill>
                  <a:srgbClr val="000000"/>
                </a:solidFill>
                <a:miter lim="800000"/>
                <a:headEnd/>
                <a:tailEnd/>
              </a:ln>
            </p:spPr>
            <p:txBody>
              <a:bodyPr lIns="36000" tIns="10800" rIns="36000" bIns="10800"/>
              <a:lstStyle/>
              <a:p>
                <a:pPr algn="ctr" eaLnBrk="1" hangingPunct="1">
                  <a:spcAft>
                    <a:spcPts val="1000"/>
                  </a:spcAft>
                </a:pPr>
                <a:r>
                  <a:rPr lang="en-GB" altLang="en-US">
                    <a:latin typeface="Calibri" pitchFamily="34" charset="0"/>
                  </a:rPr>
                  <a:t>2</a:t>
                </a:r>
                <a:endParaRPr lang="en-US" altLang="en-US"/>
              </a:p>
            </p:txBody>
          </p:sp>
        </p:grpSp>
        <p:sp>
          <p:nvSpPr>
            <p:cNvPr id="9233" name="Text Box 13"/>
            <p:cNvSpPr txBox="1">
              <a:spLocks noChangeArrowheads="1"/>
            </p:cNvSpPr>
            <p:nvPr/>
          </p:nvSpPr>
          <p:spPr bwMode="auto">
            <a:xfrm>
              <a:off x="2052603" y="800064"/>
              <a:ext cx="685795" cy="342345"/>
            </a:xfrm>
            <a:prstGeom prst="rect">
              <a:avLst/>
            </a:prstGeom>
            <a:noFill/>
            <a:ln w="9525">
              <a:noFill/>
              <a:miter lim="800000"/>
              <a:headEnd/>
              <a:tailEnd/>
            </a:ln>
          </p:spPr>
          <p:txBody>
            <a:bodyPr lIns="0" tIns="0" rIns="0" bIns="0"/>
            <a:lstStyle/>
            <a:p>
              <a:pPr eaLnBrk="1" hangingPunct="1">
                <a:spcAft>
                  <a:spcPts val="1000"/>
                </a:spcAft>
              </a:pPr>
              <a:r>
                <a:rPr lang="en-GB" altLang="en-US">
                  <a:latin typeface="Calibri" pitchFamily="34" charset="0"/>
                </a:rPr>
                <a:t>sugar</a:t>
              </a:r>
              <a:endParaRPr lang="en-US" altLang="en-US"/>
            </a:p>
          </p:txBody>
        </p:sp>
        <p:sp>
          <p:nvSpPr>
            <p:cNvPr id="9234" name="Line 14"/>
            <p:cNvSpPr>
              <a:spLocks noChangeShapeType="1"/>
            </p:cNvSpPr>
            <p:nvPr/>
          </p:nvSpPr>
          <p:spPr bwMode="auto">
            <a:xfrm rot="927098">
              <a:off x="2738088" y="1116559"/>
              <a:ext cx="457196" cy="0"/>
            </a:xfrm>
            <a:prstGeom prst="line">
              <a:avLst/>
            </a:prstGeom>
            <a:noFill/>
            <a:ln w="9525">
              <a:solidFill>
                <a:srgbClr val="000000"/>
              </a:solidFill>
              <a:round/>
              <a:headEnd/>
              <a:tailEnd type="triangle" w="med" len="med"/>
            </a:ln>
          </p:spPr>
          <p:txBody>
            <a:bodyPr/>
            <a:lstStyle/>
            <a:p>
              <a:endParaRPr lang="en-GB"/>
            </a:p>
          </p:txBody>
        </p:sp>
        <p:sp>
          <p:nvSpPr>
            <p:cNvPr id="9235" name="Text Box 15"/>
            <p:cNvSpPr txBox="1">
              <a:spLocks noChangeArrowheads="1"/>
            </p:cNvSpPr>
            <p:nvPr/>
          </p:nvSpPr>
          <p:spPr bwMode="auto">
            <a:xfrm>
              <a:off x="2855889" y="361908"/>
              <a:ext cx="685795" cy="342345"/>
            </a:xfrm>
            <a:prstGeom prst="rect">
              <a:avLst/>
            </a:prstGeom>
            <a:noFill/>
            <a:ln w="9525">
              <a:noFill/>
              <a:miter lim="800000"/>
              <a:headEnd/>
              <a:tailEnd/>
            </a:ln>
          </p:spPr>
          <p:txBody>
            <a:bodyPr lIns="0" tIns="0" rIns="0" bIns="0"/>
            <a:lstStyle/>
            <a:p>
              <a:pPr eaLnBrk="1" hangingPunct="1">
                <a:spcAft>
                  <a:spcPts val="1000"/>
                </a:spcAft>
              </a:pPr>
              <a:r>
                <a:rPr lang="en-GB" altLang="en-US">
                  <a:latin typeface="Calibri" pitchFamily="34" charset="0"/>
                </a:rPr>
                <a:t>flour</a:t>
              </a:r>
              <a:endParaRPr lang="en-US" altLang="en-US"/>
            </a:p>
          </p:txBody>
        </p:sp>
        <p:sp>
          <p:nvSpPr>
            <p:cNvPr id="9236" name="Line 16"/>
            <p:cNvSpPr>
              <a:spLocks noChangeShapeType="1"/>
            </p:cNvSpPr>
            <p:nvPr/>
          </p:nvSpPr>
          <p:spPr bwMode="auto">
            <a:xfrm rot="9816892" flipH="1" flipV="1">
              <a:off x="3531577" y="491292"/>
              <a:ext cx="766378" cy="500047"/>
            </a:xfrm>
            <a:prstGeom prst="line">
              <a:avLst/>
            </a:prstGeom>
            <a:noFill/>
            <a:ln w="9525">
              <a:solidFill>
                <a:srgbClr val="000000"/>
              </a:solidFill>
              <a:round/>
              <a:headEnd/>
              <a:tailEnd type="triangle" w="med" len="med"/>
            </a:ln>
          </p:spPr>
          <p:txBody>
            <a:bodyPr/>
            <a:lstStyle/>
            <a:p>
              <a:endParaRPr lang="en-GB"/>
            </a:p>
          </p:txBody>
        </p:sp>
      </p:grpSp>
      <p:sp>
        <p:nvSpPr>
          <p:cNvPr id="5131" name="Rectangle 17"/>
          <p:cNvSpPr>
            <a:spLocks noChangeArrowheads="1"/>
          </p:cNvSpPr>
          <p:nvPr/>
        </p:nvSpPr>
        <p:spPr bwMode="auto">
          <a:xfrm>
            <a:off x="1583668" y="1776120"/>
            <a:ext cx="6735452" cy="769441"/>
          </a:xfrm>
          <a:prstGeom prst="rect">
            <a:avLst/>
          </a:prstGeom>
          <a:noFill/>
          <a:ln w="9525">
            <a:noFill/>
            <a:miter lim="800000"/>
            <a:headEnd/>
            <a:tailEnd/>
          </a:ln>
        </p:spPr>
        <p:txBody>
          <a:bodyPr wrap="square" anchor="ctr">
            <a:spAutoFit/>
          </a:bodyPr>
          <a:lstStyle/>
          <a:p>
            <a:pPr marL="1080000" indent="-1080000"/>
            <a:r>
              <a:rPr lang="en-US" altLang="en-US" sz="2200" dirty="0">
                <a:latin typeface="Arial" pitchFamily="34" charset="0"/>
                <a:ea typeface="Times New Roman" pitchFamily="18" charset="0"/>
                <a:cs typeface="Arial" pitchFamily="34" charset="0"/>
              </a:rPr>
              <a:t>Fig. 1a. A chromosome for the Cookie problem (two genes) with its quality (fitness) value.</a:t>
            </a:r>
            <a:endParaRPr lang="en-US" altLang="en-US" sz="2200" dirty="0">
              <a:ea typeface="Times New Roman" pitchFamily="18" charset="0"/>
              <a:cs typeface="Arial" pitchFamily="34" charset="0"/>
            </a:endParaRPr>
          </a:p>
        </p:txBody>
      </p:sp>
      <p:sp>
        <p:nvSpPr>
          <p:cNvPr id="18" name="Rectangle 3"/>
          <p:cNvSpPr>
            <a:spLocks noChangeArrowheads="1"/>
          </p:cNvSpPr>
          <p:nvPr/>
        </p:nvSpPr>
        <p:spPr bwMode="auto">
          <a:xfrm>
            <a:off x="521449" y="3464788"/>
            <a:ext cx="8496944" cy="3204571"/>
          </a:xfrm>
          <a:prstGeom prst="rect">
            <a:avLst/>
          </a:prstGeom>
          <a:noFill/>
          <a:ln w="9525">
            <a:noFill/>
            <a:miter lim="800000"/>
            <a:headEnd/>
            <a:tailEnd/>
          </a:ln>
        </p:spPr>
        <p:txBody>
          <a:bodyPr/>
          <a:lstStyle/>
          <a:p>
            <a:pPr marL="342900" indent="-342900" eaLnBrk="1" hangingPunct="1">
              <a:spcBef>
                <a:spcPts val="1200"/>
              </a:spcBef>
              <a:buClr>
                <a:schemeClr val="folHlink"/>
              </a:buClr>
              <a:buSzPct val="60000"/>
              <a:buFont typeface="Wingdings" pitchFamily="2" charset="2"/>
              <a:buChar char="n"/>
            </a:pPr>
            <a:r>
              <a:rPr lang="en-US" altLang="en-US" dirty="0"/>
              <a:t>Many (AI) problems can be formulated in terms of search.</a:t>
            </a:r>
          </a:p>
          <a:p>
            <a:pPr marL="342900" indent="-342900" eaLnBrk="1" hangingPunct="1">
              <a:spcBef>
                <a:spcPts val="1200"/>
              </a:spcBef>
              <a:buClr>
                <a:schemeClr val="folHlink"/>
              </a:buClr>
              <a:buSzPct val="60000"/>
              <a:buFont typeface="Wingdings" pitchFamily="2" charset="2"/>
              <a:buChar char="n"/>
            </a:pPr>
            <a:r>
              <a:rPr lang="en-US" altLang="en-US" dirty="0"/>
              <a:t>Usually, each candidate solution is associated with some measure or metric of how good it is:</a:t>
            </a:r>
            <a:endParaRPr lang="en-GB" altLang="en-US" dirty="0"/>
          </a:p>
          <a:p>
            <a:pPr marL="800100" lvl="1" indent="-342900" eaLnBrk="1" hangingPunct="1">
              <a:spcBef>
                <a:spcPts val="1200"/>
              </a:spcBef>
              <a:buClr>
                <a:schemeClr val="folHlink"/>
              </a:buClr>
              <a:buSzPct val="60000"/>
              <a:buFont typeface="Wingdings" pitchFamily="2" charset="2"/>
              <a:buChar char="n"/>
            </a:pPr>
            <a:r>
              <a:rPr lang="en-US" altLang="en-US" sz="2200" dirty="0"/>
              <a:t>objective function;</a:t>
            </a:r>
            <a:endParaRPr lang="en-GB" altLang="en-US" sz="2200" dirty="0"/>
          </a:p>
          <a:p>
            <a:pPr marL="800100" lvl="1" indent="-342900" eaLnBrk="1" hangingPunct="1">
              <a:spcBef>
                <a:spcPts val="1200"/>
              </a:spcBef>
              <a:buClr>
                <a:schemeClr val="folHlink"/>
              </a:buClr>
              <a:buSzPct val="60000"/>
              <a:buFont typeface="Wingdings" pitchFamily="2" charset="2"/>
              <a:buChar char="n"/>
            </a:pPr>
            <a:r>
              <a:rPr lang="en-US" altLang="en-US" sz="2200" dirty="0"/>
              <a:t>cost function;</a:t>
            </a:r>
            <a:endParaRPr lang="en-GB" altLang="en-US" sz="2200" dirty="0"/>
          </a:p>
          <a:p>
            <a:pPr marL="800100" lvl="1" indent="-342900" eaLnBrk="1" hangingPunct="1">
              <a:spcBef>
                <a:spcPts val="1200"/>
              </a:spcBef>
              <a:buClr>
                <a:schemeClr val="folHlink"/>
              </a:buClr>
              <a:buSzPct val="60000"/>
              <a:buFont typeface="Wingdings" pitchFamily="2" charset="2"/>
              <a:buChar char="n"/>
            </a:pPr>
            <a:r>
              <a:rPr lang="en-US" altLang="en-US" sz="2200" dirty="0"/>
              <a:t>error measure (loss function), RMS (root of mean squared error), MAE (mean absolute error), Cross-entropy etc.</a:t>
            </a:r>
            <a:endParaRPr lang="en-GB" altLang="en-US" sz="2200" dirty="0"/>
          </a:p>
        </p:txBody>
      </p:sp>
      <p:grpSp>
        <p:nvGrpSpPr>
          <p:cNvPr id="4" name="Group 25"/>
          <p:cNvGrpSpPr>
            <a:grpSpLocks/>
          </p:cNvGrpSpPr>
          <p:nvPr/>
        </p:nvGrpSpPr>
        <p:grpSpPr bwMode="auto">
          <a:xfrm>
            <a:off x="3699867" y="314899"/>
            <a:ext cx="4271963" cy="1423988"/>
            <a:chOff x="4060818" y="288882"/>
            <a:chExt cx="4271974" cy="1424006"/>
          </a:xfrm>
        </p:grpSpPr>
        <p:grpSp>
          <p:nvGrpSpPr>
            <p:cNvPr id="9228" name="Group 23"/>
            <p:cNvGrpSpPr>
              <a:grpSpLocks/>
            </p:cNvGrpSpPr>
            <p:nvPr/>
          </p:nvGrpSpPr>
          <p:grpSpPr bwMode="auto">
            <a:xfrm>
              <a:off x="4060818" y="763551"/>
              <a:ext cx="2519397" cy="949337"/>
              <a:chOff x="4060818" y="909603"/>
              <a:chExt cx="2519397" cy="949337"/>
            </a:xfrm>
          </p:grpSpPr>
          <p:sp>
            <p:nvSpPr>
              <p:cNvPr id="9230" name="Curved Up Arrow 20"/>
              <p:cNvSpPr>
                <a:spLocks noChangeArrowheads="1"/>
              </p:cNvSpPr>
              <p:nvPr/>
            </p:nvSpPr>
            <p:spPr bwMode="auto">
              <a:xfrm>
                <a:off x="4060818" y="1457298"/>
                <a:ext cx="2081241" cy="401642"/>
              </a:xfrm>
              <a:prstGeom prst="curvedUpArrow">
                <a:avLst>
                  <a:gd name="adj1" fmla="val 43974"/>
                  <a:gd name="adj2" fmla="val 81158"/>
                  <a:gd name="adj3" fmla="val 50347"/>
                </a:avLst>
              </a:prstGeom>
              <a:solidFill>
                <a:schemeClr val="accent1"/>
              </a:solidFill>
              <a:ln w="9525" algn="ctr">
                <a:solidFill>
                  <a:schemeClr val="tx1"/>
                </a:solidFill>
                <a:miter lim="800000"/>
                <a:headEnd/>
                <a:tailEnd/>
              </a:ln>
            </p:spPr>
            <p:txBody>
              <a:bodyPr wrap="none"/>
              <a:lstStyle/>
              <a:p>
                <a:pPr eaLnBrk="1" hangingPunct="1"/>
                <a:endParaRPr lang="en-US" altLang="en-US"/>
              </a:p>
            </p:txBody>
          </p:sp>
          <p:sp>
            <p:nvSpPr>
              <p:cNvPr id="9231" name="TextBox 21"/>
              <p:cNvSpPr txBox="1">
                <a:spLocks noChangeArrowheads="1"/>
              </p:cNvSpPr>
              <p:nvPr/>
            </p:nvSpPr>
            <p:spPr bwMode="auto">
              <a:xfrm>
                <a:off x="5996007" y="909603"/>
                <a:ext cx="584208" cy="461665"/>
              </a:xfrm>
              <a:prstGeom prst="rect">
                <a:avLst/>
              </a:prstGeom>
              <a:gradFill rotWithShape="0">
                <a:gsLst>
                  <a:gs pos="0">
                    <a:srgbClr val="FFEFD1"/>
                  </a:gs>
                  <a:gs pos="64999">
                    <a:srgbClr val="F0EBD5"/>
                  </a:gs>
                  <a:gs pos="100000">
                    <a:srgbClr val="D1C39F"/>
                  </a:gs>
                </a:gsLst>
                <a:lin ang="5400000"/>
              </a:gradFill>
              <a:ln w="9525">
                <a:noFill/>
                <a:miter lim="800000"/>
                <a:headEnd/>
                <a:tailEnd/>
              </a:ln>
            </p:spPr>
            <p:txBody>
              <a:bodyPr>
                <a:spAutoFit/>
              </a:bodyPr>
              <a:lstStyle/>
              <a:p>
                <a:pPr eaLnBrk="1" hangingPunct="1"/>
                <a:r>
                  <a:rPr lang="en-GB" altLang="en-US">
                    <a:solidFill>
                      <a:srgbClr val="FF0000"/>
                    </a:solidFill>
                  </a:rPr>
                  <a:t> </a:t>
                </a:r>
                <a:r>
                  <a:rPr lang="en-GB" altLang="en-US" b="1">
                    <a:solidFill>
                      <a:srgbClr val="FF0000"/>
                    </a:solidFill>
                  </a:rPr>
                  <a:t>5</a:t>
                </a:r>
              </a:p>
            </p:txBody>
          </p:sp>
        </p:grpSp>
        <p:sp>
          <p:nvSpPr>
            <p:cNvPr id="9229" name="Rectangle 24"/>
            <p:cNvSpPr>
              <a:spLocks noChangeArrowheads="1"/>
            </p:cNvSpPr>
            <p:nvPr/>
          </p:nvSpPr>
          <p:spPr bwMode="auto">
            <a:xfrm>
              <a:off x="5740416" y="288882"/>
              <a:ext cx="2592376" cy="400110"/>
            </a:xfrm>
            <a:prstGeom prst="rect">
              <a:avLst/>
            </a:prstGeom>
            <a:noFill/>
            <a:ln w="9525">
              <a:noFill/>
              <a:miter lim="800000"/>
              <a:headEnd/>
              <a:tailEnd/>
            </a:ln>
          </p:spPr>
          <p:txBody>
            <a:bodyPr wrap="none">
              <a:spAutoFit/>
            </a:bodyPr>
            <a:lstStyle/>
            <a:p>
              <a:pPr eaLnBrk="1" hangingPunct="1"/>
              <a:r>
                <a:rPr lang="en-US" altLang="en-US" sz="2000">
                  <a:latin typeface="Arial" pitchFamily="34" charset="0"/>
                  <a:ea typeface="Times New Roman" pitchFamily="18" charset="0"/>
                  <a:cs typeface="Arial" pitchFamily="34" charset="0"/>
                </a:rPr>
                <a:t>quality (fitness) value</a:t>
              </a:r>
              <a:endParaRPr lang="en-GB" altLang="en-US" sz="2000">
                <a:ea typeface="Times New Roman" pitchFamily="18" charset="0"/>
                <a:cs typeface="Arial"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000" fill="hold"/>
                                        <p:tgtEl>
                                          <p:spTgt spid="2"/>
                                        </p:tgtEl>
                                        <p:attrNameLst>
                                          <p:attrName>ppt_x</p:attrName>
                                        </p:attrNameLst>
                                      </p:cBhvr>
                                      <p:tavLst>
                                        <p:tav tm="0">
                                          <p:val>
                                            <p:strVal val="#ppt_x"/>
                                          </p:val>
                                        </p:tav>
                                        <p:tav tm="100000">
                                          <p:val>
                                            <p:strVal val="#ppt_x"/>
                                          </p:val>
                                        </p:tav>
                                      </p:tavLst>
                                    </p:anim>
                                    <p:anim calcmode="lin" valueType="num">
                                      <p:cBhvr additive="base">
                                        <p:cTn id="8" dur="20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2000"/>
                                        <p:tgtEl>
                                          <p:spTgt spid="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5131"/>
                                        </p:tgtEl>
                                        <p:attrNameLst>
                                          <p:attrName>style.visibility</p:attrName>
                                        </p:attrNameLst>
                                      </p:cBhvr>
                                      <p:to>
                                        <p:strVal val="visible"/>
                                      </p:to>
                                    </p:set>
                                    <p:animEffect transition="in" filter="blinds(horizontal)">
                                      <p:cBhvr>
                                        <p:cTn id="18" dur="500"/>
                                        <p:tgtEl>
                                          <p:spTgt spid="513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4347"/>
                                        </p:tgtEl>
                                        <p:attrNameLst>
                                          <p:attrName>style.visibility</p:attrName>
                                        </p:attrNameLst>
                                      </p:cBhvr>
                                      <p:to>
                                        <p:strVal val="visible"/>
                                      </p:to>
                                    </p:set>
                                    <p:animEffect transition="in" filter="blinds(horizontal)">
                                      <p:cBhvr>
                                        <p:cTn id="23" dur="500"/>
                                        <p:tgtEl>
                                          <p:spTgt spid="1434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ipe(up)">
                                      <p:cBhvr>
                                        <p:cTn id="28"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7" grpId="0" autoUpdateAnimBg="0"/>
      <p:bldP spid="5131" grpId="0"/>
      <p:bldP spid="18"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Date Placeholder 3"/>
          <p:cNvSpPr>
            <a:spLocks noGrp="1"/>
          </p:cNvSpPr>
          <p:nvPr>
            <p:ph type="dt" sz="quarter" idx="10"/>
          </p:nvPr>
        </p:nvSpPr>
        <p:spPr>
          <a:noFill/>
        </p:spPr>
        <p:txBody>
          <a:bodyPr/>
          <a:lstStyle/>
          <a:p>
            <a:fld id="{405072F3-A187-40C3-8E83-207C03682D17}" type="datetime1">
              <a:rPr lang="en-GB" altLang="en-US" smtClean="0"/>
              <a:pPr/>
              <a:t>17/02/2026</a:t>
            </a:fld>
            <a:endParaRPr lang="en-GB" altLang="en-US"/>
          </a:p>
        </p:txBody>
      </p:sp>
      <p:sp>
        <p:nvSpPr>
          <p:cNvPr id="10244" name="Slide Number Placeholder 5"/>
          <p:cNvSpPr>
            <a:spLocks noGrp="1"/>
          </p:cNvSpPr>
          <p:nvPr>
            <p:ph type="sldNum" sz="quarter" idx="12"/>
          </p:nvPr>
        </p:nvSpPr>
        <p:spPr>
          <a:noFill/>
        </p:spPr>
        <p:txBody>
          <a:bodyPr/>
          <a:lstStyle/>
          <a:p>
            <a:fld id="{FA300663-4BEA-414E-BA59-2B5732BA3B58}" type="slidenum">
              <a:rPr lang="en-GB" altLang="en-US" smtClean="0"/>
              <a:pPr/>
              <a:t>4</a:t>
            </a:fld>
            <a:endParaRPr lang="en-GB" altLang="en-US"/>
          </a:p>
        </p:txBody>
      </p:sp>
      <p:sp>
        <p:nvSpPr>
          <p:cNvPr id="10245"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0246" name="Rectangle 1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grpSp>
        <p:nvGrpSpPr>
          <p:cNvPr id="2" name="Group 109"/>
          <p:cNvGrpSpPr>
            <a:grpSpLocks/>
          </p:cNvGrpSpPr>
          <p:nvPr/>
        </p:nvGrpSpPr>
        <p:grpSpPr bwMode="auto">
          <a:xfrm>
            <a:off x="295198" y="620688"/>
            <a:ext cx="8568283" cy="6042117"/>
            <a:chOff x="1161779" y="1031874"/>
            <a:chExt cx="8478650" cy="5746277"/>
          </a:xfrm>
        </p:grpSpPr>
        <p:sp>
          <p:nvSpPr>
            <p:cNvPr id="10251" name="Rectangle 3"/>
            <p:cNvSpPr>
              <a:spLocks noChangeArrowheads="1"/>
            </p:cNvSpPr>
            <p:nvPr/>
          </p:nvSpPr>
          <p:spPr bwMode="auto">
            <a:xfrm>
              <a:off x="1161779" y="5277775"/>
              <a:ext cx="8478650" cy="1500376"/>
            </a:xfrm>
            <a:prstGeom prst="rect">
              <a:avLst/>
            </a:prstGeom>
            <a:noFill/>
            <a:ln w="9525">
              <a:noFill/>
              <a:miter lim="800000"/>
              <a:headEnd/>
              <a:tailEnd/>
            </a:ln>
          </p:spPr>
          <p:txBody>
            <a:bodyPr/>
            <a:lstStyle/>
            <a:p>
              <a:pPr marL="576000" indent="-576000" eaLnBrk="1" hangingPunct="1"/>
              <a:r>
                <a:rPr lang="en-US" altLang="en-US" dirty="0"/>
                <a:t>Fig. 1b. The function related to the Cookie problem exhibits a moat  (mutation that changes a gene by 1 place will not work). Crossover or random number mutation may help to ‘jump over’ the moat (a ‘</a:t>
              </a:r>
              <a:r>
                <a:rPr lang="en-US" altLang="en-US" i="1" dirty="0"/>
                <a:t>Mexican Hat</a:t>
              </a:r>
              <a:r>
                <a:rPr lang="en-US" altLang="en-US" dirty="0"/>
                <a:t>’ function)</a:t>
              </a:r>
              <a:r>
                <a:rPr lang="en-GB" altLang="en-US" dirty="0"/>
                <a:t>.</a:t>
              </a:r>
            </a:p>
          </p:txBody>
        </p:sp>
        <p:grpSp>
          <p:nvGrpSpPr>
            <p:cNvPr id="10252" name="Group 10"/>
            <p:cNvGrpSpPr>
              <a:grpSpLocks/>
            </p:cNvGrpSpPr>
            <p:nvPr/>
          </p:nvGrpSpPr>
          <p:grpSpPr bwMode="auto">
            <a:xfrm>
              <a:off x="1536700" y="1031874"/>
              <a:ext cx="4606936" cy="4040199"/>
              <a:chOff x="2890" y="2325"/>
              <a:chExt cx="6357" cy="6030"/>
            </a:xfrm>
          </p:grpSpPr>
          <p:sp>
            <p:nvSpPr>
              <p:cNvPr id="10253" name="Rectangle 11"/>
              <p:cNvSpPr>
                <a:spLocks noChangeArrowheads="1"/>
              </p:cNvSpPr>
              <p:nvPr/>
            </p:nvSpPr>
            <p:spPr bwMode="auto">
              <a:xfrm>
                <a:off x="4127"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1</a:t>
                </a:r>
                <a:endParaRPr lang="en-US" altLang="en-US"/>
              </a:p>
            </p:txBody>
          </p:sp>
          <p:sp>
            <p:nvSpPr>
              <p:cNvPr id="10254" name="Rectangle 12"/>
              <p:cNvSpPr>
                <a:spLocks noChangeArrowheads="1"/>
              </p:cNvSpPr>
              <p:nvPr/>
            </p:nvSpPr>
            <p:spPr bwMode="auto">
              <a:xfrm>
                <a:off x="4691" y="3410"/>
                <a:ext cx="614"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10255" name="Rectangle 13"/>
              <p:cNvSpPr>
                <a:spLocks noChangeArrowheads="1"/>
              </p:cNvSpPr>
              <p:nvPr/>
            </p:nvSpPr>
            <p:spPr bwMode="auto">
              <a:xfrm>
                <a:off x="5253"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10256" name="Rectangle 14"/>
              <p:cNvSpPr>
                <a:spLocks noChangeArrowheads="1"/>
              </p:cNvSpPr>
              <p:nvPr/>
            </p:nvSpPr>
            <p:spPr bwMode="auto">
              <a:xfrm>
                <a:off x="5816"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10257" name="Rectangle 15"/>
              <p:cNvSpPr>
                <a:spLocks noChangeArrowheads="1"/>
              </p:cNvSpPr>
              <p:nvPr/>
            </p:nvSpPr>
            <p:spPr bwMode="auto">
              <a:xfrm>
                <a:off x="6380"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10258" name="Rectangle 16"/>
              <p:cNvSpPr>
                <a:spLocks noChangeArrowheads="1"/>
              </p:cNvSpPr>
              <p:nvPr/>
            </p:nvSpPr>
            <p:spPr bwMode="auto">
              <a:xfrm>
                <a:off x="6943"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10259" name="Rectangle 17"/>
              <p:cNvSpPr>
                <a:spLocks noChangeArrowheads="1"/>
              </p:cNvSpPr>
              <p:nvPr/>
            </p:nvSpPr>
            <p:spPr bwMode="auto">
              <a:xfrm>
                <a:off x="7506"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10260" name="Rectangle 18"/>
              <p:cNvSpPr>
                <a:spLocks noChangeArrowheads="1"/>
              </p:cNvSpPr>
              <p:nvPr/>
            </p:nvSpPr>
            <p:spPr bwMode="auto">
              <a:xfrm>
                <a:off x="8069"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10261" name="Rectangle 19"/>
              <p:cNvSpPr>
                <a:spLocks noChangeArrowheads="1"/>
              </p:cNvSpPr>
              <p:nvPr/>
            </p:nvSpPr>
            <p:spPr bwMode="auto">
              <a:xfrm>
                <a:off x="8632"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1</a:t>
                </a:r>
                <a:endParaRPr lang="en-US" altLang="en-US"/>
              </a:p>
            </p:txBody>
          </p:sp>
          <p:sp>
            <p:nvSpPr>
              <p:cNvPr id="10262" name="Rectangle 20"/>
              <p:cNvSpPr>
                <a:spLocks noChangeArrowheads="1"/>
              </p:cNvSpPr>
              <p:nvPr/>
            </p:nvSpPr>
            <p:spPr bwMode="auto">
              <a:xfrm>
                <a:off x="4127" y="2861"/>
                <a:ext cx="583" cy="549"/>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1</a:t>
                </a:r>
                <a:endParaRPr lang="en-US" altLang="en-US"/>
              </a:p>
            </p:txBody>
          </p:sp>
          <p:sp>
            <p:nvSpPr>
              <p:cNvPr id="10263" name="Rectangle 21"/>
              <p:cNvSpPr>
                <a:spLocks noChangeArrowheads="1"/>
              </p:cNvSpPr>
              <p:nvPr/>
            </p:nvSpPr>
            <p:spPr bwMode="auto">
              <a:xfrm>
                <a:off x="4689" y="2861"/>
                <a:ext cx="584" cy="549"/>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10264" name="Rectangle 22"/>
              <p:cNvSpPr>
                <a:spLocks noChangeArrowheads="1"/>
              </p:cNvSpPr>
              <p:nvPr/>
            </p:nvSpPr>
            <p:spPr bwMode="auto">
              <a:xfrm>
                <a:off x="5253" y="2861"/>
                <a:ext cx="583" cy="549"/>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10265" name="Rectangle 23"/>
              <p:cNvSpPr>
                <a:spLocks noChangeArrowheads="1"/>
              </p:cNvSpPr>
              <p:nvPr/>
            </p:nvSpPr>
            <p:spPr bwMode="auto">
              <a:xfrm>
                <a:off x="5817" y="2861"/>
                <a:ext cx="584" cy="549"/>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10266" name="Rectangle 24"/>
              <p:cNvSpPr>
                <a:spLocks noChangeArrowheads="1"/>
              </p:cNvSpPr>
              <p:nvPr/>
            </p:nvSpPr>
            <p:spPr bwMode="auto">
              <a:xfrm>
                <a:off x="6380" y="2861"/>
                <a:ext cx="583" cy="549"/>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10267" name="Rectangle 25"/>
              <p:cNvSpPr>
                <a:spLocks noChangeArrowheads="1"/>
              </p:cNvSpPr>
              <p:nvPr/>
            </p:nvSpPr>
            <p:spPr bwMode="auto">
              <a:xfrm>
                <a:off x="6943" y="2861"/>
                <a:ext cx="583" cy="549"/>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10268" name="Rectangle 26"/>
              <p:cNvSpPr>
                <a:spLocks noChangeArrowheads="1"/>
              </p:cNvSpPr>
              <p:nvPr/>
            </p:nvSpPr>
            <p:spPr bwMode="auto">
              <a:xfrm>
                <a:off x="7506" y="2861"/>
                <a:ext cx="584" cy="549"/>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7</a:t>
                </a:r>
                <a:endParaRPr lang="en-US" altLang="en-US"/>
              </a:p>
            </p:txBody>
          </p:sp>
          <p:sp>
            <p:nvSpPr>
              <p:cNvPr id="10269" name="Rectangle 27"/>
              <p:cNvSpPr>
                <a:spLocks noChangeArrowheads="1"/>
              </p:cNvSpPr>
              <p:nvPr/>
            </p:nvSpPr>
            <p:spPr bwMode="auto">
              <a:xfrm>
                <a:off x="8069" y="2861"/>
                <a:ext cx="583" cy="549"/>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8</a:t>
                </a:r>
                <a:endParaRPr lang="en-US" altLang="en-US"/>
              </a:p>
            </p:txBody>
          </p:sp>
          <p:sp>
            <p:nvSpPr>
              <p:cNvPr id="10270" name="Rectangle 28"/>
              <p:cNvSpPr>
                <a:spLocks noChangeArrowheads="1"/>
              </p:cNvSpPr>
              <p:nvPr/>
            </p:nvSpPr>
            <p:spPr bwMode="auto">
              <a:xfrm>
                <a:off x="8632" y="2861"/>
                <a:ext cx="583" cy="549"/>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9</a:t>
                </a:r>
                <a:endParaRPr lang="en-US" altLang="en-US"/>
              </a:p>
            </p:txBody>
          </p:sp>
          <p:sp>
            <p:nvSpPr>
              <p:cNvPr id="10271" name="Rectangle 29"/>
              <p:cNvSpPr>
                <a:spLocks noChangeArrowheads="1"/>
              </p:cNvSpPr>
              <p:nvPr/>
            </p:nvSpPr>
            <p:spPr bwMode="auto">
              <a:xfrm>
                <a:off x="3470" y="3410"/>
                <a:ext cx="584" cy="550"/>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1</a:t>
                </a:r>
                <a:endParaRPr lang="en-US" altLang="en-US"/>
              </a:p>
            </p:txBody>
          </p:sp>
          <p:sp>
            <p:nvSpPr>
              <p:cNvPr id="10272" name="Rectangle 30"/>
              <p:cNvSpPr>
                <a:spLocks noChangeArrowheads="1"/>
              </p:cNvSpPr>
              <p:nvPr/>
            </p:nvSpPr>
            <p:spPr bwMode="auto">
              <a:xfrm>
                <a:off x="4127" y="3960"/>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10273" name="Rectangle 31"/>
              <p:cNvSpPr>
                <a:spLocks noChangeArrowheads="1"/>
              </p:cNvSpPr>
              <p:nvPr/>
            </p:nvSpPr>
            <p:spPr bwMode="auto">
              <a:xfrm>
                <a:off x="4689" y="3960"/>
                <a:ext cx="615" cy="549"/>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dirty="0">
                    <a:solidFill>
                      <a:srgbClr val="000000"/>
                    </a:solidFill>
                    <a:latin typeface="Arial" pitchFamily="34" charset="0"/>
                  </a:rPr>
                  <a:t>0</a:t>
                </a:r>
                <a:endParaRPr lang="en-US" altLang="en-US" dirty="0"/>
              </a:p>
            </p:txBody>
          </p:sp>
          <p:sp>
            <p:nvSpPr>
              <p:cNvPr id="10274" name="Rectangle 32"/>
              <p:cNvSpPr>
                <a:spLocks noChangeArrowheads="1"/>
              </p:cNvSpPr>
              <p:nvPr/>
            </p:nvSpPr>
            <p:spPr bwMode="auto">
              <a:xfrm>
                <a:off x="5253" y="3960"/>
                <a:ext cx="615" cy="549"/>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275" name="Rectangle 33"/>
              <p:cNvSpPr>
                <a:spLocks noChangeArrowheads="1"/>
              </p:cNvSpPr>
              <p:nvPr/>
            </p:nvSpPr>
            <p:spPr bwMode="auto">
              <a:xfrm>
                <a:off x="5817" y="3960"/>
                <a:ext cx="615" cy="549"/>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276" name="Rectangle 34"/>
              <p:cNvSpPr>
                <a:spLocks noChangeArrowheads="1"/>
              </p:cNvSpPr>
              <p:nvPr/>
            </p:nvSpPr>
            <p:spPr bwMode="auto">
              <a:xfrm>
                <a:off x="6380" y="3960"/>
                <a:ext cx="615" cy="549"/>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277" name="Rectangle 35"/>
              <p:cNvSpPr>
                <a:spLocks noChangeArrowheads="1"/>
              </p:cNvSpPr>
              <p:nvPr/>
            </p:nvSpPr>
            <p:spPr bwMode="auto">
              <a:xfrm>
                <a:off x="6943" y="3960"/>
                <a:ext cx="584" cy="549"/>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278" name="Rectangle 36"/>
              <p:cNvSpPr>
                <a:spLocks noChangeArrowheads="1"/>
              </p:cNvSpPr>
              <p:nvPr/>
            </p:nvSpPr>
            <p:spPr bwMode="auto">
              <a:xfrm>
                <a:off x="7506" y="3960"/>
                <a:ext cx="615" cy="549"/>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279" name="Rectangle 37"/>
              <p:cNvSpPr>
                <a:spLocks noChangeArrowheads="1"/>
              </p:cNvSpPr>
              <p:nvPr/>
            </p:nvSpPr>
            <p:spPr bwMode="auto">
              <a:xfrm>
                <a:off x="8069" y="3960"/>
                <a:ext cx="615" cy="549"/>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280" name="Rectangle 38"/>
              <p:cNvSpPr>
                <a:spLocks noChangeArrowheads="1"/>
              </p:cNvSpPr>
              <p:nvPr/>
            </p:nvSpPr>
            <p:spPr bwMode="auto">
              <a:xfrm>
                <a:off x="8632" y="3960"/>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10281" name="Rectangle 39"/>
              <p:cNvSpPr>
                <a:spLocks noChangeArrowheads="1"/>
              </p:cNvSpPr>
              <p:nvPr/>
            </p:nvSpPr>
            <p:spPr bwMode="auto">
              <a:xfrm>
                <a:off x="3470" y="3960"/>
                <a:ext cx="584" cy="549"/>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10282" name="Rectangle 40"/>
              <p:cNvSpPr>
                <a:spLocks noChangeArrowheads="1"/>
              </p:cNvSpPr>
              <p:nvPr/>
            </p:nvSpPr>
            <p:spPr bwMode="auto">
              <a:xfrm>
                <a:off x="4127" y="450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10283" name="Rectangle 41"/>
              <p:cNvSpPr>
                <a:spLocks noChangeArrowheads="1"/>
              </p:cNvSpPr>
              <p:nvPr/>
            </p:nvSpPr>
            <p:spPr bwMode="auto">
              <a:xfrm>
                <a:off x="4691" y="4509"/>
                <a:ext cx="614" cy="550"/>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284" name="Rectangle 42"/>
              <p:cNvSpPr>
                <a:spLocks noChangeArrowheads="1"/>
              </p:cNvSpPr>
              <p:nvPr/>
            </p:nvSpPr>
            <p:spPr bwMode="auto">
              <a:xfrm>
                <a:off x="5253" y="4509"/>
                <a:ext cx="615" cy="550"/>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285" name="Rectangle 43"/>
              <p:cNvSpPr>
                <a:spLocks noChangeArrowheads="1"/>
              </p:cNvSpPr>
              <p:nvPr/>
            </p:nvSpPr>
            <p:spPr bwMode="auto">
              <a:xfrm>
                <a:off x="5817" y="4509"/>
                <a:ext cx="615" cy="550"/>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286" name="Rectangle 44"/>
              <p:cNvSpPr>
                <a:spLocks noChangeArrowheads="1"/>
              </p:cNvSpPr>
              <p:nvPr/>
            </p:nvSpPr>
            <p:spPr bwMode="auto">
              <a:xfrm>
                <a:off x="6380" y="4509"/>
                <a:ext cx="615" cy="550"/>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287" name="Rectangle 45"/>
              <p:cNvSpPr>
                <a:spLocks noChangeArrowheads="1"/>
              </p:cNvSpPr>
              <p:nvPr/>
            </p:nvSpPr>
            <p:spPr bwMode="auto">
              <a:xfrm>
                <a:off x="6943" y="4509"/>
                <a:ext cx="615" cy="550"/>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288" name="Rectangle 46"/>
              <p:cNvSpPr>
                <a:spLocks noChangeArrowheads="1"/>
              </p:cNvSpPr>
              <p:nvPr/>
            </p:nvSpPr>
            <p:spPr bwMode="auto">
              <a:xfrm>
                <a:off x="7506" y="4509"/>
                <a:ext cx="615" cy="550"/>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289" name="Rectangle 47"/>
              <p:cNvSpPr>
                <a:spLocks noChangeArrowheads="1"/>
              </p:cNvSpPr>
              <p:nvPr/>
            </p:nvSpPr>
            <p:spPr bwMode="auto">
              <a:xfrm>
                <a:off x="8069" y="4509"/>
                <a:ext cx="615" cy="550"/>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290" name="Rectangle 48"/>
              <p:cNvSpPr>
                <a:spLocks noChangeArrowheads="1"/>
              </p:cNvSpPr>
              <p:nvPr/>
            </p:nvSpPr>
            <p:spPr bwMode="auto">
              <a:xfrm>
                <a:off x="8632" y="450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10291" name="Rectangle 49"/>
              <p:cNvSpPr>
                <a:spLocks noChangeArrowheads="1"/>
              </p:cNvSpPr>
              <p:nvPr/>
            </p:nvSpPr>
            <p:spPr bwMode="auto">
              <a:xfrm>
                <a:off x="3470" y="4509"/>
                <a:ext cx="584" cy="550"/>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10292" name="Rectangle 50"/>
              <p:cNvSpPr>
                <a:spLocks noChangeArrowheads="1"/>
              </p:cNvSpPr>
              <p:nvPr/>
            </p:nvSpPr>
            <p:spPr bwMode="auto">
              <a:xfrm>
                <a:off x="4127" y="505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10293" name="Rectangle 51"/>
              <p:cNvSpPr>
                <a:spLocks noChangeArrowheads="1"/>
              </p:cNvSpPr>
              <p:nvPr/>
            </p:nvSpPr>
            <p:spPr bwMode="auto">
              <a:xfrm>
                <a:off x="4691" y="5059"/>
                <a:ext cx="614" cy="550"/>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294" name="Rectangle 52"/>
              <p:cNvSpPr>
                <a:spLocks noChangeArrowheads="1"/>
              </p:cNvSpPr>
              <p:nvPr/>
            </p:nvSpPr>
            <p:spPr bwMode="auto">
              <a:xfrm>
                <a:off x="5253" y="5059"/>
                <a:ext cx="615" cy="550"/>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295" name="Rectangle 53"/>
              <p:cNvSpPr>
                <a:spLocks noChangeArrowheads="1"/>
              </p:cNvSpPr>
              <p:nvPr/>
            </p:nvSpPr>
            <p:spPr bwMode="auto">
              <a:xfrm>
                <a:off x="5817" y="505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7</a:t>
                </a:r>
                <a:endParaRPr lang="en-US" altLang="en-US"/>
              </a:p>
            </p:txBody>
          </p:sp>
          <p:sp>
            <p:nvSpPr>
              <p:cNvPr id="10296" name="Rectangle 54"/>
              <p:cNvSpPr>
                <a:spLocks noChangeArrowheads="1"/>
              </p:cNvSpPr>
              <p:nvPr/>
            </p:nvSpPr>
            <p:spPr bwMode="auto">
              <a:xfrm>
                <a:off x="6380" y="505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8</a:t>
                </a:r>
                <a:endParaRPr lang="en-US" altLang="en-US"/>
              </a:p>
            </p:txBody>
          </p:sp>
          <p:sp>
            <p:nvSpPr>
              <p:cNvPr id="10297" name="Rectangle 55"/>
              <p:cNvSpPr>
                <a:spLocks noChangeArrowheads="1"/>
              </p:cNvSpPr>
              <p:nvPr/>
            </p:nvSpPr>
            <p:spPr bwMode="auto">
              <a:xfrm>
                <a:off x="6943" y="505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7</a:t>
                </a:r>
                <a:endParaRPr lang="en-US" altLang="en-US"/>
              </a:p>
            </p:txBody>
          </p:sp>
          <p:sp>
            <p:nvSpPr>
              <p:cNvPr id="10298" name="Rectangle 56"/>
              <p:cNvSpPr>
                <a:spLocks noChangeArrowheads="1"/>
              </p:cNvSpPr>
              <p:nvPr/>
            </p:nvSpPr>
            <p:spPr bwMode="auto">
              <a:xfrm>
                <a:off x="7506" y="5059"/>
                <a:ext cx="615" cy="550"/>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299" name="Rectangle 57"/>
              <p:cNvSpPr>
                <a:spLocks noChangeArrowheads="1"/>
              </p:cNvSpPr>
              <p:nvPr/>
            </p:nvSpPr>
            <p:spPr bwMode="auto">
              <a:xfrm>
                <a:off x="8069" y="5059"/>
                <a:ext cx="615" cy="550"/>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300" name="Rectangle 58"/>
              <p:cNvSpPr>
                <a:spLocks noChangeArrowheads="1"/>
              </p:cNvSpPr>
              <p:nvPr/>
            </p:nvSpPr>
            <p:spPr bwMode="auto">
              <a:xfrm>
                <a:off x="8632" y="505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10301" name="Rectangle 59"/>
              <p:cNvSpPr>
                <a:spLocks noChangeArrowheads="1"/>
              </p:cNvSpPr>
              <p:nvPr/>
            </p:nvSpPr>
            <p:spPr bwMode="auto">
              <a:xfrm>
                <a:off x="3470" y="5059"/>
                <a:ext cx="584" cy="550"/>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10302" name="Rectangle 60"/>
              <p:cNvSpPr>
                <a:spLocks noChangeArrowheads="1"/>
              </p:cNvSpPr>
              <p:nvPr/>
            </p:nvSpPr>
            <p:spPr bwMode="auto">
              <a:xfrm>
                <a:off x="4127" y="5609"/>
                <a:ext cx="615" cy="548"/>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10303" name="Rectangle 61"/>
              <p:cNvSpPr>
                <a:spLocks noChangeArrowheads="1"/>
              </p:cNvSpPr>
              <p:nvPr/>
            </p:nvSpPr>
            <p:spPr bwMode="auto">
              <a:xfrm>
                <a:off x="4691" y="5609"/>
                <a:ext cx="614" cy="548"/>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304" name="Rectangle 62"/>
              <p:cNvSpPr>
                <a:spLocks noChangeArrowheads="1"/>
              </p:cNvSpPr>
              <p:nvPr/>
            </p:nvSpPr>
            <p:spPr bwMode="auto">
              <a:xfrm>
                <a:off x="5253" y="5609"/>
                <a:ext cx="615" cy="548"/>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305" name="Rectangle 63"/>
              <p:cNvSpPr>
                <a:spLocks noChangeArrowheads="1"/>
              </p:cNvSpPr>
              <p:nvPr/>
            </p:nvSpPr>
            <p:spPr bwMode="auto">
              <a:xfrm>
                <a:off x="5817" y="5609"/>
                <a:ext cx="615" cy="548"/>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8</a:t>
                </a:r>
                <a:endParaRPr lang="en-US" altLang="en-US"/>
              </a:p>
            </p:txBody>
          </p:sp>
          <p:sp>
            <p:nvSpPr>
              <p:cNvPr id="10306" name="Rectangle 64"/>
              <p:cNvSpPr>
                <a:spLocks noChangeArrowheads="1"/>
              </p:cNvSpPr>
              <p:nvPr/>
            </p:nvSpPr>
            <p:spPr bwMode="auto">
              <a:xfrm>
                <a:off x="6380" y="5609"/>
                <a:ext cx="615" cy="548"/>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dirty="0">
                    <a:solidFill>
                      <a:srgbClr val="000000"/>
                    </a:solidFill>
                    <a:latin typeface="Arial" pitchFamily="34" charset="0"/>
                  </a:rPr>
                  <a:t>9</a:t>
                </a:r>
                <a:endParaRPr lang="en-US" altLang="en-US" dirty="0"/>
              </a:p>
            </p:txBody>
          </p:sp>
          <p:sp>
            <p:nvSpPr>
              <p:cNvPr id="10307" name="Rectangle 65"/>
              <p:cNvSpPr>
                <a:spLocks noChangeArrowheads="1"/>
              </p:cNvSpPr>
              <p:nvPr/>
            </p:nvSpPr>
            <p:spPr bwMode="auto">
              <a:xfrm>
                <a:off x="6943" y="5609"/>
                <a:ext cx="615" cy="548"/>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8</a:t>
                </a:r>
                <a:endParaRPr lang="en-US" altLang="en-US"/>
              </a:p>
            </p:txBody>
          </p:sp>
          <p:sp>
            <p:nvSpPr>
              <p:cNvPr id="10308" name="Rectangle 66"/>
              <p:cNvSpPr>
                <a:spLocks noChangeArrowheads="1"/>
              </p:cNvSpPr>
              <p:nvPr/>
            </p:nvSpPr>
            <p:spPr bwMode="auto">
              <a:xfrm>
                <a:off x="7506" y="5609"/>
                <a:ext cx="615" cy="548"/>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309" name="Rectangle 67"/>
              <p:cNvSpPr>
                <a:spLocks noChangeArrowheads="1"/>
              </p:cNvSpPr>
              <p:nvPr/>
            </p:nvSpPr>
            <p:spPr bwMode="auto">
              <a:xfrm>
                <a:off x="8069" y="5609"/>
                <a:ext cx="615" cy="548"/>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310" name="Rectangle 68"/>
              <p:cNvSpPr>
                <a:spLocks noChangeArrowheads="1"/>
              </p:cNvSpPr>
              <p:nvPr/>
            </p:nvSpPr>
            <p:spPr bwMode="auto">
              <a:xfrm>
                <a:off x="8632" y="5609"/>
                <a:ext cx="615" cy="548"/>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10311" name="Rectangle 69"/>
              <p:cNvSpPr>
                <a:spLocks noChangeArrowheads="1"/>
              </p:cNvSpPr>
              <p:nvPr/>
            </p:nvSpPr>
            <p:spPr bwMode="auto">
              <a:xfrm>
                <a:off x="3470" y="5609"/>
                <a:ext cx="584" cy="548"/>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10312" name="Rectangle 70"/>
              <p:cNvSpPr>
                <a:spLocks noChangeArrowheads="1"/>
              </p:cNvSpPr>
              <p:nvPr/>
            </p:nvSpPr>
            <p:spPr bwMode="auto">
              <a:xfrm>
                <a:off x="4127" y="6157"/>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10313" name="Rectangle 71"/>
              <p:cNvSpPr>
                <a:spLocks noChangeArrowheads="1"/>
              </p:cNvSpPr>
              <p:nvPr/>
            </p:nvSpPr>
            <p:spPr bwMode="auto">
              <a:xfrm>
                <a:off x="4691" y="6157"/>
                <a:ext cx="614" cy="550"/>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314" name="Rectangle 72"/>
              <p:cNvSpPr>
                <a:spLocks noChangeArrowheads="1"/>
              </p:cNvSpPr>
              <p:nvPr/>
            </p:nvSpPr>
            <p:spPr bwMode="auto">
              <a:xfrm>
                <a:off x="5253" y="6157"/>
                <a:ext cx="615" cy="550"/>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315" name="Rectangle 73"/>
              <p:cNvSpPr>
                <a:spLocks noChangeArrowheads="1"/>
              </p:cNvSpPr>
              <p:nvPr/>
            </p:nvSpPr>
            <p:spPr bwMode="auto">
              <a:xfrm>
                <a:off x="5817" y="6157"/>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7</a:t>
                </a:r>
                <a:endParaRPr lang="en-US" altLang="en-US"/>
              </a:p>
            </p:txBody>
          </p:sp>
          <p:sp>
            <p:nvSpPr>
              <p:cNvPr id="10316" name="Rectangle 74"/>
              <p:cNvSpPr>
                <a:spLocks noChangeArrowheads="1"/>
              </p:cNvSpPr>
              <p:nvPr/>
            </p:nvSpPr>
            <p:spPr bwMode="auto">
              <a:xfrm>
                <a:off x="6380" y="6157"/>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8</a:t>
                </a:r>
                <a:endParaRPr lang="en-US" altLang="en-US"/>
              </a:p>
            </p:txBody>
          </p:sp>
          <p:sp>
            <p:nvSpPr>
              <p:cNvPr id="10317" name="Rectangle 75"/>
              <p:cNvSpPr>
                <a:spLocks noChangeArrowheads="1"/>
              </p:cNvSpPr>
              <p:nvPr/>
            </p:nvSpPr>
            <p:spPr bwMode="auto">
              <a:xfrm>
                <a:off x="6943" y="6157"/>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7</a:t>
                </a:r>
                <a:endParaRPr lang="en-US" altLang="en-US"/>
              </a:p>
            </p:txBody>
          </p:sp>
          <p:sp>
            <p:nvSpPr>
              <p:cNvPr id="10318" name="Rectangle 76"/>
              <p:cNvSpPr>
                <a:spLocks noChangeArrowheads="1"/>
              </p:cNvSpPr>
              <p:nvPr/>
            </p:nvSpPr>
            <p:spPr bwMode="auto">
              <a:xfrm>
                <a:off x="7506" y="6157"/>
                <a:ext cx="615" cy="550"/>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319" name="Rectangle 77"/>
              <p:cNvSpPr>
                <a:spLocks noChangeArrowheads="1"/>
              </p:cNvSpPr>
              <p:nvPr/>
            </p:nvSpPr>
            <p:spPr bwMode="auto">
              <a:xfrm>
                <a:off x="8069" y="6157"/>
                <a:ext cx="615" cy="550"/>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320" name="Rectangle 78"/>
              <p:cNvSpPr>
                <a:spLocks noChangeArrowheads="1"/>
              </p:cNvSpPr>
              <p:nvPr/>
            </p:nvSpPr>
            <p:spPr bwMode="auto">
              <a:xfrm>
                <a:off x="8632" y="6157"/>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10321" name="Rectangle 79"/>
              <p:cNvSpPr>
                <a:spLocks noChangeArrowheads="1"/>
              </p:cNvSpPr>
              <p:nvPr/>
            </p:nvSpPr>
            <p:spPr bwMode="auto">
              <a:xfrm>
                <a:off x="3470" y="6157"/>
                <a:ext cx="584" cy="550"/>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10322" name="Rectangle 80"/>
              <p:cNvSpPr>
                <a:spLocks noChangeArrowheads="1"/>
              </p:cNvSpPr>
              <p:nvPr/>
            </p:nvSpPr>
            <p:spPr bwMode="auto">
              <a:xfrm>
                <a:off x="4127" y="6707"/>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10323" name="Rectangle 81"/>
              <p:cNvSpPr>
                <a:spLocks noChangeArrowheads="1"/>
              </p:cNvSpPr>
              <p:nvPr/>
            </p:nvSpPr>
            <p:spPr bwMode="auto">
              <a:xfrm>
                <a:off x="4691" y="6707"/>
                <a:ext cx="614" cy="549"/>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dirty="0">
                    <a:solidFill>
                      <a:srgbClr val="000000"/>
                    </a:solidFill>
                    <a:latin typeface="Arial" pitchFamily="34" charset="0"/>
                  </a:rPr>
                  <a:t>0</a:t>
                </a:r>
                <a:endParaRPr lang="en-US" altLang="en-US" dirty="0"/>
              </a:p>
            </p:txBody>
          </p:sp>
          <p:sp>
            <p:nvSpPr>
              <p:cNvPr id="10324" name="Rectangle 82"/>
              <p:cNvSpPr>
                <a:spLocks noChangeArrowheads="1"/>
              </p:cNvSpPr>
              <p:nvPr/>
            </p:nvSpPr>
            <p:spPr bwMode="auto">
              <a:xfrm>
                <a:off x="5253" y="6707"/>
                <a:ext cx="615" cy="549"/>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dirty="0">
                    <a:solidFill>
                      <a:srgbClr val="000000"/>
                    </a:solidFill>
                    <a:latin typeface="Arial" pitchFamily="34" charset="0"/>
                  </a:rPr>
                  <a:t>0</a:t>
                </a:r>
                <a:endParaRPr lang="en-US" altLang="en-US" dirty="0"/>
              </a:p>
            </p:txBody>
          </p:sp>
          <p:sp>
            <p:nvSpPr>
              <p:cNvPr id="10325" name="Rectangle 83"/>
              <p:cNvSpPr>
                <a:spLocks noChangeArrowheads="1"/>
              </p:cNvSpPr>
              <p:nvPr/>
            </p:nvSpPr>
            <p:spPr bwMode="auto">
              <a:xfrm>
                <a:off x="5817" y="6707"/>
                <a:ext cx="615" cy="549"/>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326" name="Rectangle 84"/>
              <p:cNvSpPr>
                <a:spLocks noChangeArrowheads="1"/>
              </p:cNvSpPr>
              <p:nvPr/>
            </p:nvSpPr>
            <p:spPr bwMode="auto">
              <a:xfrm>
                <a:off x="6380" y="6707"/>
                <a:ext cx="615" cy="549"/>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327" name="Rectangle 85"/>
              <p:cNvSpPr>
                <a:spLocks noChangeArrowheads="1"/>
              </p:cNvSpPr>
              <p:nvPr/>
            </p:nvSpPr>
            <p:spPr bwMode="auto">
              <a:xfrm>
                <a:off x="6943" y="6707"/>
                <a:ext cx="615" cy="549"/>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328" name="Rectangle 86"/>
              <p:cNvSpPr>
                <a:spLocks noChangeArrowheads="1"/>
              </p:cNvSpPr>
              <p:nvPr/>
            </p:nvSpPr>
            <p:spPr bwMode="auto">
              <a:xfrm>
                <a:off x="7506" y="6707"/>
                <a:ext cx="615" cy="549"/>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329" name="Rectangle 87"/>
              <p:cNvSpPr>
                <a:spLocks noChangeArrowheads="1"/>
              </p:cNvSpPr>
              <p:nvPr/>
            </p:nvSpPr>
            <p:spPr bwMode="auto">
              <a:xfrm>
                <a:off x="8069" y="6707"/>
                <a:ext cx="615" cy="549"/>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330" name="Rectangle 88"/>
              <p:cNvSpPr>
                <a:spLocks noChangeArrowheads="1"/>
              </p:cNvSpPr>
              <p:nvPr/>
            </p:nvSpPr>
            <p:spPr bwMode="auto">
              <a:xfrm>
                <a:off x="8632" y="6707"/>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10331" name="Rectangle 89"/>
              <p:cNvSpPr>
                <a:spLocks noChangeArrowheads="1"/>
              </p:cNvSpPr>
              <p:nvPr/>
            </p:nvSpPr>
            <p:spPr bwMode="auto">
              <a:xfrm>
                <a:off x="3470" y="6707"/>
                <a:ext cx="584" cy="549"/>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7</a:t>
                </a:r>
                <a:endParaRPr lang="en-US" altLang="en-US"/>
              </a:p>
            </p:txBody>
          </p:sp>
          <p:sp>
            <p:nvSpPr>
              <p:cNvPr id="10332" name="Rectangle 90"/>
              <p:cNvSpPr>
                <a:spLocks noChangeArrowheads="1"/>
              </p:cNvSpPr>
              <p:nvPr/>
            </p:nvSpPr>
            <p:spPr bwMode="auto">
              <a:xfrm>
                <a:off x="4127" y="7256"/>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10333" name="Rectangle 91"/>
              <p:cNvSpPr>
                <a:spLocks noChangeArrowheads="1"/>
              </p:cNvSpPr>
              <p:nvPr/>
            </p:nvSpPr>
            <p:spPr bwMode="auto">
              <a:xfrm>
                <a:off x="4691" y="7256"/>
                <a:ext cx="614" cy="550"/>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334" name="Rectangle 92"/>
              <p:cNvSpPr>
                <a:spLocks noChangeArrowheads="1"/>
              </p:cNvSpPr>
              <p:nvPr/>
            </p:nvSpPr>
            <p:spPr bwMode="auto">
              <a:xfrm>
                <a:off x="5253" y="7256"/>
                <a:ext cx="615" cy="550"/>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335" name="Rectangle 93"/>
              <p:cNvSpPr>
                <a:spLocks noChangeArrowheads="1"/>
              </p:cNvSpPr>
              <p:nvPr/>
            </p:nvSpPr>
            <p:spPr bwMode="auto">
              <a:xfrm>
                <a:off x="5817" y="7256"/>
                <a:ext cx="615" cy="550"/>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336" name="Rectangle 94"/>
              <p:cNvSpPr>
                <a:spLocks noChangeArrowheads="1"/>
              </p:cNvSpPr>
              <p:nvPr/>
            </p:nvSpPr>
            <p:spPr bwMode="auto">
              <a:xfrm>
                <a:off x="6380" y="7256"/>
                <a:ext cx="615" cy="550"/>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337" name="Rectangle 95"/>
              <p:cNvSpPr>
                <a:spLocks noChangeArrowheads="1"/>
              </p:cNvSpPr>
              <p:nvPr/>
            </p:nvSpPr>
            <p:spPr bwMode="auto">
              <a:xfrm>
                <a:off x="6943" y="7256"/>
                <a:ext cx="615" cy="550"/>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338" name="Rectangle 96"/>
              <p:cNvSpPr>
                <a:spLocks noChangeArrowheads="1"/>
              </p:cNvSpPr>
              <p:nvPr/>
            </p:nvSpPr>
            <p:spPr bwMode="auto">
              <a:xfrm>
                <a:off x="7506" y="7256"/>
                <a:ext cx="615" cy="550"/>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339" name="Rectangle 97"/>
              <p:cNvSpPr>
                <a:spLocks noChangeArrowheads="1"/>
              </p:cNvSpPr>
              <p:nvPr/>
            </p:nvSpPr>
            <p:spPr bwMode="auto">
              <a:xfrm>
                <a:off x="8069" y="7256"/>
                <a:ext cx="615" cy="550"/>
              </a:xfrm>
              <a:prstGeom prst="rect">
                <a:avLst/>
              </a:prstGeom>
              <a:solidFill>
                <a:schemeClr val="tx2">
                  <a:lumMod val="20000"/>
                  <a:lumOff val="80000"/>
                </a:schemeClr>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0</a:t>
                </a:r>
                <a:endParaRPr lang="en-US" altLang="en-US"/>
              </a:p>
            </p:txBody>
          </p:sp>
          <p:sp>
            <p:nvSpPr>
              <p:cNvPr id="10340" name="Rectangle 98"/>
              <p:cNvSpPr>
                <a:spLocks noChangeArrowheads="1"/>
              </p:cNvSpPr>
              <p:nvPr/>
            </p:nvSpPr>
            <p:spPr bwMode="auto">
              <a:xfrm>
                <a:off x="8632" y="7256"/>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10341" name="Rectangle 99"/>
              <p:cNvSpPr>
                <a:spLocks noChangeArrowheads="1"/>
              </p:cNvSpPr>
              <p:nvPr/>
            </p:nvSpPr>
            <p:spPr bwMode="auto">
              <a:xfrm>
                <a:off x="3470" y="7256"/>
                <a:ext cx="584" cy="550"/>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8</a:t>
                </a:r>
                <a:endParaRPr lang="en-US" altLang="en-US"/>
              </a:p>
            </p:txBody>
          </p:sp>
          <p:sp>
            <p:nvSpPr>
              <p:cNvPr id="10342" name="Rectangle 100"/>
              <p:cNvSpPr>
                <a:spLocks noChangeArrowheads="1"/>
              </p:cNvSpPr>
              <p:nvPr/>
            </p:nvSpPr>
            <p:spPr bwMode="auto">
              <a:xfrm>
                <a:off x="4127"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1</a:t>
                </a:r>
                <a:endParaRPr lang="en-US" altLang="en-US"/>
              </a:p>
            </p:txBody>
          </p:sp>
          <p:sp>
            <p:nvSpPr>
              <p:cNvPr id="10343" name="Rectangle 101"/>
              <p:cNvSpPr>
                <a:spLocks noChangeArrowheads="1"/>
              </p:cNvSpPr>
              <p:nvPr/>
            </p:nvSpPr>
            <p:spPr bwMode="auto">
              <a:xfrm>
                <a:off x="4691" y="7806"/>
                <a:ext cx="614"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10344" name="Rectangle 102"/>
              <p:cNvSpPr>
                <a:spLocks noChangeArrowheads="1"/>
              </p:cNvSpPr>
              <p:nvPr/>
            </p:nvSpPr>
            <p:spPr bwMode="auto">
              <a:xfrm>
                <a:off x="5253"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10345" name="Rectangle 103"/>
              <p:cNvSpPr>
                <a:spLocks noChangeArrowheads="1"/>
              </p:cNvSpPr>
              <p:nvPr/>
            </p:nvSpPr>
            <p:spPr bwMode="auto">
              <a:xfrm>
                <a:off x="5817"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10346" name="Rectangle 104"/>
              <p:cNvSpPr>
                <a:spLocks noChangeArrowheads="1"/>
              </p:cNvSpPr>
              <p:nvPr/>
            </p:nvSpPr>
            <p:spPr bwMode="auto">
              <a:xfrm>
                <a:off x="6380"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10347" name="Rectangle 105"/>
              <p:cNvSpPr>
                <a:spLocks noChangeArrowheads="1"/>
              </p:cNvSpPr>
              <p:nvPr/>
            </p:nvSpPr>
            <p:spPr bwMode="auto">
              <a:xfrm>
                <a:off x="6943"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10348" name="Rectangle 106"/>
              <p:cNvSpPr>
                <a:spLocks noChangeArrowheads="1"/>
              </p:cNvSpPr>
              <p:nvPr/>
            </p:nvSpPr>
            <p:spPr bwMode="auto">
              <a:xfrm>
                <a:off x="7506"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10349" name="Rectangle 107"/>
              <p:cNvSpPr>
                <a:spLocks noChangeArrowheads="1"/>
              </p:cNvSpPr>
              <p:nvPr/>
            </p:nvSpPr>
            <p:spPr bwMode="auto">
              <a:xfrm>
                <a:off x="8069"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10350" name="Rectangle 108"/>
              <p:cNvSpPr>
                <a:spLocks noChangeArrowheads="1"/>
              </p:cNvSpPr>
              <p:nvPr/>
            </p:nvSpPr>
            <p:spPr bwMode="auto">
              <a:xfrm>
                <a:off x="8632"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1</a:t>
                </a:r>
                <a:endParaRPr lang="en-US" altLang="en-US"/>
              </a:p>
            </p:txBody>
          </p:sp>
          <p:sp>
            <p:nvSpPr>
              <p:cNvPr id="10351" name="Rectangle 109"/>
              <p:cNvSpPr>
                <a:spLocks noChangeArrowheads="1"/>
              </p:cNvSpPr>
              <p:nvPr/>
            </p:nvSpPr>
            <p:spPr bwMode="auto">
              <a:xfrm>
                <a:off x="3470" y="7806"/>
                <a:ext cx="584" cy="549"/>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9</a:t>
                </a:r>
                <a:endParaRPr lang="en-US" altLang="en-US"/>
              </a:p>
            </p:txBody>
          </p:sp>
          <p:sp>
            <p:nvSpPr>
              <p:cNvPr id="10352" name="Rectangle 110"/>
              <p:cNvSpPr>
                <a:spLocks noChangeArrowheads="1"/>
              </p:cNvSpPr>
              <p:nvPr/>
            </p:nvSpPr>
            <p:spPr bwMode="auto">
              <a:xfrm>
                <a:off x="5666" y="2325"/>
                <a:ext cx="1284" cy="549"/>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flour</a:t>
                </a:r>
                <a:endParaRPr lang="en-US" altLang="en-US"/>
              </a:p>
            </p:txBody>
          </p:sp>
          <p:sp>
            <p:nvSpPr>
              <p:cNvPr id="10353" name="Rectangle 111"/>
              <p:cNvSpPr>
                <a:spLocks noChangeArrowheads="1"/>
              </p:cNvSpPr>
              <p:nvPr/>
            </p:nvSpPr>
            <p:spPr bwMode="auto">
              <a:xfrm rot="-5400000">
                <a:off x="2386" y="5485"/>
                <a:ext cx="1571" cy="563"/>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sugar</a:t>
                </a:r>
                <a:endParaRPr lang="en-US" altLang="en-US"/>
              </a:p>
            </p:txBody>
          </p:sp>
        </p:grpSp>
      </p:grpSp>
      <p:sp>
        <p:nvSpPr>
          <p:cNvPr id="10248" name="AutoShape 112" descr="data:image/jpeg;base64,/9j/4AAQSkZJRgABAQAAAQABAAD/2wCEAAkGBwgHBgkIBwgKCgkLDRYPDQwMDRsUFRAWIB0iIiAdHx8kKDQsJCYxJx8fLT0tMTU3Ojo6Iys/RD84QzQ5OjcBCgoKDQwNGg8PGjclHyU3Nzc3Nzc3Nzc3Nzc3Nzc3Nzc3Nzc3Nzc3Nzc3Nzc3Nzc3Nzc3Nzc3Nzc3Nzc3Nzc3N//AABEIAFQAjQMBIgACEQEDEQH/xAAbAAEAAgMBAQAAAAAAAAAAAAAABQYDBAcCAf/EAD8QAAIBBAEBBQQHBQUJAAAAAAECAwAEBRESIQYTIjFBFFFhgSMycXKCkaEVQlKSoiRiY7GyBzNUZKOzwcLT/8QAFAEBAAAAAAAAAAAAAAAAAAAAAP/EABQRAQAAAAAAAAAAAAAAAAAAAAD/2gAMAwEAAhEDEQA/AO40pSgUpSgUpSgUpWC9uobKzmu7qRY4IIzJI7eSqBsn8qDBl8vYYWza7yl1FbQA65yNrZ9wHmT8BVdH+0TD8iWtMusIGzM2Pk4ge/WuWvlWTCYn9o3Kdpu0MP8AbHHKztpj4bCI/VAHkJCOrN576DoKzXN9H7c0ZyVudfuNkxG38qpugncff2uStIruwuI7i3lHJJYm5KwrZqjWix9nu1tq9oEhx2cZo54ULd2l2F5K67A+uqsDrzIB86vNApSlApSlApSlB8pSlApSm6BSm68yyxwoXldEUeZY6FB6qt9pj+0sri8AoDRTObu9H+BEQQv4pCg+IDVmu+2nZezZkuO0OLV1OmQXSMw+QO60uyUgy2QynaGMgx3cgt7VyD1t4tgEfecyN9hFBZLobi82/Dx/9ulRMmQSKTu3vhGf4ZbmFP8ASCalLtHaIjns+4IpP9XSosz3MLhRtEPT6SWGP/IGgiO1sfe9nbi5tC8s9iyX0PCaSXbRMH0CRobAYfOrhbzJcQRTxNyjkQOp94I2KhjPG7cJCZQejd001yvxB4gAfOvnYhmTs/DYuW7zHu9m3M7bUbFVJ+1Qp+dBPUpTdApSlApSlB9rDdXVvaW8lzdTxQwRjk8sjhVUe8k9BWrnspBhcTc5G5BMcCcuK+bnyCj4kkD51zu1u5c2uLyOTU3WQvonvIYO77yHHxK6oBHH5PMWdRyfyPI7AGiFpvu3FmkPfY61muoCQBdyMttbHflqSQjkPuBqimzvavJaNpbi1hOwzw2pIX3ES3DRg/aI2ratVj7xb2GLnI/QXkr8mb+6spBJ3/DEvH3GpBvAFa4ZIefRXmYRM/3eXNyfy+ygg0w+XyCH9oZiaRif3L+aT81t1hGvhs/bXl+xuNlkT2pou/TW5UtLfkfnP3sg/Pfxq0wwFwdCSQf4kcjfkZGA/Sti3UkmNHHT9wTBSPkg6UFZyuKgxODuJ7OW9FywWG2CXciAyuQqdFCjWyCde41bcVZQ43F21nbDUcESxr8dDzqGyO77tRjscNlLCF76bxk+M7jiB9/nKftQVNe1xxwr6sAAVoNG7fcZJ5MT7uJI/m6Vpx3Bjbb3DxDXVXe2Rf8AImtm8kjnI5WvPrv6qsPyNantFvbtpmltD57AtkB/PrQeRfTSnikkLLvQaKSa52PikaqP1qt3fZi3vO0mSlNtZRTy28FwstxZne9NGdacMoHdodch9b31cLe4EkBKyiQEkjU5c/yxiom4PsnaXESFWj9pM9n0TuVYuglU65FvOAjZ6+I0ELH2by0CMcfkp0k/5bIXCL8kZpx+YrNHe9sMdIAcj7QBolL20jk+QaJkk/6R/wDFW/SM/ds6yt6RiZZT+T9f1rG5ER4usqDX1RFKij7SOS0EPadtL2JhHlsHLsDbSY6Tv9D3mJgso+SGrLiczjsxC8uNvIrhUPGQKfFG3uZT1U/AioS4ghniDjuzFvo54mMn381BUfiT51E5TGqZ0uGWaO+jH0c0Td3coCQBxfZDjZHQlkJIBCb3QdApVX7OdoZZ71cTlHie7a3Fza3US8Y72A/vhT9Vh05L8QR8LRQVb/aXE8nY+7kjiWUW0kVy8bryDpHIrMCPXwg1Q5sc9osD4xw9pIHK8zuNRIFLKQ5LMsisOSeLkwP1WHeHsUkayxtHIoZGBVlI6EH0rkmQin7HZK2w1yvPEzu62l1LNpUjbZETLx8YBYgqWJKklRvyCXx3ad2uWbJW0scjFkMtueS7BAEextowPUIG0Qdt062O1uraWUrjp7ZpCA0ndusYI/vsduT9gHx1VRQ4ua8u4U7hb2aISXIR41uCp8IZ2AJ35Dnz6MQWUAmsP7Nu7fF9zBfPcXHHcUt6v0ba15iNQpX0LKz8eQJ2N6DoSKxHjbvwfLhCx/JnYis8DLzCk8SOnFpQCPwr0rnAjzEQtYlMLmQlLlY3MKRHXooAd/dx0G2V8OjuvUWR7Qx38tmrXMMUa7W5YkQyb3oKzyb5dDscfDo8tDrQW7slu9fMZs7/ALddukB15Qw/Rrr4Eq7j79SsU0snd8HdjpS+wOIrl1jnsriMByiN7a4/Hr3JilAVo1TwnwmBmKjyLdRvzNbM3ay7sktJb4SRpdELAXGy7aBC6Ft0YgghT1I9KC+Xjzcm5I7Didd5Ejnz9NGtIiaKRu5t54zzA5xQ2yN5H+ImqtLmGTIpYHHRm8mUskRtVdnUHqR9GOgI6+6sEPah5ILq7tYLcRWjEXEi2QAiZR1DeHoQPP3etBdojdjo1wX3599dEyD8ESgfIGq72rb2G2hu2UI1td292CsKQd5wlUOQrEyMRG0mydDX21D3nbHKnELkvbmjxrNxWeJSiknoNEQnpvpvy30860riXIzzHF3ouAMpA3eKSql4wPFzk9mBXQPUMwI2PLYoOtSCNi0LeL3p3oc/MPWq9okZDR7g1+7yeEE/EoeP6GqFFkste3NxazreqLdQWlnmkEL76ji6OobY2dgaABJIrXukzL4tJRY2sUvecZIb6fpGN9OTyCRN668Q29Ea2TqgvU13ZQztyu19qXQcIVFx8D4Okg+BH69KruRzts7iKJy5ik5qlsnI8+LqdKTpOQKni5UAjfi9Y26w0l3JBGb6TuFbc9uUDCVRo6CsdRem/CeIPUqelbKWmMjvHmSOATLEIWBJYLGdNxMfM8QQA2iFZlHHqW6BHzSXiZHF5WWGS2kt7u3sbK3bkpjh71UbfJQzlgW2dDfA66Lt+w1zLsZZTdo8pa5OW1lgxONcvAJ0jV7icbUMeHh4opbpoaZj7jXTaBWhmcRYZvHS4/J26z20o8SN6H0IPmCPQit6lBzO47I3eEPFLSfJWCghJrCQRXUIPq0J+hlP94AN8DWHGWeNushKcNn2N9M6vPb36NHdFlGgSjMvE9SNqnUEjyNdSI3Wnk8RjstD3OUsLa7j/hniD6+zdBRzhM9bQzQC4tJmYEKZQGbWuilESNSo2dDfqQdjpWvcjOwLGfYoVdSoYtciEEDXLWmLenhB2F6bD6GrS3Y+1iUrjchkrFfREuO9jHwCSh1A+wCvJwubgI9myWOlj9VnsSjn8UbqP6aCsm/vFZTDaSSgA9bdnI2DpV0FOun72/D5BSu1bybu8NzKRjryFQQveSAIGB6k9NN0JPhJJPmHQk7nrqx7RA8hisTc9f8AjpQfyZSP1rCGzcR1L2Wk4n1t5rd9fzEGggDlIzasZbS4jXRJtnNuWbR0BwBEZOgD58fLallDV9bLoLiIgPK/IgSiVCsYA35seahj/DyYHqzOAFNgEt6U+kxeTg+GkP8A21atWWe630tst8op/wD40EVa5KVZiI7G6k4InF1aIhveNjxdOnoF6aVE0rVmOSvjG6jF5EMGPEmGQK2uq7ZFPAb94cr5hieoyzJfSkatco/wNqT/AK4RWMY/Ks30eFyjAn0hsox8ySDQa0+Sv4IvpIraNvCzd9dleJJ2w2zRk/BvCd6LciAa0zl7kyrd2kkIUIV7tIu9diT0+ktg+tb8lABJYty3U8nZ3OXB1+zIbZfR58xNtT9yEAf1Vu2XYe45CS+y5jY75LjYBASPjK5eT5hhQVpraW2uVky+RntIp4wkdm4eV5NddRQhgzNvZ20ROyST51JY/sGctN3+US8trFpC7wyzKLi82d7mEQVFHw8Tn1YdRV1xGAxeG5tj7OOOWT/eTkl5ZPvO22b5mpOgx20ENrBHBbRJFDGoVI0XiqgeQAHkKy18pQfaUpQKUpQKUpQKUpQKUpQKUpQKUpQKUpQKUpQf/9k="/>
          <p:cNvSpPr>
            <a:spLocks noChangeAspect="1" noChangeArrowheads="1"/>
          </p:cNvSpPr>
          <p:nvPr/>
        </p:nvSpPr>
        <p:spPr bwMode="auto">
          <a:xfrm>
            <a:off x="0" y="-381000"/>
            <a:ext cx="1343025" cy="800100"/>
          </a:xfrm>
          <a:prstGeom prst="rect">
            <a:avLst/>
          </a:prstGeom>
          <a:noFill/>
          <a:ln w="9525">
            <a:noFill/>
            <a:miter lim="800000"/>
            <a:headEnd/>
            <a:tailEnd/>
          </a:ln>
        </p:spPr>
        <p:txBody>
          <a:bodyPr/>
          <a:lstStyle/>
          <a:p>
            <a:pPr eaLnBrk="1" hangingPunct="1"/>
            <a:endParaRPr lang="en-US" altLang="en-US"/>
          </a:p>
        </p:txBody>
      </p:sp>
      <p:sp>
        <p:nvSpPr>
          <p:cNvPr id="10249" name="AutoShape 114" descr="data:image/jpeg;base64,/9j/4AAQSkZJRgABAQAAAQABAAD/2wCEAAkGBwgHBgkIBwgKCgkLDRYPDQwMDRsUFRAWIB0iIiAdHx8kKDQsJCYxJx8fLT0tMTU3Ojo6Iys/RD84QzQ5OjcBCgoKDQwNGg8PGjclHyU3Nzc3Nzc3Nzc3Nzc3Nzc3Nzc3Nzc3Nzc3Nzc3Nzc3Nzc3Nzc3Nzc3Nzc3Nzc3Nzc3N//AABEIAFQAjQMBIgACEQEDEQH/xAAbAAEAAgMBAQAAAAAAAAAAAAAABQYDBAcCAf/EAD8QAAIBBAEBBQQHBQUJAAAAAAECAwAEBRESIQYTIjFBFFFhgSMycXKCkaEVQlKSoiRiY7GyBzNUZKOzwcLT/8QAFAEBAAAAAAAAAAAAAAAAAAAAAP/EABQRAQAAAAAAAAAAAAAAAAAAAAD/2gAMAwEAAhEDEQA/AO40pSgUpSgUpSgUpWC9uobKzmu7qRY4IIzJI7eSqBsn8qDBl8vYYWza7yl1FbQA65yNrZ9wHmT8BVdH+0TD8iWtMusIGzM2Pk4ge/WuWvlWTCYn9o3Kdpu0MP8AbHHKztpj4bCI/VAHkJCOrN576DoKzXN9H7c0ZyVudfuNkxG38qpugncff2uStIruwuI7i3lHJJYm5KwrZqjWix9nu1tq9oEhx2cZo54ULd2l2F5K67A+uqsDrzIB86vNApSlApSlApSlB8pSlApSm6BSm68yyxwoXldEUeZY6FB6qt9pj+0sri8AoDRTObu9H+BEQQv4pCg+IDVmu+2nZezZkuO0OLV1OmQXSMw+QO60uyUgy2QynaGMgx3cgt7VyD1t4tgEfecyN9hFBZLobi82/Dx/9ulRMmQSKTu3vhGf4ZbmFP8ASCalLtHaIjns+4IpP9XSosz3MLhRtEPT6SWGP/IGgiO1sfe9nbi5tC8s9iyX0PCaSXbRMH0CRobAYfOrhbzJcQRTxNyjkQOp94I2KhjPG7cJCZQejd001yvxB4gAfOvnYhmTs/DYuW7zHu9m3M7bUbFVJ+1Qp+dBPUpTdApSlApSlB9rDdXVvaW8lzdTxQwRjk8sjhVUe8k9BWrnspBhcTc5G5BMcCcuK+bnyCj4kkD51zu1u5c2uLyOTU3WQvonvIYO77yHHxK6oBHH5PMWdRyfyPI7AGiFpvu3FmkPfY61muoCQBdyMttbHflqSQjkPuBqimzvavJaNpbi1hOwzw2pIX3ES3DRg/aI2ratVj7xb2GLnI/QXkr8mb+6spBJ3/DEvH3GpBvAFa4ZIefRXmYRM/3eXNyfy+ygg0w+XyCH9oZiaRif3L+aT81t1hGvhs/bXl+xuNlkT2pou/TW5UtLfkfnP3sg/Pfxq0wwFwdCSQf4kcjfkZGA/Sti3UkmNHHT9wTBSPkg6UFZyuKgxODuJ7OW9FywWG2CXciAyuQqdFCjWyCde41bcVZQ43F21nbDUcESxr8dDzqGyO77tRjscNlLCF76bxk+M7jiB9/nKftQVNe1xxwr6sAAVoNG7fcZJ5MT7uJI/m6Vpx3Bjbb3DxDXVXe2Rf8AImtm8kjnI5WvPrv6qsPyNantFvbtpmltD57AtkB/PrQeRfTSnikkLLvQaKSa52PikaqP1qt3fZi3vO0mSlNtZRTy28FwstxZne9NGdacMoHdodch9b31cLe4EkBKyiQEkjU5c/yxiom4PsnaXESFWj9pM9n0TuVYuglU65FvOAjZ6+I0ELH2by0CMcfkp0k/5bIXCL8kZpx+YrNHe9sMdIAcj7QBolL20jk+QaJkk/6R/wDFW/SM/ds6yt6RiZZT+T9f1rG5ER4usqDX1RFKij7SOS0EPadtL2JhHlsHLsDbSY6Tv9D3mJgso+SGrLiczjsxC8uNvIrhUPGQKfFG3uZT1U/AioS4ghniDjuzFvo54mMn381BUfiT51E5TGqZ0uGWaO+jH0c0Td3coCQBxfZDjZHQlkJIBCb3QdApVX7OdoZZ71cTlHie7a3Fza3US8Y72A/vhT9Vh05L8QR8LRQVb/aXE8nY+7kjiWUW0kVy8bryDpHIrMCPXwg1Q5sc9osD4xw9pIHK8zuNRIFLKQ5LMsisOSeLkwP1WHeHsUkayxtHIoZGBVlI6EH0rkmQin7HZK2w1yvPEzu62l1LNpUjbZETLx8YBYgqWJKklRvyCXx3ad2uWbJW0scjFkMtueS7BAEextowPUIG0Qdt062O1uraWUrjp7ZpCA0ndusYI/vsduT9gHx1VRQ4ua8u4U7hb2aISXIR41uCp8IZ2AJ35Dnz6MQWUAmsP7Nu7fF9zBfPcXHHcUt6v0ba15iNQpX0LKz8eQJ2N6DoSKxHjbvwfLhCx/JnYis8DLzCk8SOnFpQCPwr0rnAjzEQtYlMLmQlLlY3MKRHXooAd/dx0G2V8OjuvUWR7Qx38tmrXMMUa7W5YkQyb3oKzyb5dDscfDo8tDrQW7slu9fMZs7/ALddukB15Qw/Rrr4Eq7j79SsU0snd8HdjpS+wOIrl1jnsriMByiN7a4/Hr3JilAVo1TwnwmBmKjyLdRvzNbM3ay7sktJb4SRpdELAXGy7aBC6Ft0YgghT1I9KC+Xjzcm5I7Didd5Ejnz9NGtIiaKRu5t54zzA5xQ2yN5H+ImqtLmGTIpYHHRm8mUskRtVdnUHqR9GOgI6+6sEPah5ILq7tYLcRWjEXEi2QAiZR1DeHoQPP3etBdojdjo1wX3599dEyD8ESgfIGq72rb2G2hu2UI1td292CsKQd5wlUOQrEyMRG0mydDX21D3nbHKnELkvbmjxrNxWeJSiknoNEQnpvpvy30860riXIzzHF3ouAMpA3eKSql4wPFzk9mBXQPUMwI2PLYoOtSCNi0LeL3p3oc/MPWq9okZDR7g1+7yeEE/EoeP6GqFFkste3NxazreqLdQWlnmkEL76ji6OobY2dgaABJIrXukzL4tJRY2sUvecZIb6fpGN9OTyCRN668Q29Ea2TqgvU13ZQztyu19qXQcIVFx8D4Okg+BH69KruRzts7iKJy5ik5qlsnI8+LqdKTpOQKni5UAjfi9Y26w0l3JBGb6TuFbc9uUDCVRo6CsdRem/CeIPUqelbKWmMjvHmSOATLEIWBJYLGdNxMfM8QQA2iFZlHHqW6BHzSXiZHF5WWGS2kt7u3sbK3bkpjh71UbfJQzlgW2dDfA66Lt+w1zLsZZTdo8pa5OW1lgxONcvAJ0jV7icbUMeHh4opbpoaZj7jXTaBWhmcRYZvHS4/J26z20o8SN6H0IPmCPQit6lBzO47I3eEPFLSfJWCghJrCQRXUIPq0J+hlP94AN8DWHGWeNushKcNn2N9M6vPb36NHdFlGgSjMvE9SNqnUEjyNdSI3Wnk8RjstD3OUsLa7j/hniD6+zdBRzhM9bQzQC4tJmYEKZQGbWuilESNSo2dDfqQdjpWvcjOwLGfYoVdSoYtciEEDXLWmLenhB2F6bD6GrS3Y+1iUrjchkrFfREuO9jHwCSh1A+wCvJwubgI9myWOlj9VnsSjn8UbqP6aCsm/vFZTDaSSgA9bdnI2DpV0FOun72/D5BSu1bybu8NzKRjryFQQveSAIGB6k9NN0JPhJJPmHQk7nrqx7RA8hisTc9f8AjpQfyZSP1rCGzcR1L2Wk4n1t5rd9fzEGggDlIzasZbS4jXRJtnNuWbR0BwBEZOgD58fLallDV9bLoLiIgPK/IgSiVCsYA35seahj/DyYHqzOAFNgEt6U+kxeTg+GkP8A21atWWe630tst8op/wD40EVa5KVZiI7G6k4InF1aIhveNjxdOnoF6aVE0rVmOSvjG6jF5EMGPEmGQK2uq7ZFPAb94cr5hieoyzJfSkatco/wNqT/AK4RWMY/Ks30eFyjAn0hsox8ySDQa0+Sv4IvpIraNvCzd9dleJJ2w2zRk/BvCd6LciAa0zl7kyrd2kkIUIV7tIu9diT0+ktg+tb8lABJYty3U8nZ3OXB1+zIbZfR58xNtT9yEAf1Vu2XYe45CS+y5jY75LjYBASPjK5eT5hhQVpraW2uVky+RntIp4wkdm4eV5NddRQhgzNvZ20ROyST51JY/sGctN3+US8trFpC7wyzKLi82d7mEQVFHw8Tn1YdRV1xGAxeG5tj7OOOWT/eTkl5ZPvO22b5mpOgx20ENrBHBbRJFDGoVI0XiqgeQAHkKy18pQfaUpQKUpQKUpQKUpQKUpQKUpQKUpQKUpQKUpQf/9k="/>
          <p:cNvSpPr>
            <a:spLocks noChangeAspect="1" noChangeArrowheads="1"/>
          </p:cNvSpPr>
          <p:nvPr/>
        </p:nvSpPr>
        <p:spPr bwMode="auto">
          <a:xfrm>
            <a:off x="0" y="-381000"/>
            <a:ext cx="1343025" cy="800100"/>
          </a:xfrm>
          <a:prstGeom prst="rect">
            <a:avLst/>
          </a:prstGeom>
          <a:noFill/>
          <a:ln w="9525">
            <a:noFill/>
            <a:miter lim="800000"/>
            <a:headEnd/>
            <a:tailEnd/>
          </a:ln>
        </p:spPr>
        <p:txBody>
          <a:bodyPr/>
          <a:lstStyle/>
          <a:p>
            <a:pPr eaLnBrk="1" hangingPunct="1"/>
            <a:endParaRPr lang="en-US" altLang="en-US"/>
          </a:p>
        </p:txBody>
      </p:sp>
      <p:pic>
        <p:nvPicPr>
          <p:cNvPr id="9332" name="Picture 116" descr="http://us.123rf.com/400wm/400/400/tribalium123/tribalium1231209/tribalium123120900090/15099258-sombrero-mexican-hat.jpg"/>
          <p:cNvPicPr>
            <a:picLocks noChangeAspect="1" noChangeArrowheads="1"/>
          </p:cNvPicPr>
          <p:nvPr/>
        </p:nvPicPr>
        <p:blipFill>
          <a:blip r:embed="rId2" cstate="print"/>
          <a:srcRect/>
          <a:stretch>
            <a:fillRect/>
          </a:stretch>
        </p:blipFill>
        <p:spPr bwMode="auto">
          <a:xfrm>
            <a:off x="5546761" y="1965952"/>
            <a:ext cx="3208338" cy="19081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9332"/>
                                        </p:tgtEl>
                                        <p:attrNameLst>
                                          <p:attrName>style.visibility</p:attrName>
                                        </p:attrNameLst>
                                      </p:cBhvr>
                                      <p:to>
                                        <p:strVal val="visible"/>
                                      </p:to>
                                    </p:set>
                                    <p:anim calcmode="lin" valueType="num">
                                      <p:cBhvr additive="base">
                                        <p:cTn id="12" dur="1000" fill="hold"/>
                                        <p:tgtEl>
                                          <p:spTgt spid="9332"/>
                                        </p:tgtEl>
                                        <p:attrNameLst>
                                          <p:attrName>ppt_x</p:attrName>
                                        </p:attrNameLst>
                                      </p:cBhvr>
                                      <p:tavLst>
                                        <p:tav tm="0">
                                          <p:val>
                                            <p:strVal val="1+#ppt_w/2"/>
                                          </p:val>
                                        </p:tav>
                                        <p:tav tm="100000">
                                          <p:val>
                                            <p:strVal val="#ppt_x"/>
                                          </p:val>
                                        </p:tav>
                                      </p:tavLst>
                                    </p:anim>
                                    <p:anim calcmode="lin" valueType="num">
                                      <p:cBhvr additive="base">
                                        <p:cTn id="13" dur="1000" fill="hold"/>
                                        <p:tgtEl>
                                          <p:spTgt spid="93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Date Placeholder 3"/>
          <p:cNvSpPr txBox="1">
            <a:spLocks noGrp="1"/>
          </p:cNvSpPr>
          <p:nvPr/>
        </p:nvSpPr>
        <p:spPr bwMode="auto">
          <a:xfrm>
            <a:off x="0" y="6400800"/>
            <a:ext cx="1905000" cy="457200"/>
          </a:xfrm>
          <a:prstGeom prst="rect">
            <a:avLst/>
          </a:prstGeom>
          <a:noFill/>
          <a:ln w="9525">
            <a:noFill/>
            <a:miter lim="800000"/>
            <a:headEnd/>
            <a:tailEnd/>
          </a:ln>
        </p:spPr>
        <p:txBody>
          <a:bodyPr anchor="b"/>
          <a:lstStyle/>
          <a:p>
            <a:pPr eaLnBrk="1" hangingPunct="1"/>
            <a:fld id="{7BCBD747-09BC-40CC-9FEC-9A80A3D682ED}" type="datetime1">
              <a:rPr lang="en-GB" altLang="en-US" sz="1200"/>
              <a:pPr eaLnBrk="1" hangingPunct="1"/>
              <a:t>17/02/2026</a:t>
            </a:fld>
            <a:endParaRPr lang="en-GB" altLang="en-US" sz="1200"/>
          </a:p>
        </p:txBody>
      </p:sp>
      <p:sp>
        <p:nvSpPr>
          <p:cNvPr id="11268" name="Slide Number Placeholder 5"/>
          <p:cNvSpPr txBox="1">
            <a:spLocks noGrp="1"/>
          </p:cNvSpPr>
          <p:nvPr/>
        </p:nvSpPr>
        <p:spPr bwMode="auto">
          <a:xfrm>
            <a:off x="7239000" y="6400800"/>
            <a:ext cx="1905000" cy="457200"/>
          </a:xfrm>
          <a:prstGeom prst="rect">
            <a:avLst/>
          </a:prstGeom>
          <a:noFill/>
          <a:ln w="9525">
            <a:noFill/>
            <a:miter lim="800000"/>
            <a:headEnd/>
            <a:tailEnd/>
          </a:ln>
        </p:spPr>
        <p:txBody>
          <a:bodyPr anchor="b"/>
          <a:lstStyle/>
          <a:p>
            <a:pPr algn="r" eaLnBrk="1" hangingPunct="1"/>
            <a:fld id="{EB2CD136-4D43-44E3-A11B-A995EF4661D2}" type="slidenum">
              <a:rPr lang="en-GB" altLang="en-US" sz="1200"/>
              <a:pPr algn="r" eaLnBrk="1" hangingPunct="1"/>
              <a:t>5</a:t>
            </a:fld>
            <a:endParaRPr lang="en-GB" altLang="en-US" sz="1200"/>
          </a:p>
        </p:txBody>
      </p:sp>
      <p:sp>
        <p:nvSpPr>
          <p:cNvPr id="2" name="Rectangle 3"/>
          <p:cNvSpPr>
            <a:spLocks noChangeArrowheads="1"/>
          </p:cNvSpPr>
          <p:nvPr/>
        </p:nvSpPr>
        <p:spPr bwMode="auto">
          <a:xfrm>
            <a:off x="514435" y="881604"/>
            <a:ext cx="8122061" cy="1545864"/>
          </a:xfrm>
          <a:prstGeom prst="rect">
            <a:avLst/>
          </a:prstGeom>
          <a:noFill/>
          <a:ln w="9525">
            <a:noFill/>
            <a:miter lim="800000"/>
            <a:headEnd/>
            <a:tailEnd/>
          </a:ln>
        </p:spPr>
        <p:txBody>
          <a:bodyPr/>
          <a:lstStyle/>
          <a:p>
            <a:pPr marL="342000" indent="-342000" eaLnBrk="1" hangingPunct="1">
              <a:spcBef>
                <a:spcPts val="0"/>
              </a:spcBef>
              <a:buClr>
                <a:schemeClr val="folHlink"/>
              </a:buClr>
              <a:buSzPct val="60000"/>
              <a:buFont typeface="Wingdings" pitchFamily="2" charset="2"/>
              <a:buChar char="n"/>
            </a:pPr>
            <a:r>
              <a:rPr lang="en-US" altLang="en-US" b="1" dirty="0">
                <a:solidFill>
                  <a:srgbClr val="0000FF"/>
                </a:solidFill>
              </a:rPr>
              <a:t>Heuristic</a:t>
            </a:r>
            <a:r>
              <a:rPr lang="en-US" altLang="en-US" dirty="0">
                <a:solidFill>
                  <a:srgbClr val="0000FF"/>
                </a:solidFill>
              </a:rPr>
              <a:t> </a:t>
            </a:r>
            <a:r>
              <a:rPr lang="en-US" altLang="en-US" dirty="0"/>
              <a:t>(</a:t>
            </a:r>
            <a:r>
              <a:rPr lang="en-US" altLang="en-US" dirty="0">
                <a:solidFill>
                  <a:srgbClr val="0033CC"/>
                </a:solidFill>
              </a:rPr>
              <a:t>stochastic, probabilistic</a:t>
            </a:r>
            <a:r>
              <a:rPr lang="en-US" altLang="en-US" dirty="0"/>
              <a:t>) </a:t>
            </a:r>
            <a:r>
              <a:rPr lang="en-US" altLang="en-US" dirty="0">
                <a:solidFill>
                  <a:srgbClr val="0000FF"/>
                </a:solidFill>
              </a:rPr>
              <a:t>search</a:t>
            </a:r>
            <a:r>
              <a:rPr lang="en-US" altLang="en-US" dirty="0"/>
              <a:t> (exhaustive search is not possible), </a:t>
            </a:r>
            <a:r>
              <a:rPr lang="en-GB" altLang="en-US" dirty="0"/>
              <a:t>finding a solution for just the states that are reachable from the initial state, using an optimal ‘heuristic’ strategy.</a:t>
            </a:r>
          </a:p>
        </p:txBody>
      </p:sp>
      <p:sp>
        <p:nvSpPr>
          <p:cNvPr id="8" name="Rectangle 3"/>
          <p:cNvSpPr>
            <a:spLocks noChangeArrowheads="1"/>
          </p:cNvSpPr>
          <p:nvPr/>
        </p:nvSpPr>
        <p:spPr bwMode="auto">
          <a:xfrm>
            <a:off x="507503" y="2435906"/>
            <a:ext cx="8224265" cy="1196510"/>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b="1" dirty="0">
                <a:solidFill>
                  <a:srgbClr val="0000FF"/>
                </a:solidFill>
              </a:rPr>
              <a:t>Deterministic</a:t>
            </a:r>
            <a:r>
              <a:rPr lang="en-US" altLang="en-US" dirty="0">
                <a:solidFill>
                  <a:srgbClr val="0000FF"/>
                </a:solidFill>
              </a:rPr>
              <a:t> search </a:t>
            </a:r>
            <a:r>
              <a:rPr lang="en-US" altLang="en-US" dirty="0"/>
              <a:t>– strict conditions for the optimized function (continuous (</a:t>
            </a:r>
            <a:r>
              <a:rPr lang="en-GB" i="1" dirty="0"/>
              <a:t>Lipschitz continuity</a:t>
            </a:r>
            <a:r>
              <a:rPr lang="en-GB" dirty="0"/>
              <a:t>)</a:t>
            </a:r>
            <a:r>
              <a:rPr lang="en-US" altLang="en-US" dirty="0"/>
              <a:t>, differentiable, etc.</a:t>
            </a:r>
            <a:r>
              <a:rPr lang="en-GB" dirty="0"/>
              <a:t>)</a:t>
            </a:r>
            <a:r>
              <a:rPr lang="en-US" dirty="0"/>
              <a:t>. L</a:t>
            </a:r>
            <a:r>
              <a:rPr lang="en-US" altLang="en-US" dirty="0"/>
              <a:t>ocal minima (maxima) problem.</a:t>
            </a:r>
            <a:endParaRPr lang="en-GB" altLang="en-US" dirty="0"/>
          </a:p>
        </p:txBody>
      </p:sp>
      <p:sp>
        <p:nvSpPr>
          <p:cNvPr id="11271"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1272"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1" name="Rectangle 3"/>
          <p:cNvSpPr>
            <a:spLocks noChangeArrowheads="1"/>
          </p:cNvSpPr>
          <p:nvPr/>
        </p:nvSpPr>
        <p:spPr bwMode="auto">
          <a:xfrm>
            <a:off x="507503" y="3681028"/>
            <a:ext cx="8128993" cy="3081065"/>
          </a:xfrm>
          <a:prstGeom prst="rect">
            <a:avLst/>
          </a:prstGeom>
          <a:noFill/>
          <a:ln w="9525">
            <a:noFill/>
            <a:miter lim="800000"/>
            <a:headEnd/>
            <a:tailEnd/>
          </a:ln>
        </p:spPr>
        <p:txBody>
          <a:bodyPr/>
          <a:lstStyle/>
          <a:p>
            <a:pPr marL="342900" indent="-342900" eaLnBrk="1" hangingPunct="1">
              <a:spcBef>
                <a:spcPts val="600"/>
              </a:spcBef>
              <a:spcAft>
                <a:spcPts val="600"/>
              </a:spcAft>
              <a:buClr>
                <a:schemeClr val="folHlink"/>
              </a:buClr>
              <a:buSzPct val="60000"/>
              <a:buFont typeface="Wingdings" pitchFamily="2" charset="2"/>
              <a:buChar char="n"/>
            </a:pPr>
            <a:r>
              <a:rPr lang="en-US" altLang="en-US" dirty="0"/>
              <a:t>Heuristic (evolutionary) optimization methods as </a:t>
            </a:r>
            <a:r>
              <a:rPr lang="en-US" altLang="en-US" b="1" i="1" dirty="0">
                <a:solidFill>
                  <a:srgbClr val="0000FF"/>
                </a:solidFill>
              </a:rPr>
              <a:t>GAs, Simulated Annealing, Differential Evolution, Tabu Search, PSO (particle swarm) , ACO (ant colony), BCO (bee colony), AIS (immune system), </a:t>
            </a:r>
            <a:r>
              <a:rPr lang="en-US" altLang="en-US" dirty="0"/>
              <a:t>and a variety of random search techniques have been originally developed for solving combinatorial optimization problems. Later applied to continuous and mixed-discrete variables problems.</a:t>
            </a:r>
            <a:endParaRPr lang="en-GB" altLang="en-US" dirty="0"/>
          </a:p>
        </p:txBody>
      </p:sp>
    </p:spTree>
    <p:extLst>
      <p:ext uri="{BB962C8B-B14F-4D97-AF65-F5344CB8AC3E}">
        <p14:creationId xmlns:p14="http://schemas.microsoft.com/office/powerpoint/2010/main" val="32305828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dissolve">
                                      <p:cBhvr>
                                        <p:cTn id="12" dur="500"/>
                                        <p:tgtEl>
                                          <p:spTgt spid="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dissolve">
                                      <p:cBhvr>
                                        <p:cTn id="17"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P spid="8" grpId="0" build="p" autoUpdateAnimBg="0"/>
      <p:bldP spid="11"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Date Placeholder 3"/>
          <p:cNvSpPr txBox="1">
            <a:spLocks noGrp="1"/>
          </p:cNvSpPr>
          <p:nvPr/>
        </p:nvSpPr>
        <p:spPr bwMode="auto">
          <a:xfrm>
            <a:off x="0" y="6400800"/>
            <a:ext cx="1905000" cy="457200"/>
          </a:xfrm>
          <a:prstGeom prst="rect">
            <a:avLst/>
          </a:prstGeom>
          <a:noFill/>
          <a:ln w="9525">
            <a:noFill/>
            <a:miter lim="800000"/>
            <a:headEnd/>
            <a:tailEnd/>
          </a:ln>
        </p:spPr>
        <p:txBody>
          <a:bodyPr anchor="b"/>
          <a:lstStyle/>
          <a:p>
            <a:pPr eaLnBrk="1" hangingPunct="1"/>
            <a:fld id="{7BCBD747-09BC-40CC-9FEC-9A80A3D682ED}" type="datetime1">
              <a:rPr lang="en-GB" altLang="en-US" sz="1200"/>
              <a:pPr eaLnBrk="1" hangingPunct="1"/>
              <a:t>17/02/2026</a:t>
            </a:fld>
            <a:endParaRPr lang="en-GB" altLang="en-US" sz="1200"/>
          </a:p>
        </p:txBody>
      </p:sp>
      <p:sp>
        <p:nvSpPr>
          <p:cNvPr id="11268" name="Slide Number Placeholder 5"/>
          <p:cNvSpPr txBox="1">
            <a:spLocks noGrp="1"/>
          </p:cNvSpPr>
          <p:nvPr/>
        </p:nvSpPr>
        <p:spPr bwMode="auto">
          <a:xfrm>
            <a:off x="7239000" y="6400800"/>
            <a:ext cx="1905000" cy="457200"/>
          </a:xfrm>
          <a:prstGeom prst="rect">
            <a:avLst/>
          </a:prstGeom>
          <a:noFill/>
          <a:ln w="9525">
            <a:noFill/>
            <a:miter lim="800000"/>
            <a:headEnd/>
            <a:tailEnd/>
          </a:ln>
        </p:spPr>
        <p:txBody>
          <a:bodyPr anchor="b"/>
          <a:lstStyle/>
          <a:p>
            <a:pPr algn="r" eaLnBrk="1" hangingPunct="1"/>
            <a:fld id="{EB2CD136-4D43-44E3-A11B-A995EF4661D2}" type="slidenum">
              <a:rPr lang="en-GB" altLang="en-US" sz="1200"/>
              <a:pPr algn="r" eaLnBrk="1" hangingPunct="1"/>
              <a:t>6</a:t>
            </a:fld>
            <a:endParaRPr lang="en-GB" altLang="en-US" sz="1200"/>
          </a:p>
        </p:txBody>
      </p:sp>
      <p:sp>
        <p:nvSpPr>
          <p:cNvPr id="11271"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1272"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3" name="Rectangle 3"/>
          <p:cNvSpPr>
            <a:spLocks noChangeArrowheads="1"/>
          </p:cNvSpPr>
          <p:nvPr/>
        </p:nvSpPr>
        <p:spPr bwMode="auto">
          <a:xfrm>
            <a:off x="827584" y="0"/>
            <a:ext cx="8244916" cy="859718"/>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dirty="0">
                <a:solidFill>
                  <a:srgbClr val="0000FF"/>
                </a:solidFill>
              </a:rPr>
              <a:t>GAs</a:t>
            </a:r>
            <a:r>
              <a:rPr lang="en-US" altLang="en-US" dirty="0"/>
              <a:t> are search techniques inspired by the </a:t>
            </a:r>
            <a:r>
              <a:rPr lang="en-US" altLang="en-US" b="1" dirty="0"/>
              <a:t>evolution</a:t>
            </a:r>
            <a:r>
              <a:rPr lang="en-US" altLang="en-US" dirty="0"/>
              <a:t> and principle of natural selection and natural genetics.</a:t>
            </a:r>
            <a:endParaRPr lang="en-GB" altLang="en-US" dirty="0"/>
          </a:p>
        </p:txBody>
      </p:sp>
      <p:pic>
        <p:nvPicPr>
          <p:cNvPr id="14" name="Picture 13"/>
          <p:cNvPicPr>
            <a:picLocks noChangeAspect="1"/>
          </p:cNvPicPr>
          <p:nvPr/>
        </p:nvPicPr>
        <p:blipFill>
          <a:blip r:embed="rId2"/>
          <a:stretch>
            <a:fillRect/>
          </a:stretch>
        </p:blipFill>
        <p:spPr>
          <a:xfrm>
            <a:off x="575556" y="1160748"/>
            <a:ext cx="8271456" cy="4328981"/>
          </a:xfrm>
          <a:prstGeom prst="rect">
            <a:avLst/>
          </a:prstGeom>
        </p:spPr>
      </p:pic>
      <p:sp>
        <p:nvSpPr>
          <p:cNvPr id="15" name="Rectangle 3"/>
          <p:cNvSpPr>
            <a:spLocks noChangeArrowheads="1"/>
          </p:cNvSpPr>
          <p:nvPr/>
        </p:nvSpPr>
        <p:spPr bwMode="auto">
          <a:xfrm>
            <a:off x="251520" y="5586566"/>
            <a:ext cx="8820980" cy="1042834"/>
          </a:xfrm>
          <a:prstGeom prst="rect">
            <a:avLst/>
          </a:prstGeom>
          <a:noFill/>
          <a:ln w="9525">
            <a:noFill/>
            <a:miter lim="800000"/>
            <a:headEnd/>
            <a:tailEnd/>
          </a:ln>
        </p:spPr>
        <p:txBody>
          <a:bodyPr/>
          <a:lstStyle/>
          <a:p>
            <a:pPr marL="468000" indent="-457200">
              <a:spcBef>
                <a:spcPct val="20000"/>
              </a:spcBef>
              <a:buClr>
                <a:schemeClr val="folHlink"/>
              </a:buClr>
              <a:buSzPct val="60000"/>
            </a:pPr>
            <a:r>
              <a:rPr lang="en-GB" sz="2200" dirty="0">
                <a:latin typeface="+mj-lt"/>
                <a:cs typeface="Utsaah" panose="020B0604020202020204" pitchFamily="34" charset="0"/>
              </a:rPr>
              <a:t>Fig. 2. The evolution of ‘</a:t>
            </a:r>
            <a:r>
              <a:rPr lang="en-GB" sz="2200" i="1" dirty="0">
                <a:latin typeface="+mj-lt"/>
                <a:cs typeface="Utsaah" panose="020B0604020202020204" pitchFamily="34" charset="0"/>
              </a:rPr>
              <a:t>Genus Homo</a:t>
            </a:r>
            <a:r>
              <a:rPr lang="en-GB" sz="2200" dirty="0">
                <a:latin typeface="+mj-lt"/>
                <a:cs typeface="Utsaah" panose="020B0604020202020204" pitchFamily="34" charset="0"/>
              </a:rPr>
              <a:t>’, started about 1.8 million years ago in East Africa (beginning of the stone age)</a:t>
            </a:r>
            <a:r>
              <a:rPr lang="en-GB" sz="2200" dirty="0">
                <a:latin typeface="+mj-lt"/>
              </a:rPr>
              <a:t>. Recent discovery – 2.4 million-year-old tools in North Africa (Algeria).</a:t>
            </a:r>
            <a:endParaRPr lang="en-GB" sz="2200" i="1" dirty="0">
              <a:latin typeface="+mj-lt"/>
              <a:cs typeface="Utsaah"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dissolv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up)">
                                      <p:cBhvr>
                                        <p:cTn id="19"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autoUpdateAnimBg="0"/>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Date Placeholder 3"/>
          <p:cNvSpPr>
            <a:spLocks noGrp="1"/>
          </p:cNvSpPr>
          <p:nvPr>
            <p:ph type="dt" sz="quarter" idx="10"/>
          </p:nvPr>
        </p:nvSpPr>
        <p:spPr>
          <a:noFill/>
        </p:spPr>
        <p:txBody>
          <a:bodyPr/>
          <a:lstStyle/>
          <a:p>
            <a:fld id="{5ADAC978-C596-45AC-9C37-6C987E9DCA15}" type="datetime1">
              <a:rPr lang="en-GB" sz="1000" smtClean="0"/>
              <a:pPr/>
              <a:t>17/02/2026</a:t>
            </a:fld>
            <a:endParaRPr lang="en-GB" sz="1000" dirty="0"/>
          </a:p>
        </p:txBody>
      </p:sp>
      <p:sp>
        <p:nvSpPr>
          <p:cNvPr id="8196" name="Slide Number Placeholder 5"/>
          <p:cNvSpPr>
            <a:spLocks noGrp="1"/>
          </p:cNvSpPr>
          <p:nvPr>
            <p:ph type="sldNum" sz="quarter" idx="12"/>
          </p:nvPr>
        </p:nvSpPr>
        <p:spPr>
          <a:noFill/>
        </p:spPr>
        <p:txBody>
          <a:bodyPr/>
          <a:lstStyle/>
          <a:p>
            <a:fld id="{09D2CED3-8A8A-42F9-895F-00D3AB4C3A11}" type="slidenum">
              <a:rPr lang="en-GB" sz="1000" smtClean="0"/>
              <a:pPr/>
              <a:t>7</a:t>
            </a:fld>
            <a:endParaRPr lang="en-GB" sz="1000" dirty="0"/>
          </a:p>
        </p:txBody>
      </p:sp>
      <p:sp>
        <p:nvSpPr>
          <p:cNvPr id="18" name="Rectangle 3"/>
          <p:cNvSpPr>
            <a:spLocks noChangeArrowheads="1"/>
          </p:cNvSpPr>
          <p:nvPr/>
        </p:nvSpPr>
        <p:spPr bwMode="auto">
          <a:xfrm>
            <a:off x="719572" y="836711"/>
            <a:ext cx="8172908" cy="1080121"/>
          </a:xfrm>
          <a:prstGeom prst="rect">
            <a:avLst/>
          </a:prstGeom>
          <a:noFill/>
          <a:ln w="9525">
            <a:noFill/>
            <a:miter lim="800000"/>
            <a:headEnd/>
            <a:tailEnd/>
          </a:ln>
        </p:spPr>
        <p:txBody>
          <a:bodyPr/>
          <a:lstStyle/>
          <a:p>
            <a:pPr marL="342900" indent="-342900">
              <a:spcBef>
                <a:spcPct val="20000"/>
              </a:spcBef>
              <a:buClr>
                <a:schemeClr val="folHlink"/>
              </a:buClr>
              <a:buSzPct val="60000"/>
              <a:buFont typeface="Wingdings" pitchFamily="2" charset="2"/>
              <a:buChar char="n"/>
            </a:pPr>
            <a:r>
              <a:rPr lang="en-GB" sz="2000" i="1" dirty="0">
                <a:latin typeface="+mj-lt"/>
                <a:cs typeface="Utsaah" panose="020B0604020202020204" pitchFamily="34" charset="0"/>
              </a:rPr>
              <a:t>‘Homo Sapiens’  </a:t>
            </a:r>
            <a:r>
              <a:rPr lang="en-GB" sz="2000" dirty="0">
                <a:latin typeface="+mj-lt"/>
                <a:cs typeface="Utsaah" panose="020B0604020202020204" pitchFamily="34" charset="0"/>
              </a:rPr>
              <a:t>evolved about 200 000 years ago. There were 6 other human types (all extinct), e.g., </a:t>
            </a:r>
            <a:r>
              <a:rPr lang="en-GB" sz="2000" i="1" dirty="0">
                <a:latin typeface="+mj-lt"/>
                <a:cs typeface="Utsaah" panose="020B0604020202020204" pitchFamily="34" charset="0"/>
              </a:rPr>
              <a:t>Neanderthals</a:t>
            </a:r>
            <a:r>
              <a:rPr lang="en-GB" sz="2000" dirty="0">
                <a:latin typeface="+mj-lt"/>
                <a:cs typeface="Utsaah" panose="020B0604020202020204" pitchFamily="34" charset="0"/>
              </a:rPr>
              <a:t>  in Europe (extinct about 30 000 years ago) interbred with the ‘</a:t>
            </a:r>
            <a:r>
              <a:rPr lang="en-GB" sz="2000" i="1" dirty="0">
                <a:latin typeface="+mj-lt"/>
                <a:cs typeface="Utsaah" panose="020B0604020202020204" pitchFamily="34" charset="0"/>
              </a:rPr>
              <a:t>HS</a:t>
            </a:r>
            <a:r>
              <a:rPr lang="en-GB" sz="2000" dirty="0">
                <a:latin typeface="+mj-lt"/>
                <a:cs typeface="Utsaah" panose="020B0604020202020204" pitchFamily="34" charset="0"/>
              </a:rPr>
              <a:t>’).</a:t>
            </a:r>
            <a:endParaRPr lang="en-GB" sz="2000" dirty="0">
              <a:latin typeface="+mj-lt"/>
            </a:endParaRPr>
          </a:p>
        </p:txBody>
      </p:sp>
      <p:pic>
        <p:nvPicPr>
          <p:cNvPr id="7" name="Picture 12" descr="cori's Avatar"/>
          <p:cNvPicPr>
            <a:picLocks noChangeAspect="1" noChangeArrowheads="1"/>
          </p:cNvPicPr>
          <p:nvPr/>
        </p:nvPicPr>
        <p:blipFill>
          <a:blip r:embed="rId2" cstate="print"/>
          <a:srcRect r="47874"/>
          <a:stretch>
            <a:fillRect/>
          </a:stretch>
        </p:blipFill>
        <p:spPr bwMode="auto">
          <a:xfrm>
            <a:off x="1206211" y="1957093"/>
            <a:ext cx="2933741" cy="2813363"/>
          </a:xfrm>
          <a:prstGeom prst="rect">
            <a:avLst/>
          </a:prstGeom>
          <a:noFill/>
          <a:ln w="9525">
            <a:noFill/>
            <a:miter lim="800000"/>
            <a:headEnd/>
            <a:tailEnd/>
          </a:ln>
        </p:spPr>
      </p:pic>
      <p:pic>
        <p:nvPicPr>
          <p:cNvPr id="8" name="Picture 12" descr="cori's Avatar"/>
          <p:cNvPicPr>
            <a:picLocks noChangeAspect="1" noChangeArrowheads="1"/>
          </p:cNvPicPr>
          <p:nvPr/>
        </p:nvPicPr>
        <p:blipFill>
          <a:blip r:embed="rId2" cstate="print"/>
          <a:srcRect l="50394" r="34343"/>
          <a:stretch>
            <a:fillRect/>
          </a:stretch>
        </p:blipFill>
        <p:spPr bwMode="auto">
          <a:xfrm>
            <a:off x="4139952" y="1952836"/>
            <a:ext cx="864098" cy="2817620"/>
          </a:xfrm>
          <a:prstGeom prst="rect">
            <a:avLst/>
          </a:prstGeom>
          <a:noFill/>
          <a:ln w="9525">
            <a:noFill/>
            <a:miter lim="800000"/>
            <a:headEnd/>
            <a:tailEnd/>
          </a:ln>
        </p:spPr>
      </p:pic>
      <p:sp>
        <p:nvSpPr>
          <p:cNvPr id="2" name="Rectangle 1">
            <a:extLst>
              <a:ext uri="{FF2B5EF4-FFF2-40B4-BE49-F238E27FC236}">
                <a16:creationId xmlns:a16="http://schemas.microsoft.com/office/drawing/2014/main" id="{5F339AE1-8339-894A-FEEE-AB9C48A909FD}"/>
              </a:ext>
            </a:extLst>
          </p:cNvPr>
          <p:cNvSpPr/>
          <p:nvPr/>
        </p:nvSpPr>
        <p:spPr>
          <a:xfrm>
            <a:off x="719572" y="4861388"/>
            <a:ext cx="7596844" cy="2000548"/>
          </a:xfrm>
          <a:prstGeom prst="rect">
            <a:avLst/>
          </a:prstGeom>
        </p:spPr>
        <p:txBody>
          <a:bodyPr wrap="square">
            <a:spAutoFit/>
          </a:bodyPr>
          <a:lstStyle/>
          <a:p>
            <a:pPr marL="342900" indent="-342900" algn="just">
              <a:spcBef>
                <a:spcPct val="20000"/>
              </a:spcBef>
              <a:buClr>
                <a:schemeClr val="folHlink"/>
              </a:buClr>
              <a:buSzPct val="60000"/>
              <a:buFont typeface="Wingdings" pitchFamily="2" charset="2"/>
              <a:buChar char="n"/>
            </a:pPr>
            <a:r>
              <a:rPr lang="en-US" sz="2000" dirty="0">
                <a:latin typeface="Tahoma" panose="020B0604030504040204" pitchFamily="34" charset="0"/>
                <a:ea typeface="Tahoma" panose="020B0604030504040204" pitchFamily="34" charset="0"/>
                <a:cs typeface="Tahoma" panose="020B0604030504040204" pitchFamily="34" charset="0"/>
              </a:rPr>
              <a:t>Ancient DNA analysis has led to the discovery of two new extinct human species </a:t>
            </a:r>
            <a:r>
              <a:rPr lang="en-US" sz="2000" i="1" dirty="0">
                <a:latin typeface="Tahoma" panose="020B0604030504040204" pitchFamily="34" charset="0"/>
                <a:ea typeface="Tahoma" panose="020B0604030504040204" pitchFamily="34" charset="0"/>
                <a:cs typeface="Tahoma" panose="020B0604030504040204" pitchFamily="34" charset="0"/>
              </a:rPr>
              <a:t>Homo </a:t>
            </a:r>
            <a:r>
              <a:rPr lang="en-US" sz="2000" i="1" dirty="0" err="1">
                <a:latin typeface="Tahoma" panose="020B0604030504040204" pitchFamily="34" charset="0"/>
                <a:ea typeface="Tahoma" panose="020B0604030504040204" pitchFamily="34" charset="0"/>
                <a:cs typeface="Tahoma" panose="020B0604030504040204" pitchFamily="34" charset="0"/>
              </a:rPr>
              <a:t>Izonensis</a:t>
            </a:r>
            <a:r>
              <a:rPr lang="en-US" sz="2000" dirty="0">
                <a:latin typeface="Tahoma" panose="020B0604030504040204" pitchFamily="34" charset="0"/>
                <a:ea typeface="Tahoma" panose="020B0604030504040204" pitchFamily="34" charset="0"/>
                <a:cs typeface="Tahoma" panose="020B0604030504040204" pitchFamily="34" charset="0"/>
              </a:rPr>
              <a:t> and </a:t>
            </a:r>
            <a:r>
              <a:rPr lang="en-US" sz="2000" i="1" dirty="0">
                <a:latin typeface="Tahoma" panose="020B0604030504040204" pitchFamily="34" charset="0"/>
                <a:ea typeface="Tahoma" panose="020B0604030504040204" pitchFamily="34" charset="0"/>
                <a:cs typeface="Tahoma" panose="020B0604030504040204" pitchFamily="34" charset="0"/>
              </a:rPr>
              <a:t>Denisovans - </a:t>
            </a:r>
            <a:r>
              <a:rPr lang="en-US" sz="2000" dirty="0">
                <a:latin typeface="Tahoma" panose="020B0604030504040204" pitchFamily="34" charset="0"/>
                <a:ea typeface="Tahoma" panose="020B0604030504040204" pitchFamily="34" charset="0"/>
                <a:cs typeface="Tahoma" panose="020B0604030504040204" pitchFamily="34" charset="0"/>
              </a:rPr>
              <a:t>modern humans carry a substantial amount of their DNA.</a:t>
            </a:r>
          </a:p>
          <a:p>
            <a:pPr marL="342900" indent="-342900" algn="just">
              <a:spcBef>
                <a:spcPct val="20000"/>
              </a:spcBef>
              <a:buClr>
                <a:schemeClr val="folHlink"/>
              </a:buClr>
              <a:buSzPct val="60000"/>
              <a:buFont typeface="Wingdings" pitchFamily="2" charset="2"/>
              <a:buChar char="n"/>
            </a:pPr>
            <a:r>
              <a:rPr lang="en-US" sz="2000" dirty="0">
                <a:latin typeface="Tahoma" panose="020B0604030504040204" pitchFamily="34" charset="0"/>
                <a:ea typeface="Tahoma" panose="020B0604030504040204" pitchFamily="34" charset="0"/>
                <a:cs typeface="Tahoma" panose="020B0604030504040204" pitchFamily="34" charset="0"/>
              </a:rPr>
              <a:t>New techniques help scientists to analyze microscopic traces of DNA found in cave soils </a:t>
            </a:r>
            <a:r>
              <a:rPr lang="en-US" sz="2000" i="1" dirty="0">
                <a:latin typeface="Tahoma" panose="020B0604030504040204" pitchFamily="34" charset="0"/>
                <a:ea typeface="Tahoma" panose="020B0604030504040204" pitchFamily="34" charset="0"/>
                <a:cs typeface="Tahoma" panose="020B0604030504040204" pitchFamily="34" charset="0"/>
              </a:rPr>
              <a:t>Neanderthals</a:t>
            </a:r>
            <a:r>
              <a:rPr lang="en-US" sz="2000" dirty="0">
                <a:latin typeface="Tahoma" panose="020B0604030504040204" pitchFamily="34" charset="0"/>
                <a:ea typeface="Tahoma" panose="020B0604030504040204" pitchFamily="34" charset="0"/>
                <a:cs typeface="Tahoma" panose="020B0604030504040204" pitchFamily="34" charset="0"/>
              </a:rPr>
              <a:t> urinated in - no teeth or bones required.</a:t>
            </a:r>
          </a:p>
        </p:txBody>
      </p:sp>
    </p:spTree>
    <p:extLst>
      <p:ext uri="{BB962C8B-B14F-4D97-AF65-F5344CB8AC3E}">
        <p14:creationId xmlns:p14="http://schemas.microsoft.com/office/powerpoint/2010/main" val="1852666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up)">
                                      <p:cBhvr>
                                        <p:cTn id="7" dur="20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2000" fill="hold"/>
                                        <p:tgtEl>
                                          <p:spTgt spid="7"/>
                                        </p:tgtEl>
                                        <p:attrNameLst>
                                          <p:attrName>ppt_x</p:attrName>
                                        </p:attrNameLst>
                                      </p:cBhvr>
                                      <p:tavLst>
                                        <p:tav tm="0">
                                          <p:val>
                                            <p:strVal val="#ppt_x"/>
                                          </p:val>
                                        </p:tav>
                                        <p:tav tm="100000">
                                          <p:val>
                                            <p:strVal val="#ppt_x"/>
                                          </p:val>
                                        </p:tav>
                                      </p:tavLst>
                                    </p:anim>
                                    <p:anim calcmode="lin" valueType="num">
                                      <p:cBhvr additive="base">
                                        <p:cTn id="13" dur="20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2000" fill="hold"/>
                                        <p:tgtEl>
                                          <p:spTgt spid="8"/>
                                        </p:tgtEl>
                                        <p:attrNameLst>
                                          <p:attrName>ppt_x</p:attrName>
                                        </p:attrNameLst>
                                      </p:cBhvr>
                                      <p:tavLst>
                                        <p:tav tm="0">
                                          <p:val>
                                            <p:strVal val="1+#ppt_w/2"/>
                                          </p:val>
                                        </p:tav>
                                        <p:tav tm="100000">
                                          <p:val>
                                            <p:strVal val="#ppt_x"/>
                                          </p:val>
                                        </p:tav>
                                      </p:tavLst>
                                    </p:anim>
                                    <p:anim calcmode="lin" valueType="num">
                                      <p:cBhvr additive="base">
                                        <p:cTn id="19" dur="20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up)">
                                      <p:cBhvr>
                                        <p:cTn id="2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Date Placeholder 3"/>
          <p:cNvSpPr>
            <a:spLocks noGrp="1"/>
          </p:cNvSpPr>
          <p:nvPr>
            <p:ph type="dt" sz="quarter" idx="10"/>
          </p:nvPr>
        </p:nvSpPr>
        <p:spPr>
          <a:noFill/>
        </p:spPr>
        <p:txBody>
          <a:bodyPr/>
          <a:lstStyle/>
          <a:p>
            <a:fld id="{5ADAC978-C596-45AC-9C37-6C987E9DCA15}" type="datetime1">
              <a:rPr lang="en-GB" smtClean="0"/>
              <a:pPr/>
              <a:t>17/02/2026</a:t>
            </a:fld>
            <a:endParaRPr lang="en-GB"/>
          </a:p>
        </p:txBody>
      </p:sp>
      <p:sp>
        <p:nvSpPr>
          <p:cNvPr id="8196" name="Slide Number Placeholder 5"/>
          <p:cNvSpPr>
            <a:spLocks noGrp="1"/>
          </p:cNvSpPr>
          <p:nvPr>
            <p:ph type="sldNum" sz="quarter" idx="12"/>
          </p:nvPr>
        </p:nvSpPr>
        <p:spPr>
          <a:noFill/>
        </p:spPr>
        <p:txBody>
          <a:bodyPr/>
          <a:lstStyle/>
          <a:p>
            <a:fld id="{09D2CED3-8A8A-42F9-895F-00D3AB4C3A11}" type="slidenum">
              <a:rPr lang="en-GB" smtClean="0"/>
              <a:pPr/>
              <a:t>8</a:t>
            </a:fld>
            <a:endParaRPr lang="en-GB" dirty="0"/>
          </a:p>
        </p:txBody>
      </p:sp>
      <p:sp>
        <p:nvSpPr>
          <p:cNvPr id="8" name="TextBox 7">
            <a:extLst>
              <a:ext uri="{FF2B5EF4-FFF2-40B4-BE49-F238E27FC236}">
                <a16:creationId xmlns:a16="http://schemas.microsoft.com/office/drawing/2014/main" id="{E8DFE784-1101-B557-F843-8B52E3591E0F}"/>
              </a:ext>
            </a:extLst>
          </p:cNvPr>
          <p:cNvSpPr txBox="1"/>
          <p:nvPr/>
        </p:nvSpPr>
        <p:spPr>
          <a:xfrm>
            <a:off x="382342" y="5193196"/>
            <a:ext cx="8739356" cy="1569660"/>
          </a:xfrm>
          <a:prstGeom prst="rect">
            <a:avLst/>
          </a:prstGeom>
          <a:noFill/>
        </p:spPr>
        <p:txBody>
          <a:bodyPr wrap="square">
            <a:spAutoFit/>
          </a:bodyPr>
          <a:lstStyle/>
          <a:p>
            <a:r>
              <a:rPr lang="en-US" dirty="0"/>
              <a:t>Genetics later ultimately showed that all inherited traits are passed on through genes (genotype), which are not affected by outside world (as </a:t>
            </a:r>
            <a:r>
              <a:rPr lang="en-US" i="1" dirty="0"/>
              <a:t>Lamarckism</a:t>
            </a:r>
            <a:r>
              <a:rPr lang="en-US" dirty="0"/>
              <a:t> predicts), and are naturally varied, as </a:t>
            </a:r>
            <a:r>
              <a:rPr lang="en-US" i="1" dirty="0"/>
              <a:t>Darwin</a:t>
            </a:r>
            <a:r>
              <a:rPr lang="en-US" dirty="0"/>
              <a:t> predicted.</a:t>
            </a:r>
          </a:p>
        </p:txBody>
      </p:sp>
      <p:sp>
        <p:nvSpPr>
          <p:cNvPr id="9" name="TextBox 8">
            <a:extLst>
              <a:ext uri="{FF2B5EF4-FFF2-40B4-BE49-F238E27FC236}">
                <a16:creationId xmlns:a16="http://schemas.microsoft.com/office/drawing/2014/main" id="{AF4BCD69-042D-6AD5-8A83-E9CCA71018E6}"/>
              </a:ext>
            </a:extLst>
          </p:cNvPr>
          <p:cNvSpPr txBox="1"/>
          <p:nvPr/>
        </p:nvSpPr>
        <p:spPr>
          <a:xfrm>
            <a:off x="1043857" y="0"/>
            <a:ext cx="7992888" cy="830997"/>
          </a:xfrm>
          <a:prstGeom prst="rect">
            <a:avLst/>
          </a:prstGeom>
          <a:noFill/>
        </p:spPr>
        <p:txBody>
          <a:bodyPr wrap="square">
            <a:spAutoFit/>
          </a:bodyPr>
          <a:lstStyle/>
          <a:p>
            <a:pPr marL="342900" indent="-342900">
              <a:buClr>
                <a:srgbClr val="0051F2"/>
              </a:buClr>
              <a:buFont typeface="Wingdings" panose="05000000000000000000" pitchFamily="2" charset="2"/>
              <a:buChar char="§"/>
            </a:pPr>
            <a:r>
              <a:rPr lang="en-GB" i="1" dirty="0">
                <a:solidFill>
                  <a:srgbClr val="555555"/>
                </a:solidFill>
                <a:effectLst/>
                <a:latin typeface="+mn-lt"/>
              </a:rPr>
              <a:t>Lamarckism</a:t>
            </a:r>
            <a:r>
              <a:rPr lang="en-GB" i="0" dirty="0">
                <a:solidFill>
                  <a:srgbClr val="555555"/>
                </a:solidFill>
                <a:effectLst/>
                <a:latin typeface="+mn-lt"/>
              </a:rPr>
              <a:t> vs </a:t>
            </a:r>
            <a:r>
              <a:rPr lang="en-GB" i="1" dirty="0">
                <a:solidFill>
                  <a:srgbClr val="555555"/>
                </a:solidFill>
                <a:effectLst/>
                <a:latin typeface="+mn-lt"/>
              </a:rPr>
              <a:t>Darwinism </a:t>
            </a:r>
            <a:r>
              <a:rPr lang="en-GB" dirty="0">
                <a:solidFill>
                  <a:srgbClr val="555555"/>
                </a:solidFill>
                <a:effectLst/>
                <a:latin typeface="+mn-lt"/>
              </a:rPr>
              <a:t>(</a:t>
            </a:r>
            <a:r>
              <a:rPr lang="en-GB" i="0" dirty="0">
                <a:solidFill>
                  <a:srgbClr val="555555"/>
                </a:solidFill>
                <a:effectLst/>
                <a:latin typeface="+mn-lt"/>
              </a:rPr>
              <a:t>inheritance of acquired characteristics vs natural selection). </a:t>
            </a:r>
            <a:endParaRPr lang="en-US" b="0" i="0" dirty="0">
              <a:solidFill>
                <a:srgbClr val="555555"/>
              </a:solidFill>
              <a:effectLst/>
              <a:latin typeface="+mn-lt"/>
            </a:endParaRPr>
          </a:p>
        </p:txBody>
      </p:sp>
      <p:grpSp>
        <p:nvGrpSpPr>
          <p:cNvPr id="11" name="Group 10">
            <a:extLst>
              <a:ext uri="{FF2B5EF4-FFF2-40B4-BE49-F238E27FC236}">
                <a16:creationId xmlns:a16="http://schemas.microsoft.com/office/drawing/2014/main" id="{356BEC4E-628C-59AD-91C8-8484B4D990A2}"/>
              </a:ext>
            </a:extLst>
          </p:cNvPr>
          <p:cNvGrpSpPr/>
          <p:nvPr/>
        </p:nvGrpSpPr>
        <p:grpSpPr>
          <a:xfrm>
            <a:off x="283125" y="1069271"/>
            <a:ext cx="8753620" cy="4093428"/>
            <a:chOff x="283125" y="1069271"/>
            <a:chExt cx="8753620" cy="4093428"/>
          </a:xfrm>
        </p:grpSpPr>
        <p:sp>
          <p:nvSpPr>
            <p:cNvPr id="3" name="TextBox 2">
              <a:extLst>
                <a:ext uri="{FF2B5EF4-FFF2-40B4-BE49-F238E27FC236}">
                  <a16:creationId xmlns:a16="http://schemas.microsoft.com/office/drawing/2014/main" id="{C3A1BD4B-92FB-B873-AC15-869936453524}"/>
                </a:ext>
              </a:extLst>
            </p:cNvPr>
            <p:cNvSpPr txBox="1"/>
            <p:nvPr/>
          </p:nvSpPr>
          <p:spPr>
            <a:xfrm>
              <a:off x="1691929" y="1069271"/>
              <a:ext cx="7344816" cy="4093428"/>
            </a:xfrm>
            <a:prstGeom prst="rect">
              <a:avLst/>
            </a:prstGeom>
            <a:noFill/>
          </p:spPr>
          <p:txBody>
            <a:bodyPr wrap="square">
              <a:spAutoFit/>
            </a:bodyPr>
            <a:lstStyle/>
            <a:p>
              <a:pPr lvl="1" algn="just">
                <a:spcAft>
                  <a:spcPts val="2400"/>
                </a:spcAft>
                <a:buClr>
                  <a:srgbClr val="0051F2"/>
                </a:buClr>
              </a:pPr>
              <a:r>
                <a:rPr lang="en-GB" sz="2000" b="1" i="1" dirty="0">
                  <a:solidFill>
                    <a:srgbClr val="0033CC"/>
                  </a:solidFill>
                  <a:latin typeface="+mj-lt"/>
                </a:rPr>
                <a:t>Lamarckism </a:t>
              </a:r>
              <a:r>
                <a:rPr lang="en-GB" sz="2000" dirty="0">
                  <a:solidFill>
                    <a:srgbClr val="555555"/>
                  </a:solidFill>
                  <a:latin typeface="+mj-lt"/>
                </a:rPr>
                <a:t>- </a:t>
              </a:r>
              <a:r>
                <a:rPr lang="en-US" sz="2000" b="0" dirty="0">
                  <a:solidFill>
                    <a:srgbClr val="555555"/>
                  </a:solidFill>
                  <a:effectLst/>
                  <a:latin typeface="+mj-lt"/>
                </a:rPr>
                <a:t>organisms </a:t>
              </a:r>
              <a:r>
                <a:rPr lang="en-US" sz="2000" b="0" i="0" dirty="0">
                  <a:solidFill>
                    <a:srgbClr val="555555"/>
                  </a:solidFill>
                  <a:effectLst/>
                  <a:latin typeface="+mj-lt"/>
                </a:rPr>
                <a:t>can acquire traits in their lifetime to be better suited to their environment and can pass them to the next generation (</a:t>
              </a:r>
              <a:r>
                <a:rPr lang="en-US" sz="2000" dirty="0">
                  <a:solidFill>
                    <a:srgbClr val="555555"/>
                  </a:solidFill>
                  <a:latin typeface="+mj-lt"/>
                </a:rPr>
                <a:t>or acquired changes in the phenotype in one generation, can be inherited in the next)</a:t>
              </a:r>
              <a:r>
                <a:rPr lang="en-US" sz="2000" b="0" i="0" dirty="0">
                  <a:solidFill>
                    <a:srgbClr val="555555"/>
                  </a:solidFill>
                  <a:effectLst/>
                  <a:latin typeface="+mj-lt"/>
                </a:rPr>
                <a:t>.</a:t>
              </a:r>
              <a:r>
                <a:rPr lang="en-US" sz="2000" dirty="0">
                  <a:solidFill>
                    <a:srgbClr val="555555"/>
                  </a:solidFill>
                  <a:latin typeface="+mj-lt"/>
                </a:rPr>
                <a:t> Supports a vital internal force present in living organisms.</a:t>
              </a:r>
              <a:r>
                <a:rPr lang="en-US" sz="2000" b="0" i="0" dirty="0">
                  <a:solidFill>
                    <a:srgbClr val="555555"/>
                  </a:solidFill>
                  <a:effectLst/>
                  <a:latin typeface="+mj-lt"/>
                </a:rPr>
                <a:t> </a:t>
              </a:r>
            </a:p>
            <a:p>
              <a:pPr lvl="1" algn="just">
                <a:spcAft>
                  <a:spcPts val="2400"/>
                </a:spcAft>
                <a:buClr>
                  <a:srgbClr val="0051F2"/>
                </a:buClr>
              </a:pPr>
              <a:r>
                <a:rPr lang="en-US" sz="2000" b="1" i="1" dirty="0">
                  <a:solidFill>
                    <a:srgbClr val="0033CC"/>
                  </a:solidFill>
                  <a:effectLst/>
                  <a:latin typeface="+mn-lt"/>
                </a:rPr>
                <a:t>Darwinism</a:t>
              </a:r>
              <a:r>
                <a:rPr lang="en-US" sz="2000" b="1" i="0" dirty="0">
                  <a:solidFill>
                    <a:srgbClr val="555555"/>
                  </a:solidFill>
                  <a:effectLst/>
                  <a:latin typeface="+mn-lt"/>
                </a:rPr>
                <a:t> </a:t>
              </a:r>
              <a:r>
                <a:rPr lang="en-US" sz="2000" b="0" i="0" dirty="0">
                  <a:solidFill>
                    <a:srgbClr val="555555"/>
                  </a:solidFill>
                  <a:effectLst/>
                  <a:latin typeface="+mn-lt"/>
                </a:rPr>
                <a:t>- supports </a:t>
              </a:r>
              <a:r>
                <a:rPr lang="en-US" sz="2000" dirty="0">
                  <a:solidFill>
                    <a:srgbClr val="555555"/>
                  </a:solidFill>
                  <a:latin typeface="+mn-lt"/>
                </a:rPr>
                <a:t>natural selection, organisms possess  </a:t>
              </a:r>
              <a:r>
                <a:rPr lang="en-US" sz="2000" b="1" dirty="0">
                  <a:solidFill>
                    <a:srgbClr val="555555"/>
                  </a:solidFill>
                  <a:latin typeface="+mn-lt"/>
                </a:rPr>
                <a:t>variation</a:t>
              </a:r>
              <a:r>
                <a:rPr lang="en-US" sz="2000" dirty="0">
                  <a:solidFill>
                    <a:srgbClr val="555555"/>
                  </a:solidFill>
                  <a:latin typeface="+mn-lt"/>
                </a:rPr>
                <a:t> (each individual is slightly different) and these variations lead to some being more likely to survive and reproduce than others. Therefore, features (chromosomes, genes) that made an organism more likely to survive or reproduce are more likely to appear in the next generation.</a:t>
              </a:r>
              <a:endParaRPr lang="en-US" sz="2000" b="0" i="0" dirty="0">
                <a:solidFill>
                  <a:srgbClr val="555555"/>
                </a:solidFill>
                <a:effectLst/>
                <a:latin typeface="+mn-lt"/>
              </a:endParaRPr>
            </a:p>
          </p:txBody>
        </p:sp>
        <p:pic>
          <p:nvPicPr>
            <p:cNvPr id="1026" name="Picture 2" descr="Jean-Baptiste Lamarck - Wikipedia">
              <a:extLst>
                <a:ext uri="{FF2B5EF4-FFF2-40B4-BE49-F238E27FC236}">
                  <a16:creationId xmlns:a16="http://schemas.microsoft.com/office/drawing/2014/main" id="{5EFD5340-EA15-BD39-0B19-9C427E45347A}"/>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1183" b="3600"/>
            <a:stretch/>
          </p:blipFill>
          <p:spPr bwMode="auto">
            <a:xfrm>
              <a:off x="287525" y="1069271"/>
              <a:ext cx="1748262" cy="188079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4E82183A-28FC-F3B5-70AB-0C57A4DDC072}"/>
                </a:ext>
              </a:extLst>
            </p:cNvPr>
            <p:cNvPicPr>
              <a:picLocks noChangeAspect="1"/>
            </p:cNvPicPr>
            <p:nvPr/>
          </p:nvPicPr>
          <p:blipFill>
            <a:blip r:embed="rId3"/>
            <a:stretch>
              <a:fillRect/>
            </a:stretch>
          </p:blipFill>
          <p:spPr>
            <a:xfrm>
              <a:off x="283125" y="3098940"/>
              <a:ext cx="1788417" cy="1914235"/>
            </a:xfrm>
            <a:prstGeom prst="rect">
              <a:avLst/>
            </a:prstGeom>
          </p:spPr>
        </p:pic>
      </p:grpSp>
    </p:spTree>
    <p:extLst>
      <p:ext uri="{BB962C8B-B14F-4D97-AF65-F5344CB8AC3E}">
        <p14:creationId xmlns:p14="http://schemas.microsoft.com/office/powerpoint/2010/main" val="2345198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Date Placeholder 3"/>
          <p:cNvSpPr txBox="1">
            <a:spLocks noGrp="1"/>
          </p:cNvSpPr>
          <p:nvPr/>
        </p:nvSpPr>
        <p:spPr bwMode="auto">
          <a:xfrm>
            <a:off x="0" y="6400800"/>
            <a:ext cx="1905000" cy="457200"/>
          </a:xfrm>
          <a:prstGeom prst="rect">
            <a:avLst/>
          </a:prstGeom>
          <a:noFill/>
          <a:ln w="9525">
            <a:noFill/>
            <a:miter lim="800000"/>
            <a:headEnd/>
            <a:tailEnd/>
          </a:ln>
        </p:spPr>
        <p:txBody>
          <a:bodyPr anchor="b"/>
          <a:lstStyle/>
          <a:p>
            <a:pPr eaLnBrk="1" hangingPunct="1"/>
            <a:fld id="{125B7FF6-C011-4703-B4FF-9A336664B858}" type="datetime1">
              <a:rPr lang="en-GB" altLang="en-US" sz="1200"/>
              <a:pPr eaLnBrk="1" hangingPunct="1"/>
              <a:t>17/02/2026</a:t>
            </a:fld>
            <a:endParaRPr lang="en-GB" altLang="en-US" sz="1200"/>
          </a:p>
        </p:txBody>
      </p:sp>
      <p:sp>
        <p:nvSpPr>
          <p:cNvPr id="12292" name="Slide Number Placeholder 5"/>
          <p:cNvSpPr txBox="1">
            <a:spLocks noGrp="1"/>
          </p:cNvSpPr>
          <p:nvPr/>
        </p:nvSpPr>
        <p:spPr bwMode="auto">
          <a:xfrm>
            <a:off x="7239000" y="6400800"/>
            <a:ext cx="1905000" cy="457200"/>
          </a:xfrm>
          <a:prstGeom prst="rect">
            <a:avLst/>
          </a:prstGeom>
          <a:noFill/>
          <a:ln w="9525">
            <a:noFill/>
            <a:miter lim="800000"/>
            <a:headEnd/>
            <a:tailEnd/>
          </a:ln>
        </p:spPr>
        <p:txBody>
          <a:bodyPr anchor="b"/>
          <a:lstStyle/>
          <a:p>
            <a:pPr algn="r" eaLnBrk="1" hangingPunct="1"/>
            <a:fld id="{B1876FC2-8BBB-447B-A60E-71D3381376F8}" type="slidenum">
              <a:rPr lang="en-GB" altLang="en-US" sz="1200"/>
              <a:pPr algn="r" eaLnBrk="1" hangingPunct="1"/>
              <a:t>9</a:t>
            </a:fld>
            <a:endParaRPr lang="en-GB" altLang="en-US" sz="1200"/>
          </a:p>
        </p:txBody>
      </p:sp>
      <p:sp>
        <p:nvSpPr>
          <p:cNvPr id="263171" name="Rectangle 3"/>
          <p:cNvSpPr>
            <a:spLocks noGrp="1" noChangeArrowheads="1"/>
          </p:cNvSpPr>
          <p:nvPr>
            <p:ph type="body" idx="4294967295"/>
          </p:nvPr>
        </p:nvSpPr>
        <p:spPr>
          <a:xfrm>
            <a:off x="555625" y="909638"/>
            <a:ext cx="8142288" cy="547687"/>
          </a:xfrm>
        </p:spPr>
        <p:txBody>
          <a:bodyPr/>
          <a:lstStyle/>
          <a:p>
            <a:r>
              <a:rPr lang="en-US" altLang="en-US" sz="2400">
                <a:solidFill>
                  <a:schemeClr val="tx2"/>
                </a:solidFill>
              </a:rPr>
              <a:t>John Holland, K. DeJong, D. Goldberg: </a:t>
            </a:r>
            <a:r>
              <a:rPr lang="en-US" altLang="en-US" sz="2400"/>
              <a:t>mid-70s.</a:t>
            </a:r>
            <a:r>
              <a:rPr lang="en-US" altLang="en-US" sz="1400">
                <a:cs typeface="Times New Roman" pitchFamily="18" charset="0"/>
              </a:rPr>
              <a:t> </a:t>
            </a:r>
            <a:r>
              <a:rPr lang="en-US" altLang="en-US" sz="2400">
                <a:cs typeface="Times New Roman" pitchFamily="18" charset="0"/>
              </a:rPr>
              <a:t>	</a:t>
            </a:r>
          </a:p>
        </p:txBody>
      </p:sp>
      <p:sp>
        <p:nvSpPr>
          <p:cNvPr id="12294" name="Rectangle 9"/>
          <p:cNvSpPr>
            <a:spLocks noChangeArrowheads="1"/>
          </p:cNvSpPr>
          <p:nvPr/>
        </p:nvSpPr>
        <p:spPr bwMode="auto">
          <a:xfrm>
            <a:off x="4057650" y="3148013"/>
            <a:ext cx="9144000" cy="0"/>
          </a:xfrm>
          <a:prstGeom prst="rect">
            <a:avLst/>
          </a:prstGeom>
          <a:noFill/>
          <a:ln w="9525">
            <a:noFill/>
            <a:miter lim="800000"/>
            <a:headEnd/>
            <a:tailEnd/>
          </a:ln>
        </p:spPr>
        <p:txBody>
          <a:bodyPr>
            <a:spAutoFit/>
          </a:bodyPr>
          <a:lstStyle/>
          <a:p>
            <a:pPr eaLnBrk="1" hangingPunct="1"/>
            <a:endParaRPr lang="en-US" altLang="en-US"/>
          </a:p>
        </p:txBody>
      </p:sp>
      <p:sp>
        <p:nvSpPr>
          <p:cNvPr id="12295" name="Rectangle 12"/>
          <p:cNvSpPr>
            <a:spLocks noChangeArrowheads="1"/>
          </p:cNvSpPr>
          <p:nvPr/>
        </p:nvSpPr>
        <p:spPr bwMode="auto">
          <a:xfrm>
            <a:off x="3681413" y="3148013"/>
            <a:ext cx="9144000" cy="0"/>
          </a:xfrm>
          <a:prstGeom prst="rect">
            <a:avLst/>
          </a:prstGeom>
          <a:noFill/>
          <a:ln w="9525">
            <a:noFill/>
            <a:miter lim="800000"/>
            <a:headEnd/>
            <a:tailEnd/>
          </a:ln>
        </p:spPr>
        <p:txBody>
          <a:bodyPr>
            <a:spAutoFit/>
          </a:bodyPr>
          <a:lstStyle/>
          <a:p>
            <a:pPr eaLnBrk="1" hangingPunct="1"/>
            <a:endParaRPr lang="en-US" altLang="en-US"/>
          </a:p>
        </p:txBody>
      </p:sp>
      <p:sp>
        <p:nvSpPr>
          <p:cNvPr id="12296" name="Rectangle 14"/>
          <p:cNvSpPr>
            <a:spLocks noChangeArrowheads="1"/>
          </p:cNvSpPr>
          <p:nvPr/>
        </p:nvSpPr>
        <p:spPr bwMode="auto">
          <a:xfrm>
            <a:off x="3529013" y="3148013"/>
            <a:ext cx="9144000" cy="0"/>
          </a:xfrm>
          <a:prstGeom prst="rect">
            <a:avLst/>
          </a:prstGeom>
          <a:noFill/>
          <a:ln w="9525">
            <a:noFill/>
            <a:miter lim="800000"/>
            <a:headEnd/>
            <a:tailEnd/>
          </a:ln>
        </p:spPr>
        <p:txBody>
          <a:bodyPr>
            <a:spAutoFit/>
          </a:bodyPr>
          <a:lstStyle/>
          <a:p>
            <a:pPr eaLnBrk="1" hangingPunct="1"/>
            <a:endParaRPr lang="en-US" altLang="en-US"/>
          </a:p>
        </p:txBody>
      </p:sp>
      <p:sp>
        <p:nvSpPr>
          <p:cNvPr id="12297" name="Rectangle 16"/>
          <p:cNvSpPr>
            <a:spLocks noChangeArrowheads="1"/>
          </p:cNvSpPr>
          <p:nvPr/>
        </p:nvSpPr>
        <p:spPr bwMode="auto">
          <a:xfrm>
            <a:off x="3833813" y="3148013"/>
            <a:ext cx="9144000" cy="0"/>
          </a:xfrm>
          <a:prstGeom prst="rect">
            <a:avLst/>
          </a:prstGeom>
          <a:noFill/>
          <a:ln w="9525">
            <a:noFill/>
            <a:miter lim="800000"/>
            <a:headEnd/>
            <a:tailEnd/>
          </a:ln>
        </p:spPr>
        <p:txBody>
          <a:bodyPr>
            <a:spAutoFit/>
          </a:bodyPr>
          <a:lstStyle/>
          <a:p>
            <a:pPr eaLnBrk="1" hangingPunct="1"/>
            <a:endParaRPr lang="en-US" altLang="en-US"/>
          </a:p>
        </p:txBody>
      </p:sp>
      <p:sp>
        <p:nvSpPr>
          <p:cNvPr id="12298" name="Rectangle 19"/>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2299" name="Rectangle 21"/>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2300" name="Rectangle 2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2301" name="Rectangle 25"/>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2302" name="Rectangle 2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6" name="Rectangle 3"/>
          <p:cNvSpPr txBox="1">
            <a:spLocks noChangeArrowheads="1"/>
          </p:cNvSpPr>
          <p:nvPr/>
        </p:nvSpPr>
        <p:spPr bwMode="auto">
          <a:xfrm>
            <a:off x="555624" y="1566863"/>
            <a:ext cx="8588375" cy="4994485"/>
          </a:xfrm>
          <a:prstGeom prst="rect">
            <a:avLst/>
          </a:prstGeom>
          <a:noFill/>
          <a:ln>
            <a:noFill/>
          </a:ln>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800100" indent="-34290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ts val="600"/>
              </a:spcBef>
              <a:spcAft>
                <a:spcPts val="600"/>
              </a:spcAft>
              <a:defRPr/>
            </a:pPr>
            <a:r>
              <a:rPr lang="en-GB" altLang="en-US" sz="2400" dirty="0"/>
              <a:t>GA are inspired by the evolutionary biology, including recombination, mutation, inheritance, and selection:</a:t>
            </a:r>
          </a:p>
          <a:p>
            <a:pPr lvl="1">
              <a:spcBef>
                <a:spcPts val="600"/>
              </a:spcBef>
              <a:spcAft>
                <a:spcPts val="600"/>
              </a:spcAft>
              <a:buClr>
                <a:schemeClr val="folHlink"/>
              </a:buClr>
              <a:buSzPct val="60000"/>
              <a:buFont typeface="Wingdings" panose="05000000000000000000" pitchFamily="2" charset="2"/>
              <a:buChar char="Ø"/>
              <a:defRPr/>
            </a:pPr>
            <a:r>
              <a:rPr lang="en-GB" altLang="en-US" sz="2400" dirty="0"/>
              <a:t>Evolution operates on </a:t>
            </a:r>
            <a:r>
              <a:rPr lang="en-GB" altLang="en-US" sz="2400" b="1" i="1" dirty="0">
                <a:solidFill>
                  <a:srgbClr val="0000FF"/>
                </a:solidFill>
              </a:rPr>
              <a:t>chromosomes </a:t>
            </a:r>
            <a:r>
              <a:rPr lang="en-GB" altLang="en-US" sz="2400" dirty="0"/>
              <a:t>;</a:t>
            </a:r>
          </a:p>
          <a:p>
            <a:pPr lvl="1">
              <a:spcBef>
                <a:spcPts val="600"/>
              </a:spcBef>
              <a:spcAft>
                <a:spcPts val="600"/>
              </a:spcAft>
              <a:buClr>
                <a:schemeClr val="folHlink"/>
              </a:buClr>
              <a:buSzPct val="60000"/>
              <a:buFont typeface="Wingdings" panose="05000000000000000000" pitchFamily="2" charset="2"/>
              <a:buChar char="Ø"/>
              <a:defRPr/>
            </a:pPr>
            <a:r>
              <a:rPr lang="en-GB" altLang="en-US" sz="2400" dirty="0"/>
              <a:t>Chromosomes are </a:t>
            </a:r>
            <a:r>
              <a:rPr lang="en-GB" altLang="en-US" sz="2400" b="1" i="1" dirty="0">
                <a:solidFill>
                  <a:srgbClr val="0000FF"/>
                </a:solidFill>
              </a:rPr>
              <a:t>strings</a:t>
            </a:r>
            <a:r>
              <a:rPr lang="en-GB" altLang="en-US" sz="2400" b="1" i="1" dirty="0"/>
              <a:t> </a:t>
            </a:r>
            <a:r>
              <a:rPr lang="en-GB" altLang="en-US" sz="2400" b="1" i="1" dirty="0">
                <a:solidFill>
                  <a:srgbClr val="0000FF"/>
                </a:solidFill>
              </a:rPr>
              <a:t>of</a:t>
            </a:r>
            <a:r>
              <a:rPr lang="en-GB" altLang="en-US" sz="2400" b="1" i="1" dirty="0"/>
              <a:t> </a:t>
            </a:r>
            <a:r>
              <a:rPr lang="en-GB" altLang="en-US" sz="2400" b="1" i="1" dirty="0">
                <a:solidFill>
                  <a:srgbClr val="0000FF"/>
                </a:solidFill>
              </a:rPr>
              <a:t>genes </a:t>
            </a:r>
            <a:r>
              <a:rPr lang="en-GB" altLang="en-US" sz="2400" dirty="0"/>
              <a:t>;</a:t>
            </a:r>
          </a:p>
          <a:p>
            <a:pPr lvl="1">
              <a:spcBef>
                <a:spcPts val="600"/>
              </a:spcBef>
              <a:spcAft>
                <a:spcPts val="600"/>
              </a:spcAft>
              <a:buClr>
                <a:schemeClr val="folHlink"/>
              </a:buClr>
              <a:buSzPct val="60000"/>
              <a:buFont typeface="Wingdings" panose="05000000000000000000" pitchFamily="2" charset="2"/>
              <a:buChar char="Ø"/>
              <a:defRPr/>
            </a:pPr>
            <a:r>
              <a:rPr lang="en-GB" altLang="en-US" sz="2400" dirty="0"/>
              <a:t>Each </a:t>
            </a:r>
            <a:r>
              <a:rPr lang="en-GB" altLang="en-US" sz="2400" b="1" i="1" dirty="0">
                <a:solidFill>
                  <a:srgbClr val="0000FF"/>
                </a:solidFill>
              </a:rPr>
              <a:t>chromosome</a:t>
            </a:r>
            <a:r>
              <a:rPr lang="en-GB" altLang="en-US" sz="2400" dirty="0">
                <a:solidFill>
                  <a:srgbClr val="0000FF"/>
                </a:solidFill>
              </a:rPr>
              <a:t> </a:t>
            </a:r>
            <a:r>
              <a:rPr lang="en-GB" altLang="en-US" sz="2400" dirty="0"/>
              <a:t> is assessed with </a:t>
            </a:r>
            <a:r>
              <a:rPr lang="en-GB" altLang="en-US" sz="2400" b="1" dirty="0">
                <a:solidFill>
                  <a:srgbClr val="FF0000"/>
                </a:solidFill>
              </a:rPr>
              <a:t>a </a:t>
            </a:r>
            <a:r>
              <a:rPr lang="en-GB" altLang="en-US" sz="2400" b="1" i="1" dirty="0">
                <a:solidFill>
                  <a:srgbClr val="FF0000"/>
                </a:solidFill>
              </a:rPr>
              <a:t>fitness </a:t>
            </a:r>
            <a:r>
              <a:rPr lang="en-GB" altLang="en-US" sz="2400" dirty="0"/>
              <a:t>;</a:t>
            </a:r>
          </a:p>
          <a:p>
            <a:pPr lvl="1">
              <a:spcBef>
                <a:spcPts val="600"/>
              </a:spcBef>
              <a:spcAft>
                <a:spcPts val="600"/>
              </a:spcAft>
              <a:buClr>
                <a:schemeClr val="folHlink"/>
              </a:buClr>
              <a:buSzPct val="60000"/>
              <a:buFont typeface="Wingdings" panose="05000000000000000000" pitchFamily="2" charset="2"/>
              <a:buChar char="Ø"/>
              <a:defRPr/>
            </a:pPr>
            <a:r>
              <a:rPr lang="en-GB" altLang="en-US" sz="2400" dirty="0"/>
              <a:t>Less fit </a:t>
            </a:r>
            <a:r>
              <a:rPr lang="en-GB" altLang="en-US" sz="2400" b="1" i="1" dirty="0">
                <a:solidFill>
                  <a:srgbClr val="0000FF"/>
                </a:solidFill>
              </a:rPr>
              <a:t>chromosomes  </a:t>
            </a:r>
            <a:r>
              <a:rPr lang="en-GB" altLang="en-US" sz="2400" dirty="0"/>
              <a:t>do not survive due to natural selection (</a:t>
            </a:r>
            <a:r>
              <a:rPr lang="en-GB" altLang="en-US" sz="2400" b="1" i="1" dirty="0">
                <a:solidFill>
                  <a:srgbClr val="0033CC"/>
                </a:solidFill>
              </a:rPr>
              <a:t>survival of the fittest</a:t>
            </a:r>
            <a:r>
              <a:rPr lang="en-GB" altLang="en-US" sz="2400" dirty="0"/>
              <a:t>);</a:t>
            </a:r>
          </a:p>
          <a:p>
            <a:pPr lvl="1">
              <a:spcBef>
                <a:spcPts val="600"/>
              </a:spcBef>
              <a:spcAft>
                <a:spcPts val="600"/>
              </a:spcAft>
              <a:buClr>
                <a:schemeClr val="folHlink"/>
              </a:buClr>
              <a:buSzPct val="60000"/>
              <a:buFont typeface="Wingdings" panose="05000000000000000000" pitchFamily="2" charset="2"/>
              <a:buChar char="Ø"/>
              <a:defRPr/>
            </a:pPr>
            <a:r>
              <a:rPr lang="en-GB" altLang="en-US" sz="2400" dirty="0"/>
              <a:t>New generation (</a:t>
            </a:r>
            <a:r>
              <a:rPr lang="en-GB" altLang="en-US" sz="2400" b="1" i="1" dirty="0">
                <a:solidFill>
                  <a:srgbClr val="0000FF"/>
                </a:solidFill>
              </a:rPr>
              <a:t>offspring</a:t>
            </a:r>
            <a:r>
              <a:rPr lang="en-GB" altLang="en-US" sz="2400" dirty="0"/>
              <a:t>) inherits properties from the old generation (</a:t>
            </a:r>
            <a:r>
              <a:rPr lang="en-GB" altLang="en-US" sz="2400" b="1" i="1" dirty="0">
                <a:solidFill>
                  <a:srgbClr val="0000FF"/>
                </a:solidFill>
              </a:rPr>
              <a:t>parents</a:t>
            </a:r>
            <a:r>
              <a:rPr lang="en-GB" altLang="en-US" sz="2400" dirty="0"/>
              <a:t>) by reproduction;</a:t>
            </a:r>
          </a:p>
          <a:p>
            <a:pPr lvl="1">
              <a:spcBef>
                <a:spcPts val="600"/>
              </a:spcBef>
              <a:spcAft>
                <a:spcPts val="600"/>
              </a:spcAft>
              <a:buClr>
                <a:schemeClr val="folHlink"/>
              </a:buClr>
              <a:buSzPct val="60000"/>
              <a:buFont typeface="Wingdings" panose="05000000000000000000" pitchFamily="2" charset="2"/>
              <a:buChar char="Ø"/>
              <a:defRPr/>
            </a:pPr>
            <a:r>
              <a:rPr lang="en-GB" altLang="en-US" sz="2400" dirty="0"/>
              <a:t>More successful (better fit) </a:t>
            </a:r>
            <a:r>
              <a:rPr lang="en-GB" altLang="en-US" sz="2400" b="1" i="1" dirty="0">
                <a:solidFill>
                  <a:srgbClr val="0000FF"/>
                </a:solidFill>
              </a:rPr>
              <a:t>chromosomes</a:t>
            </a:r>
            <a:r>
              <a:rPr lang="en-GB" altLang="en-US" sz="2400" dirty="0"/>
              <a:t>  reproduce more.</a:t>
            </a:r>
          </a:p>
        </p:txBody>
      </p:sp>
      <p:sp>
        <p:nvSpPr>
          <p:cNvPr id="12304" name="Rectangle 19"/>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2305" name="Rectangle 2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3171">
                                            <p:txEl>
                                              <p:pRg st="0" end="0"/>
                                            </p:txEl>
                                          </p:spTgt>
                                        </p:tgtEl>
                                        <p:attrNameLst>
                                          <p:attrName>style.visibility</p:attrName>
                                        </p:attrNameLst>
                                      </p:cBhvr>
                                      <p:to>
                                        <p:strVal val="visible"/>
                                      </p:to>
                                    </p:set>
                                    <p:animEffect transition="in" filter="dissolve">
                                      <p:cBhvr>
                                        <p:cTn id="7" dur="500"/>
                                        <p:tgtEl>
                                          <p:spTgt spid="2631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1" grpId="0" build="p" autoUpdateAnimBg="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0" y="333375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3315" name="Rectangle 4"/>
          <p:cNvSpPr>
            <a:spLocks noChangeArrowheads="1"/>
          </p:cNvSpPr>
          <p:nvPr/>
        </p:nvSpPr>
        <p:spPr bwMode="auto">
          <a:xfrm>
            <a:off x="0" y="335280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3316" name="Rectangle 5"/>
          <p:cNvSpPr>
            <a:spLocks noChangeArrowheads="1"/>
          </p:cNvSpPr>
          <p:nvPr/>
        </p:nvSpPr>
        <p:spPr bwMode="auto">
          <a:xfrm>
            <a:off x="0" y="3338513"/>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3317" name="Rectangle 6"/>
          <p:cNvSpPr>
            <a:spLocks noChangeArrowheads="1"/>
          </p:cNvSpPr>
          <p:nvPr/>
        </p:nvSpPr>
        <p:spPr bwMode="auto">
          <a:xfrm>
            <a:off x="0" y="333375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3318" name="Rectangle 7"/>
          <p:cNvSpPr>
            <a:spLocks noChangeArrowheads="1"/>
          </p:cNvSpPr>
          <p:nvPr/>
        </p:nvSpPr>
        <p:spPr bwMode="auto">
          <a:xfrm>
            <a:off x="0" y="333375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19817" name="Rectangle 9"/>
          <p:cNvSpPr>
            <a:spLocks noChangeArrowheads="1"/>
          </p:cNvSpPr>
          <p:nvPr/>
        </p:nvSpPr>
        <p:spPr bwMode="auto">
          <a:xfrm>
            <a:off x="1007604" y="742897"/>
            <a:ext cx="8274729" cy="1200150"/>
          </a:xfrm>
          <a:prstGeom prst="rect">
            <a:avLst/>
          </a:prstGeom>
          <a:noFill/>
          <a:ln w="12700">
            <a:noFill/>
            <a:miter lim="800000"/>
            <a:headEnd type="none" w="sm" len="sm"/>
            <a:tailEnd type="none" w="sm" len="sm"/>
          </a:ln>
        </p:spPr>
        <p:txBody>
          <a:bodyPr wrap="square" anchor="ctr">
            <a:spAutoFit/>
          </a:bodyPr>
          <a:lstStyle/>
          <a:p>
            <a:pPr marL="431800" indent="-457200">
              <a:buFontTx/>
              <a:buBlip>
                <a:blip r:embed="rId3"/>
              </a:buBlip>
              <a:tabLst>
                <a:tab pos="457200" algn="l"/>
              </a:tabLst>
            </a:pPr>
            <a:r>
              <a:rPr lang="en-US" altLang="en-US" dirty="0"/>
              <a:t>GA combine the effect of selection with structured, </a:t>
            </a:r>
            <a:r>
              <a:rPr lang="en-US" altLang="en-US" dirty="0" err="1"/>
              <a:t>randomised</a:t>
            </a:r>
            <a:r>
              <a:rPr lang="en-US" altLang="en-US" dirty="0"/>
              <a:t> recombination of genetic material to perform robust search.</a:t>
            </a:r>
          </a:p>
        </p:txBody>
      </p:sp>
      <p:grpSp>
        <p:nvGrpSpPr>
          <p:cNvPr id="13322" name="Group 16"/>
          <p:cNvGrpSpPr>
            <a:grpSpLocks/>
          </p:cNvGrpSpPr>
          <p:nvPr/>
        </p:nvGrpSpPr>
        <p:grpSpPr bwMode="auto">
          <a:xfrm>
            <a:off x="899220" y="2000969"/>
            <a:ext cx="8028992" cy="4795838"/>
            <a:chOff x="814" y="1431"/>
            <a:chExt cx="4732" cy="3021"/>
          </a:xfrm>
        </p:grpSpPr>
        <p:sp>
          <p:nvSpPr>
            <p:cNvPr id="13323" name="Rectangle 15"/>
            <p:cNvSpPr>
              <a:spLocks noChangeArrowheads="1"/>
            </p:cNvSpPr>
            <p:nvPr/>
          </p:nvSpPr>
          <p:spPr bwMode="auto">
            <a:xfrm>
              <a:off x="814" y="3929"/>
              <a:ext cx="4732" cy="523"/>
            </a:xfrm>
            <a:prstGeom prst="rect">
              <a:avLst/>
            </a:prstGeom>
            <a:noFill/>
            <a:ln w="9525">
              <a:noFill/>
              <a:miter lim="800000"/>
              <a:headEnd/>
              <a:tailEnd/>
            </a:ln>
          </p:spPr>
          <p:txBody>
            <a:bodyPr wrap="square">
              <a:spAutoFit/>
            </a:bodyPr>
            <a:lstStyle/>
            <a:p>
              <a:pPr marL="720000" indent="-720000" eaLnBrk="1" hangingPunct="1"/>
              <a:r>
                <a:rPr lang="en-US" altLang="en-US" dirty="0"/>
                <a:t>Fig. 3. Deterministic search (minimization) - local minima (maxima) problem.</a:t>
              </a:r>
              <a:endParaRPr lang="bg-BG" altLang="en-US" dirty="0"/>
            </a:p>
          </p:txBody>
        </p:sp>
        <p:pic>
          <p:nvPicPr>
            <p:cNvPr id="13324" name="Picture 14" descr="picture deterministic optim"/>
            <p:cNvPicPr>
              <a:picLocks noChangeAspect="1" noChangeArrowheads="1"/>
            </p:cNvPicPr>
            <p:nvPr/>
          </p:nvPicPr>
          <p:blipFill>
            <a:blip r:embed="rId4" cstate="print"/>
            <a:srcRect/>
            <a:stretch>
              <a:fillRect/>
            </a:stretch>
          </p:blipFill>
          <p:spPr bwMode="auto">
            <a:xfrm>
              <a:off x="1563" y="1431"/>
              <a:ext cx="2870" cy="2458"/>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9817"/>
                                        </p:tgtEl>
                                        <p:attrNameLst>
                                          <p:attrName>style.visibility</p:attrName>
                                        </p:attrNameLst>
                                      </p:cBhvr>
                                      <p:to>
                                        <p:strVal val="visible"/>
                                      </p:to>
                                    </p:set>
                                    <p:anim calcmode="lin" valueType="num">
                                      <p:cBhvr additive="base">
                                        <p:cTn id="7" dur="500" fill="hold"/>
                                        <p:tgtEl>
                                          <p:spTgt spid="119817"/>
                                        </p:tgtEl>
                                        <p:attrNameLst>
                                          <p:attrName>ppt_x</p:attrName>
                                        </p:attrNameLst>
                                      </p:cBhvr>
                                      <p:tavLst>
                                        <p:tav tm="0">
                                          <p:val>
                                            <p:strVal val="0-#ppt_w/2"/>
                                          </p:val>
                                        </p:tav>
                                        <p:tav tm="100000">
                                          <p:val>
                                            <p:strVal val="#ppt_x"/>
                                          </p:val>
                                        </p:tav>
                                      </p:tavLst>
                                    </p:anim>
                                    <p:anim calcmode="lin" valueType="num">
                                      <p:cBhvr additive="base">
                                        <p:cTn id="8" dur="500" fill="hold"/>
                                        <p:tgtEl>
                                          <p:spTgt spid="11981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322"/>
                                        </p:tgtEl>
                                        <p:attrNameLst>
                                          <p:attrName>style.visibility</p:attrName>
                                        </p:attrNameLst>
                                      </p:cBhvr>
                                      <p:to>
                                        <p:strVal val="visible"/>
                                      </p:to>
                                    </p:set>
                                    <p:anim calcmode="lin" valueType="num">
                                      <p:cBhvr additive="base">
                                        <p:cTn id="13" dur="500" fill="hold"/>
                                        <p:tgtEl>
                                          <p:spTgt spid="13322"/>
                                        </p:tgtEl>
                                        <p:attrNameLst>
                                          <p:attrName>ppt_x</p:attrName>
                                        </p:attrNameLst>
                                      </p:cBhvr>
                                      <p:tavLst>
                                        <p:tav tm="0">
                                          <p:val>
                                            <p:strVal val="#ppt_x"/>
                                          </p:val>
                                        </p:tav>
                                        <p:tav tm="100000">
                                          <p:val>
                                            <p:strVal val="#ppt_x"/>
                                          </p:val>
                                        </p:tav>
                                      </p:tavLst>
                                    </p:anim>
                                    <p:anim calcmode="lin" valueType="num">
                                      <p:cBhvr additive="base">
                                        <p:cTn id="14" dur="500" fill="hold"/>
                                        <p:tgtEl>
                                          <p:spTgt spid="133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7"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27"/>
          <p:cNvSpPr>
            <a:spLocks noChangeArrowheads="1"/>
          </p:cNvSpPr>
          <p:nvPr/>
        </p:nvSpPr>
        <p:spPr bwMode="auto">
          <a:xfrm>
            <a:off x="0" y="333375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4339" name="Rectangle 1028"/>
          <p:cNvSpPr>
            <a:spLocks noChangeArrowheads="1"/>
          </p:cNvSpPr>
          <p:nvPr/>
        </p:nvSpPr>
        <p:spPr bwMode="auto">
          <a:xfrm>
            <a:off x="0" y="335280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4340" name="Rectangle 1029"/>
          <p:cNvSpPr>
            <a:spLocks noChangeArrowheads="1"/>
          </p:cNvSpPr>
          <p:nvPr/>
        </p:nvSpPr>
        <p:spPr bwMode="auto">
          <a:xfrm>
            <a:off x="0" y="3338513"/>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4341" name="Rectangle 1030"/>
          <p:cNvSpPr>
            <a:spLocks noChangeArrowheads="1"/>
          </p:cNvSpPr>
          <p:nvPr/>
        </p:nvSpPr>
        <p:spPr bwMode="auto">
          <a:xfrm>
            <a:off x="0" y="333375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4342" name="Rectangle 1031"/>
          <p:cNvSpPr>
            <a:spLocks noChangeArrowheads="1"/>
          </p:cNvSpPr>
          <p:nvPr/>
        </p:nvSpPr>
        <p:spPr bwMode="auto">
          <a:xfrm>
            <a:off x="0" y="3333750"/>
            <a:ext cx="9144000" cy="0"/>
          </a:xfrm>
          <a:prstGeom prst="rect">
            <a:avLst/>
          </a:prstGeom>
          <a:noFill/>
          <a:ln w="9525">
            <a:noFill/>
            <a:miter lim="800000"/>
            <a:headEnd/>
            <a:tailEnd/>
          </a:ln>
        </p:spPr>
        <p:txBody>
          <a:bodyPr wrap="none" anchor="ctr">
            <a:spAutoFit/>
          </a:bodyPr>
          <a:lstStyle/>
          <a:p>
            <a:pPr eaLnBrk="1" hangingPunct="1"/>
            <a:endParaRPr lang="en-US" altLang="en-US"/>
          </a:p>
        </p:txBody>
      </p:sp>
      <p:grpSp>
        <p:nvGrpSpPr>
          <p:cNvPr id="2" name="Group 1044"/>
          <p:cNvGrpSpPr>
            <a:grpSpLocks/>
          </p:cNvGrpSpPr>
          <p:nvPr/>
        </p:nvGrpSpPr>
        <p:grpSpPr bwMode="auto">
          <a:xfrm>
            <a:off x="684213" y="763588"/>
            <a:ext cx="8316913" cy="5978525"/>
            <a:chOff x="431" y="481"/>
            <a:chExt cx="5239" cy="3766"/>
          </a:xfrm>
        </p:grpSpPr>
        <p:grpSp>
          <p:nvGrpSpPr>
            <p:cNvPr id="14344" name="Group 1043"/>
            <p:cNvGrpSpPr>
              <a:grpSpLocks/>
            </p:cNvGrpSpPr>
            <p:nvPr/>
          </p:nvGrpSpPr>
          <p:grpSpPr bwMode="auto">
            <a:xfrm>
              <a:off x="589" y="481"/>
              <a:ext cx="5081" cy="3253"/>
              <a:chOff x="589" y="481"/>
              <a:chExt cx="5081" cy="3253"/>
            </a:xfrm>
          </p:grpSpPr>
          <p:sp>
            <p:nvSpPr>
              <p:cNvPr id="14346" name="Rectangle 1036"/>
              <p:cNvSpPr>
                <a:spLocks noChangeArrowheads="1"/>
              </p:cNvSpPr>
              <p:nvPr/>
            </p:nvSpPr>
            <p:spPr bwMode="auto">
              <a:xfrm>
                <a:off x="589" y="481"/>
                <a:ext cx="5081" cy="523"/>
              </a:xfrm>
              <a:prstGeom prst="rect">
                <a:avLst/>
              </a:prstGeom>
              <a:noFill/>
              <a:ln w="12700">
                <a:noFill/>
                <a:miter lim="800000"/>
                <a:headEnd type="none" w="sm" len="sm"/>
                <a:tailEnd type="none" w="sm" len="sm"/>
              </a:ln>
            </p:spPr>
            <p:txBody>
              <a:bodyPr wrap="square" anchor="ctr">
                <a:spAutoFit/>
              </a:bodyPr>
              <a:lstStyle/>
              <a:p>
                <a:pPr marL="431800" indent="-457200">
                  <a:buFontTx/>
                  <a:buBlip>
                    <a:blip r:embed="rId3"/>
                  </a:buBlip>
                  <a:tabLst>
                    <a:tab pos="457200" algn="l"/>
                  </a:tabLst>
                </a:pPr>
                <a:r>
                  <a:rPr lang="en-US" altLang="en-US" dirty="0"/>
                  <a:t>Heuristic (stochastic) search (exhaustive search is not possible).</a:t>
                </a:r>
              </a:p>
            </p:txBody>
          </p:sp>
          <p:pic>
            <p:nvPicPr>
              <p:cNvPr id="14347" name="Picture 1040"/>
              <p:cNvPicPr>
                <a:picLocks noChangeAspect="1" noChangeArrowheads="1"/>
              </p:cNvPicPr>
              <p:nvPr/>
            </p:nvPicPr>
            <p:blipFill>
              <a:blip r:embed="rId4" cstate="print"/>
              <a:srcRect/>
              <a:stretch>
                <a:fillRect/>
              </a:stretch>
            </p:blipFill>
            <p:spPr bwMode="auto">
              <a:xfrm>
                <a:off x="907" y="1035"/>
                <a:ext cx="3606" cy="2699"/>
              </a:xfrm>
              <a:prstGeom prst="rect">
                <a:avLst/>
              </a:prstGeom>
              <a:noFill/>
              <a:ln w="9525">
                <a:noFill/>
                <a:miter lim="800000"/>
                <a:headEnd/>
                <a:tailEnd/>
              </a:ln>
            </p:spPr>
          </p:pic>
        </p:grpSp>
        <p:sp>
          <p:nvSpPr>
            <p:cNvPr id="14345" name="Rectangle 1041"/>
            <p:cNvSpPr>
              <a:spLocks noChangeArrowheads="1"/>
            </p:cNvSpPr>
            <p:nvPr/>
          </p:nvSpPr>
          <p:spPr bwMode="auto">
            <a:xfrm>
              <a:off x="431" y="3724"/>
              <a:ext cx="5163" cy="523"/>
            </a:xfrm>
            <a:prstGeom prst="rect">
              <a:avLst/>
            </a:prstGeom>
            <a:noFill/>
            <a:ln w="12700">
              <a:noFill/>
              <a:miter lim="800000"/>
              <a:headEnd type="none" w="sm" len="sm"/>
              <a:tailEnd type="none" w="sm" len="sm"/>
            </a:ln>
          </p:spPr>
          <p:txBody>
            <a:bodyPr wrap="square" anchor="ctr">
              <a:spAutoFit/>
            </a:bodyPr>
            <a:lstStyle/>
            <a:p>
              <a:pPr marL="431800" indent="-719138"/>
              <a:r>
                <a:rPr lang="en-US" altLang="en-US" dirty="0"/>
                <a:t>Fig. 4. Even in a 2-dimensional optimization problem the search space can be highly complex.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000" fill="hold"/>
                                        <p:tgtEl>
                                          <p:spTgt spid="2"/>
                                        </p:tgtEl>
                                        <p:attrNameLst>
                                          <p:attrName>ppt_x</p:attrName>
                                        </p:attrNameLst>
                                      </p:cBhvr>
                                      <p:tavLst>
                                        <p:tav tm="0">
                                          <p:val>
                                            <p:strVal val="#ppt_x"/>
                                          </p:val>
                                        </p:tav>
                                        <p:tav tm="100000">
                                          <p:val>
                                            <p:strVal val="#ppt_x"/>
                                          </p:val>
                                        </p:tav>
                                      </p:tavLst>
                                    </p:anim>
                                    <p:anim calcmode="lin" valueType="num">
                                      <p:cBhvr additive="base">
                                        <p:cTn id="8" dur="2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Date Placeholder 3"/>
          <p:cNvSpPr>
            <a:spLocks noGrp="1"/>
          </p:cNvSpPr>
          <p:nvPr>
            <p:ph type="dt" sz="quarter" idx="10"/>
          </p:nvPr>
        </p:nvSpPr>
        <p:spPr>
          <a:noFill/>
        </p:spPr>
        <p:txBody>
          <a:bodyPr/>
          <a:lstStyle/>
          <a:p>
            <a:fld id="{8E902E39-9026-4745-9AD7-6AEFCE13069C}" type="datetime1">
              <a:rPr lang="en-GB" altLang="en-US" smtClean="0"/>
              <a:pPr/>
              <a:t>17/02/2026</a:t>
            </a:fld>
            <a:endParaRPr lang="en-GB" altLang="en-US"/>
          </a:p>
        </p:txBody>
      </p:sp>
      <p:sp>
        <p:nvSpPr>
          <p:cNvPr id="15364" name="Slide Number Placeholder 5"/>
          <p:cNvSpPr>
            <a:spLocks noGrp="1"/>
          </p:cNvSpPr>
          <p:nvPr>
            <p:ph type="sldNum" sz="quarter" idx="12"/>
          </p:nvPr>
        </p:nvSpPr>
        <p:spPr>
          <a:noFill/>
        </p:spPr>
        <p:txBody>
          <a:bodyPr/>
          <a:lstStyle/>
          <a:p>
            <a:fld id="{6D49A2E5-6BBE-4633-9A1C-3097B258F3C2}" type="slidenum">
              <a:rPr lang="en-GB" altLang="en-US" smtClean="0"/>
              <a:pPr/>
              <a:t>12</a:t>
            </a:fld>
            <a:endParaRPr lang="en-GB" altLang="en-US"/>
          </a:p>
        </p:txBody>
      </p:sp>
      <p:sp>
        <p:nvSpPr>
          <p:cNvPr id="15365"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5366" name="Rectangle 11"/>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3" name="Rectangle 2"/>
          <p:cNvSpPr>
            <a:spLocks noGrp="1" noChangeArrowheads="1"/>
          </p:cNvSpPr>
          <p:nvPr>
            <p:ph type="title"/>
          </p:nvPr>
        </p:nvSpPr>
        <p:spPr>
          <a:xfrm>
            <a:off x="2015716" y="12271"/>
            <a:ext cx="4032448" cy="661988"/>
          </a:xfrm>
        </p:spPr>
        <p:txBody>
          <a:bodyPr/>
          <a:lstStyle/>
          <a:p>
            <a:r>
              <a:rPr lang="en-US" altLang="en-US" sz="3200" dirty="0"/>
              <a:t>2. </a:t>
            </a:r>
            <a:r>
              <a:rPr lang="en-GB" altLang="en-US" sz="3200" dirty="0"/>
              <a:t>GA terminology</a:t>
            </a:r>
          </a:p>
        </p:txBody>
      </p:sp>
      <p:sp>
        <p:nvSpPr>
          <p:cNvPr id="9228" name="Rectangle 26"/>
          <p:cNvSpPr>
            <a:spLocks noChangeArrowheads="1"/>
          </p:cNvSpPr>
          <p:nvPr/>
        </p:nvSpPr>
        <p:spPr bwMode="auto">
          <a:xfrm>
            <a:off x="467544" y="5170903"/>
            <a:ext cx="8244916" cy="1631216"/>
          </a:xfrm>
          <a:prstGeom prst="rect">
            <a:avLst/>
          </a:prstGeom>
          <a:noFill/>
          <a:ln w="9525">
            <a:noFill/>
            <a:miter lim="800000"/>
            <a:headEnd/>
            <a:tailEnd/>
          </a:ln>
        </p:spPr>
        <p:txBody>
          <a:bodyPr wrap="square">
            <a:spAutoFit/>
          </a:bodyPr>
          <a:lstStyle/>
          <a:p>
            <a:pPr eaLnBrk="1" hangingPunct="1"/>
            <a:r>
              <a:rPr lang="en-US" altLang="en-US" sz="2000" dirty="0"/>
              <a:t>Fig. 5. The double helix of DNA (</a:t>
            </a:r>
            <a:r>
              <a:rPr lang="en-GB" altLang="en-US" sz="2000" dirty="0"/>
              <a:t>Deoxyribonucleic acid) </a:t>
            </a:r>
            <a:r>
              <a:rPr lang="en-US" altLang="en-US" sz="2000" dirty="0"/>
              <a:t>– the molecule of life, which contains the genetic instructions for the development and function of living organisms. Each cell of human body contains 23 pairs (one inherited from the mother and one from the father) of chromosomes. A </a:t>
            </a:r>
            <a:r>
              <a:rPr lang="en-US" altLang="en-US" sz="2000" b="1" i="1" dirty="0"/>
              <a:t>gene</a:t>
            </a:r>
            <a:r>
              <a:rPr lang="en-US" altLang="en-US" sz="2000" dirty="0"/>
              <a:t> is a small section of DNA on a chromosome. </a:t>
            </a:r>
            <a:endParaRPr lang="en-GB" altLang="en-US" sz="2000" dirty="0"/>
          </a:p>
        </p:txBody>
      </p:sp>
      <p:pic>
        <p:nvPicPr>
          <p:cNvPr id="10249" name="Picture 28" descr="http://www.knowledgene.com/hgp003.gif"/>
          <p:cNvPicPr>
            <a:picLocks noChangeAspect="1" noChangeArrowheads="1"/>
          </p:cNvPicPr>
          <p:nvPr/>
        </p:nvPicPr>
        <p:blipFill>
          <a:blip r:embed="rId2" cstate="print"/>
          <a:srcRect/>
          <a:stretch>
            <a:fillRect/>
          </a:stretch>
        </p:blipFill>
        <p:spPr bwMode="auto">
          <a:xfrm>
            <a:off x="1008064" y="955676"/>
            <a:ext cx="6768292" cy="421522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1" presetClass="entr" presetSubtype="0" fill="hold" nodeType="clickEffect">
                                  <p:stCondLst>
                                    <p:cond delay="0"/>
                                  </p:stCondLst>
                                  <p:childTnLst>
                                    <p:set>
                                      <p:cBhvr>
                                        <p:cTn id="12" dur="1" fill="hold">
                                          <p:stCondLst>
                                            <p:cond delay="0"/>
                                          </p:stCondLst>
                                        </p:cTn>
                                        <p:tgtEl>
                                          <p:spTgt spid="10249"/>
                                        </p:tgtEl>
                                        <p:attrNameLst>
                                          <p:attrName>style.visibility</p:attrName>
                                        </p:attrNameLst>
                                      </p:cBhvr>
                                      <p:to>
                                        <p:strVal val="visible"/>
                                      </p:to>
                                    </p:set>
                                    <p:anim calcmode="lin" valueType="num">
                                      <p:cBhvr>
                                        <p:cTn id="13" dur="2000" fill="hold"/>
                                        <p:tgtEl>
                                          <p:spTgt spid="10249"/>
                                        </p:tgtEl>
                                        <p:attrNameLst>
                                          <p:attrName>ppt_w</p:attrName>
                                        </p:attrNameLst>
                                      </p:cBhvr>
                                      <p:tavLst>
                                        <p:tav tm="0">
                                          <p:val>
                                            <p:fltVal val="0"/>
                                          </p:val>
                                        </p:tav>
                                        <p:tav tm="100000">
                                          <p:val>
                                            <p:strVal val="#ppt_w"/>
                                          </p:val>
                                        </p:tav>
                                      </p:tavLst>
                                    </p:anim>
                                    <p:anim calcmode="lin" valueType="num">
                                      <p:cBhvr>
                                        <p:cTn id="14" dur="2000" fill="hold"/>
                                        <p:tgtEl>
                                          <p:spTgt spid="10249"/>
                                        </p:tgtEl>
                                        <p:attrNameLst>
                                          <p:attrName>ppt_h</p:attrName>
                                        </p:attrNameLst>
                                      </p:cBhvr>
                                      <p:tavLst>
                                        <p:tav tm="0">
                                          <p:val>
                                            <p:fltVal val="0"/>
                                          </p:val>
                                        </p:tav>
                                        <p:tav tm="100000">
                                          <p:val>
                                            <p:strVal val="#ppt_h"/>
                                          </p:val>
                                        </p:tav>
                                      </p:tavLst>
                                    </p:anim>
                                    <p:anim calcmode="lin" valueType="num">
                                      <p:cBhvr>
                                        <p:cTn id="15" dur="2000" fill="hold"/>
                                        <p:tgtEl>
                                          <p:spTgt spid="10249"/>
                                        </p:tgtEl>
                                        <p:attrNameLst>
                                          <p:attrName>style.rotation</p:attrName>
                                        </p:attrNameLst>
                                      </p:cBhvr>
                                      <p:tavLst>
                                        <p:tav tm="0">
                                          <p:val>
                                            <p:fltVal val="90"/>
                                          </p:val>
                                        </p:tav>
                                        <p:tav tm="100000">
                                          <p:val>
                                            <p:fltVal val="0"/>
                                          </p:val>
                                        </p:tav>
                                      </p:tavLst>
                                    </p:anim>
                                    <p:animEffect transition="in" filter="fade">
                                      <p:cBhvr>
                                        <p:cTn id="16" dur="2000"/>
                                        <p:tgtEl>
                                          <p:spTgt spid="10249"/>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9228"/>
                                        </p:tgtEl>
                                        <p:attrNameLst>
                                          <p:attrName>style.visibility</p:attrName>
                                        </p:attrNameLst>
                                      </p:cBhvr>
                                      <p:to>
                                        <p:strVal val="visible"/>
                                      </p:to>
                                    </p:set>
                                    <p:animEffect transition="in" filter="blinds(horizontal)">
                                      <p:cBhvr>
                                        <p:cTn id="21" dur="500"/>
                                        <p:tgtEl>
                                          <p:spTgt spid="9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9228"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Date Placeholder 3"/>
          <p:cNvSpPr>
            <a:spLocks noGrp="1"/>
          </p:cNvSpPr>
          <p:nvPr>
            <p:ph type="dt" sz="quarter" idx="10"/>
          </p:nvPr>
        </p:nvSpPr>
        <p:spPr>
          <a:noFill/>
        </p:spPr>
        <p:txBody>
          <a:bodyPr/>
          <a:lstStyle/>
          <a:p>
            <a:fld id="{F4188880-E625-4D6B-A058-3107FFFB04DC}" type="datetime1">
              <a:rPr lang="en-GB" altLang="en-US" smtClean="0"/>
              <a:pPr/>
              <a:t>17/02/2026</a:t>
            </a:fld>
            <a:endParaRPr lang="en-GB" altLang="en-US"/>
          </a:p>
        </p:txBody>
      </p:sp>
      <p:sp>
        <p:nvSpPr>
          <p:cNvPr id="16388" name="Slide Number Placeholder 5"/>
          <p:cNvSpPr>
            <a:spLocks noGrp="1"/>
          </p:cNvSpPr>
          <p:nvPr>
            <p:ph type="sldNum" sz="quarter" idx="12"/>
          </p:nvPr>
        </p:nvSpPr>
        <p:spPr>
          <a:noFill/>
        </p:spPr>
        <p:txBody>
          <a:bodyPr/>
          <a:lstStyle/>
          <a:p>
            <a:fld id="{B70D749E-4FD9-4DCC-85BC-D22D62DF206D}" type="slidenum">
              <a:rPr lang="en-GB" altLang="en-US" smtClean="0"/>
              <a:pPr/>
              <a:t>13</a:t>
            </a:fld>
            <a:endParaRPr lang="en-GB" altLang="en-US"/>
          </a:p>
        </p:txBody>
      </p:sp>
      <p:sp>
        <p:nvSpPr>
          <p:cNvPr id="16389"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6390" name="Rectangle 11"/>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4" name="Rectangle 3"/>
          <p:cNvSpPr>
            <a:spLocks noChangeArrowheads="1"/>
          </p:cNvSpPr>
          <p:nvPr/>
        </p:nvSpPr>
        <p:spPr bwMode="auto">
          <a:xfrm>
            <a:off x="336137" y="3465133"/>
            <a:ext cx="8561388" cy="1906587"/>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dirty="0"/>
              <a:t>In bio-systems </a:t>
            </a:r>
            <a:r>
              <a:rPr lang="en-US" altLang="en-US" b="1" i="1" dirty="0">
                <a:solidFill>
                  <a:srgbClr val="0000FF"/>
                </a:solidFill>
              </a:rPr>
              <a:t>chromosomes</a:t>
            </a:r>
            <a:r>
              <a:rPr lang="en-US" altLang="en-US" dirty="0"/>
              <a:t>  are made up of </a:t>
            </a:r>
            <a:r>
              <a:rPr lang="en-US" altLang="en-US" b="1" i="1" dirty="0">
                <a:solidFill>
                  <a:srgbClr val="0000FF"/>
                </a:solidFill>
              </a:rPr>
              <a:t>genes </a:t>
            </a:r>
            <a:r>
              <a:rPr lang="en-US" altLang="en-US" dirty="0"/>
              <a:t>(blocks of DNA). </a:t>
            </a:r>
            <a:r>
              <a:rPr lang="en-GB" altLang="en-US" dirty="0"/>
              <a:t>Generally, each gene (or a combination of genes), encodes a </a:t>
            </a:r>
            <a:r>
              <a:rPr lang="en-GB" altLang="en-US" dirty="0">
                <a:solidFill>
                  <a:srgbClr val="0000FF"/>
                </a:solidFill>
              </a:rPr>
              <a:t>feature</a:t>
            </a:r>
            <a:r>
              <a:rPr lang="en-GB" altLang="en-US" dirty="0"/>
              <a:t> (</a:t>
            </a:r>
            <a:r>
              <a:rPr lang="en-GB" altLang="en-US" dirty="0">
                <a:solidFill>
                  <a:srgbClr val="0000FF"/>
                </a:solidFill>
              </a:rPr>
              <a:t>trait</a:t>
            </a:r>
            <a:r>
              <a:rPr lang="en-GB" altLang="en-US" dirty="0"/>
              <a:t>),</a:t>
            </a:r>
            <a:r>
              <a:rPr lang="en-GB" altLang="en-US" b="1" dirty="0"/>
              <a:t> </a:t>
            </a:r>
            <a:r>
              <a:rPr lang="en-GB" altLang="en-US" dirty="0"/>
              <a:t>e.g., the eye colour. </a:t>
            </a:r>
            <a:r>
              <a:rPr lang="en-GB" altLang="en-US" i="1" dirty="0"/>
              <a:t>FOXP2 </a:t>
            </a:r>
            <a:r>
              <a:rPr lang="en-GB" altLang="en-US" dirty="0"/>
              <a:t>gene - speech and language, or </a:t>
            </a:r>
            <a:r>
              <a:rPr lang="en-GB" altLang="en-US" i="1" dirty="0"/>
              <a:t>Plin2</a:t>
            </a:r>
            <a:r>
              <a:rPr lang="en-GB" altLang="en-US" dirty="0"/>
              <a:t> - metabolic functions or obesity gene.</a:t>
            </a:r>
          </a:p>
        </p:txBody>
      </p:sp>
      <p:sp>
        <p:nvSpPr>
          <p:cNvPr id="12" name="Rectangle 3"/>
          <p:cNvSpPr>
            <a:spLocks noChangeArrowheads="1"/>
          </p:cNvSpPr>
          <p:nvPr/>
        </p:nvSpPr>
        <p:spPr bwMode="auto">
          <a:xfrm>
            <a:off x="336137" y="5387561"/>
            <a:ext cx="8715375" cy="1120775"/>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b="1" i="1" dirty="0">
                <a:solidFill>
                  <a:srgbClr val="0000FF"/>
                </a:solidFill>
              </a:rPr>
              <a:t>Genes</a:t>
            </a:r>
            <a:r>
              <a:rPr lang="en-US" altLang="en-US" b="1" i="1" dirty="0"/>
              <a:t>  </a:t>
            </a:r>
            <a:r>
              <a:rPr lang="en-US" altLang="en-US" dirty="0"/>
              <a:t>can take on a set of values called </a:t>
            </a:r>
            <a:r>
              <a:rPr lang="en-US" altLang="en-US" b="1" i="1" dirty="0">
                <a:solidFill>
                  <a:srgbClr val="0000FF"/>
                </a:solidFill>
              </a:rPr>
              <a:t>alleles</a:t>
            </a:r>
            <a:r>
              <a:rPr lang="en-US" altLang="en-US" dirty="0"/>
              <a:t> (</a:t>
            </a:r>
            <a:r>
              <a:rPr lang="en-GB" altLang="en-US" dirty="0"/>
              <a:t>can be different for different people, </a:t>
            </a:r>
            <a:r>
              <a:rPr lang="en-US" altLang="en-US" dirty="0"/>
              <a:t>e.g., eye </a:t>
            </a:r>
            <a:r>
              <a:rPr lang="en-US" altLang="en-US" dirty="0" err="1"/>
              <a:t>colour</a:t>
            </a:r>
            <a:r>
              <a:rPr lang="en-US" altLang="en-US" dirty="0"/>
              <a:t>). The </a:t>
            </a:r>
            <a:r>
              <a:rPr lang="en-GB" altLang="en-US" dirty="0"/>
              <a:t>complete set of genetic material (all chromosomes) is called </a:t>
            </a:r>
            <a:r>
              <a:rPr lang="en-GB" altLang="en-US" b="1" i="1" dirty="0">
                <a:solidFill>
                  <a:srgbClr val="0000FF"/>
                </a:solidFill>
              </a:rPr>
              <a:t>genome</a:t>
            </a:r>
            <a:r>
              <a:rPr lang="en-GB" altLang="en-US" b="1" dirty="0"/>
              <a:t>.</a:t>
            </a:r>
            <a:endParaRPr lang="en-GB" altLang="en-US" dirty="0"/>
          </a:p>
        </p:txBody>
      </p:sp>
      <p:grpSp>
        <p:nvGrpSpPr>
          <p:cNvPr id="2" name="Group 25"/>
          <p:cNvGrpSpPr>
            <a:grpSpLocks/>
          </p:cNvGrpSpPr>
          <p:nvPr/>
        </p:nvGrpSpPr>
        <p:grpSpPr bwMode="auto">
          <a:xfrm>
            <a:off x="1824038" y="744538"/>
            <a:ext cx="4602162" cy="773112"/>
            <a:chOff x="1754988" y="1298788"/>
            <a:chExt cx="4603276" cy="772492"/>
          </a:xfrm>
        </p:grpSpPr>
        <p:sp>
          <p:nvSpPr>
            <p:cNvPr id="16406" name="Rectangle 13"/>
            <p:cNvSpPr>
              <a:spLocks noChangeArrowheads="1"/>
            </p:cNvSpPr>
            <p:nvPr/>
          </p:nvSpPr>
          <p:spPr bwMode="auto">
            <a:xfrm>
              <a:off x="1754988" y="1298788"/>
              <a:ext cx="4603276" cy="772492"/>
            </a:xfrm>
            <a:prstGeom prst="rect">
              <a:avLst/>
            </a:prstGeom>
            <a:solidFill>
              <a:srgbClr val="00FFFF"/>
            </a:solidFill>
            <a:ln w="15875">
              <a:solidFill>
                <a:srgbClr val="000000"/>
              </a:solidFill>
              <a:miter lim="800000"/>
              <a:headEnd/>
              <a:tailEnd/>
            </a:ln>
          </p:spPr>
          <p:txBody>
            <a:bodyPr/>
            <a:lstStyle/>
            <a:p>
              <a:pPr eaLnBrk="1" hangingPunct="1"/>
              <a:endParaRPr lang="en-US" altLang="en-US"/>
            </a:p>
          </p:txBody>
        </p:sp>
        <p:sp>
          <p:nvSpPr>
            <p:cNvPr id="16407" name="Text Box 14"/>
            <p:cNvSpPr txBox="1">
              <a:spLocks noChangeArrowheads="1"/>
            </p:cNvSpPr>
            <p:nvPr/>
          </p:nvSpPr>
          <p:spPr bwMode="auto">
            <a:xfrm>
              <a:off x="2438400" y="1517650"/>
              <a:ext cx="938382" cy="395061"/>
            </a:xfrm>
            <a:prstGeom prst="rect">
              <a:avLst/>
            </a:prstGeom>
            <a:solidFill>
              <a:srgbClr val="FFFF99"/>
            </a:solidFill>
            <a:ln w="15875">
              <a:solidFill>
                <a:srgbClr val="000000"/>
              </a:solidFill>
              <a:miter lim="800000"/>
              <a:headEnd/>
              <a:tailEnd/>
            </a:ln>
          </p:spPr>
          <p:txBody>
            <a:bodyPr lIns="0" tIns="0" rIns="0" bIns="0"/>
            <a:lstStyle/>
            <a:p>
              <a:pPr eaLnBrk="1" hangingPunct="1">
                <a:spcAft>
                  <a:spcPts val="1000"/>
                </a:spcAft>
              </a:pPr>
              <a:r>
                <a:rPr lang="en-GB" altLang="en-US">
                  <a:latin typeface="Calibri" pitchFamily="34" charset="0"/>
                </a:rPr>
                <a:t>100*11</a:t>
              </a:r>
              <a:endParaRPr lang="en-US" altLang="en-US"/>
            </a:p>
          </p:txBody>
        </p:sp>
        <p:sp>
          <p:nvSpPr>
            <p:cNvPr id="16408" name="Text Box 15"/>
            <p:cNvSpPr txBox="1">
              <a:spLocks noChangeArrowheads="1"/>
            </p:cNvSpPr>
            <p:nvPr/>
          </p:nvSpPr>
          <p:spPr bwMode="auto">
            <a:xfrm>
              <a:off x="3416300" y="1517650"/>
              <a:ext cx="948933" cy="395061"/>
            </a:xfrm>
            <a:prstGeom prst="rect">
              <a:avLst/>
            </a:prstGeom>
            <a:solidFill>
              <a:srgbClr val="FFFF99"/>
            </a:solidFill>
            <a:ln w="15875">
              <a:solidFill>
                <a:srgbClr val="000000"/>
              </a:solidFill>
              <a:miter lim="800000"/>
              <a:headEnd/>
              <a:tailEnd/>
            </a:ln>
          </p:spPr>
          <p:txBody>
            <a:bodyPr lIns="0" tIns="0" rIns="0" bIns="0"/>
            <a:lstStyle/>
            <a:p>
              <a:pPr eaLnBrk="1" hangingPunct="1">
                <a:spcAft>
                  <a:spcPts val="1000"/>
                </a:spcAft>
              </a:pPr>
              <a:r>
                <a:rPr lang="en-GB" altLang="en-US">
                  <a:latin typeface="Calibri" pitchFamily="34" charset="0"/>
                </a:rPr>
                <a:t>100011</a:t>
              </a:r>
              <a:endParaRPr lang="en-US" altLang="en-US"/>
            </a:p>
          </p:txBody>
        </p:sp>
        <p:sp>
          <p:nvSpPr>
            <p:cNvPr id="16409" name="Text Box 16"/>
            <p:cNvSpPr txBox="1">
              <a:spLocks noChangeArrowheads="1"/>
            </p:cNvSpPr>
            <p:nvPr/>
          </p:nvSpPr>
          <p:spPr bwMode="auto">
            <a:xfrm>
              <a:off x="4438650" y="1517650"/>
              <a:ext cx="1040380" cy="395061"/>
            </a:xfrm>
            <a:prstGeom prst="rect">
              <a:avLst/>
            </a:prstGeom>
            <a:solidFill>
              <a:srgbClr val="FFFF99"/>
            </a:solidFill>
            <a:ln w="15875">
              <a:solidFill>
                <a:srgbClr val="000000"/>
              </a:solidFill>
              <a:miter lim="800000"/>
              <a:headEnd/>
              <a:tailEnd/>
            </a:ln>
          </p:spPr>
          <p:txBody>
            <a:bodyPr lIns="45720" tIns="0" rIns="0"/>
            <a:lstStyle/>
            <a:p>
              <a:pPr eaLnBrk="1" hangingPunct="1">
                <a:spcAft>
                  <a:spcPts val="1000"/>
                </a:spcAft>
              </a:pPr>
              <a:r>
                <a:rPr lang="en-GB" altLang="en-US">
                  <a:latin typeface="Calibri" pitchFamily="34" charset="0"/>
                </a:rPr>
                <a:t> 011011</a:t>
              </a:r>
              <a:endParaRPr lang="en-US" altLang="en-US"/>
            </a:p>
          </p:txBody>
        </p:sp>
      </p:grpSp>
      <p:grpSp>
        <p:nvGrpSpPr>
          <p:cNvPr id="3" name="Group 26"/>
          <p:cNvGrpSpPr>
            <a:grpSpLocks/>
          </p:cNvGrpSpPr>
          <p:nvPr/>
        </p:nvGrpSpPr>
        <p:grpSpPr bwMode="auto">
          <a:xfrm>
            <a:off x="952500" y="1363663"/>
            <a:ext cx="3910013" cy="1658937"/>
            <a:chOff x="884187" y="1917699"/>
            <a:chExt cx="3910063" cy="1658498"/>
          </a:xfrm>
        </p:grpSpPr>
        <p:sp>
          <p:nvSpPr>
            <p:cNvPr id="9235" name="Text Box 18"/>
            <p:cNvSpPr txBox="1">
              <a:spLocks noChangeArrowheads="1"/>
            </p:cNvSpPr>
            <p:nvPr/>
          </p:nvSpPr>
          <p:spPr bwMode="auto">
            <a:xfrm>
              <a:off x="884187" y="2879469"/>
              <a:ext cx="2116165" cy="696728"/>
            </a:xfrm>
            <a:prstGeom prst="rect">
              <a:avLst/>
            </a:prstGeom>
            <a:noFill/>
            <a:ln w="9525">
              <a:noFill/>
              <a:miter lim="800000"/>
              <a:headEnd/>
              <a:tailEnd/>
            </a:ln>
          </p:spPr>
          <p:txBody>
            <a:bodyPr lIns="0" tIns="0" rIns="0" bIns="0"/>
            <a:lstStyle/>
            <a:p>
              <a:pPr eaLnBrk="1" hangingPunct="1">
                <a:defRPr/>
              </a:pPr>
              <a:r>
                <a:rPr lang="en-GB" sz="2000" dirty="0">
                  <a:latin typeface="+mn-lt"/>
                </a:rPr>
                <a:t>The</a:t>
              </a:r>
              <a:r>
                <a:rPr lang="en-GB" sz="2000" b="1" dirty="0">
                  <a:latin typeface="+mn-lt"/>
                </a:rPr>
                <a:t> </a:t>
              </a:r>
              <a:r>
                <a:rPr lang="en-GB" sz="2000" b="1" i="1" dirty="0">
                  <a:latin typeface="+mn-lt"/>
                </a:rPr>
                <a:t>genes</a:t>
              </a:r>
              <a:endParaRPr lang="en-GB" sz="2000" b="1" dirty="0">
                <a:latin typeface="+mn-lt"/>
              </a:endParaRPr>
            </a:p>
            <a:p>
              <a:pPr eaLnBrk="1" hangingPunct="1">
                <a:defRPr/>
              </a:pPr>
              <a:r>
                <a:rPr lang="en-GB" sz="2000" dirty="0">
                  <a:latin typeface="+mn-lt"/>
                </a:rPr>
                <a:t>(</a:t>
              </a:r>
              <a:r>
                <a:rPr lang="en-GB" sz="2000" b="1" i="1" dirty="0">
                  <a:latin typeface="+mn-lt"/>
                </a:rPr>
                <a:t>features, traits</a:t>
              </a:r>
              <a:r>
                <a:rPr lang="en-GB" sz="2000" dirty="0">
                  <a:latin typeface="+mn-lt"/>
                </a:rPr>
                <a:t>)</a:t>
              </a:r>
              <a:endParaRPr lang="en-US" sz="2000" dirty="0">
                <a:latin typeface="+mn-lt"/>
              </a:endParaRPr>
            </a:p>
          </p:txBody>
        </p:sp>
        <p:sp>
          <p:nvSpPr>
            <p:cNvPr id="16403" name="Line 19"/>
            <p:cNvSpPr>
              <a:spLocks noChangeShapeType="1"/>
            </p:cNvSpPr>
            <p:nvPr/>
          </p:nvSpPr>
          <p:spPr bwMode="auto">
            <a:xfrm flipV="1">
              <a:off x="2285378" y="1917699"/>
              <a:ext cx="330822" cy="984570"/>
            </a:xfrm>
            <a:prstGeom prst="line">
              <a:avLst/>
            </a:prstGeom>
            <a:noFill/>
            <a:ln w="15875">
              <a:solidFill>
                <a:srgbClr val="000000"/>
              </a:solidFill>
              <a:round/>
              <a:headEnd/>
              <a:tailEnd type="triangle" w="med" len="med"/>
            </a:ln>
          </p:spPr>
          <p:txBody>
            <a:bodyPr/>
            <a:lstStyle/>
            <a:p>
              <a:endParaRPr lang="en-GB"/>
            </a:p>
          </p:txBody>
        </p:sp>
        <p:sp>
          <p:nvSpPr>
            <p:cNvPr id="16404" name="Line 20"/>
            <p:cNvSpPr>
              <a:spLocks noChangeShapeType="1"/>
            </p:cNvSpPr>
            <p:nvPr/>
          </p:nvSpPr>
          <p:spPr bwMode="auto">
            <a:xfrm flipV="1">
              <a:off x="2264978" y="1962150"/>
              <a:ext cx="1462472" cy="940120"/>
            </a:xfrm>
            <a:prstGeom prst="line">
              <a:avLst/>
            </a:prstGeom>
            <a:noFill/>
            <a:ln w="15875">
              <a:solidFill>
                <a:srgbClr val="000000"/>
              </a:solidFill>
              <a:round/>
              <a:headEnd/>
              <a:tailEnd type="triangle" w="med" len="med"/>
            </a:ln>
          </p:spPr>
          <p:txBody>
            <a:bodyPr/>
            <a:lstStyle/>
            <a:p>
              <a:endParaRPr lang="en-GB"/>
            </a:p>
          </p:txBody>
        </p:sp>
        <p:sp>
          <p:nvSpPr>
            <p:cNvPr id="16405" name="Line 21"/>
            <p:cNvSpPr>
              <a:spLocks noChangeShapeType="1"/>
            </p:cNvSpPr>
            <p:nvPr/>
          </p:nvSpPr>
          <p:spPr bwMode="auto">
            <a:xfrm flipV="1">
              <a:off x="2285378" y="1962149"/>
              <a:ext cx="2508872" cy="940120"/>
            </a:xfrm>
            <a:prstGeom prst="line">
              <a:avLst/>
            </a:prstGeom>
            <a:noFill/>
            <a:ln w="15875">
              <a:solidFill>
                <a:srgbClr val="000000"/>
              </a:solidFill>
              <a:round/>
              <a:headEnd/>
              <a:tailEnd type="triangle" w="med" len="med"/>
            </a:ln>
          </p:spPr>
          <p:txBody>
            <a:bodyPr/>
            <a:lstStyle/>
            <a:p>
              <a:endParaRPr lang="en-GB"/>
            </a:p>
          </p:txBody>
        </p:sp>
      </p:grpSp>
      <p:grpSp>
        <p:nvGrpSpPr>
          <p:cNvPr id="4" name="Group 27"/>
          <p:cNvGrpSpPr>
            <a:grpSpLocks/>
          </p:cNvGrpSpPr>
          <p:nvPr/>
        </p:nvGrpSpPr>
        <p:grpSpPr bwMode="auto">
          <a:xfrm>
            <a:off x="3435350" y="1371600"/>
            <a:ext cx="2254250" cy="1662113"/>
            <a:chOff x="3367190" y="1926238"/>
            <a:chExt cx="2253875" cy="1661979"/>
          </a:xfrm>
        </p:grpSpPr>
        <p:sp>
          <p:nvSpPr>
            <p:cNvPr id="9233" name="Text Box 22"/>
            <p:cNvSpPr txBox="1">
              <a:spLocks noChangeArrowheads="1"/>
            </p:cNvSpPr>
            <p:nvPr/>
          </p:nvSpPr>
          <p:spPr bwMode="auto">
            <a:xfrm>
              <a:off x="3367190" y="2878661"/>
              <a:ext cx="2253875" cy="709556"/>
            </a:xfrm>
            <a:prstGeom prst="rect">
              <a:avLst/>
            </a:prstGeom>
            <a:noFill/>
            <a:ln w="9525">
              <a:noFill/>
              <a:miter lim="800000"/>
              <a:headEnd/>
              <a:tailEnd/>
            </a:ln>
          </p:spPr>
          <p:txBody>
            <a:bodyPr lIns="0" tIns="0" rIns="0" bIns="0"/>
            <a:lstStyle/>
            <a:p>
              <a:pPr eaLnBrk="1" hangingPunct="1">
                <a:defRPr/>
              </a:pPr>
              <a:r>
                <a:rPr lang="en-GB" sz="2000" dirty="0">
                  <a:latin typeface="+mn-lt"/>
                </a:rPr>
                <a:t>The </a:t>
              </a:r>
              <a:r>
                <a:rPr lang="en-GB" sz="2000" b="1" i="1" dirty="0">
                  <a:latin typeface="+mn-lt"/>
                </a:rPr>
                <a:t>locus</a:t>
              </a:r>
              <a:r>
                <a:rPr lang="en-GB" sz="2000" b="1" dirty="0">
                  <a:latin typeface="+mn-lt"/>
                </a:rPr>
                <a:t> </a:t>
              </a:r>
              <a:r>
                <a:rPr lang="en-GB" sz="2000" dirty="0">
                  <a:latin typeface="+mn-lt"/>
                </a:rPr>
                <a:t>of the second gene is 7.</a:t>
              </a:r>
              <a:endParaRPr lang="en-US" sz="2000" dirty="0">
                <a:latin typeface="+mn-lt"/>
              </a:endParaRPr>
            </a:p>
          </p:txBody>
        </p:sp>
        <p:sp>
          <p:nvSpPr>
            <p:cNvPr id="16401" name="Line 24"/>
            <p:cNvSpPr>
              <a:spLocks noChangeShapeType="1"/>
            </p:cNvSpPr>
            <p:nvPr/>
          </p:nvSpPr>
          <p:spPr bwMode="auto">
            <a:xfrm flipH="1" flipV="1">
              <a:off x="3448155" y="1926238"/>
              <a:ext cx="632388" cy="1068988"/>
            </a:xfrm>
            <a:prstGeom prst="line">
              <a:avLst/>
            </a:prstGeom>
            <a:noFill/>
            <a:ln w="15875">
              <a:solidFill>
                <a:srgbClr val="000000"/>
              </a:solidFill>
              <a:round/>
              <a:headEnd/>
              <a:tailEnd type="arrow" w="sm" len="lg"/>
            </a:ln>
          </p:spPr>
          <p:txBody>
            <a:bodyPr/>
            <a:lstStyle/>
            <a:p>
              <a:endParaRPr lang="en-GB"/>
            </a:p>
          </p:txBody>
        </p:sp>
      </p:grpSp>
      <p:grpSp>
        <p:nvGrpSpPr>
          <p:cNvPr id="5" name="Group 28"/>
          <p:cNvGrpSpPr>
            <a:grpSpLocks/>
          </p:cNvGrpSpPr>
          <p:nvPr/>
        </p:nvGrpSpPr>
        <p:grpSpPr bwMode="auto">
          <a:xfrm>
            <a:off x="5218114" y="1274763"/>
            <a:ext cx="3810251" cy="1758951"/>
            <a:chOff x="5149850" y="1828799"/>
            <a:chExt cx="3810312" cy="1758952"/>
          </a:xfrm>
        </p:grpSpPr>
        <p:sp>
          <p:nvSpPr>
            <p:cNvPr id="9231" name="Text Box 23"/>
            <p:cNvSpPr txBox="1">
              <a:spLocks noChangeArrowheads="1"/>
            </p:cNvSpPr>
            <p:nvPr/>
          </p:nvSpPr>
          <p:spPr bwMode="auto">
            <a:xfrm>
              <a:off x="5621345" y="2578612"/>
              <a:ext cx="3338817" cy="1009139"/>
            </a:xfrm>
            <a:prstGeom prst="rect">
              <a:avLst/>
            </a:prstGeom>
            <a:noFill/>
            <a:ln w="9525">
              <a:noFill/>
              <a:miter lim="800000"/>
              <a:headEnd/>
              <a:tailEnd/>
            </a:ln>
          </p:spPr>
          <p:txBody>
            <a:bodyPr lIns="0" tIns="0" rIns="0" bIns="0"/>
            <a:lstStyle/>
            <a:p>
              <a:pPr eaLnBrk="1" hangingPunct="1">
                <a:defRPr/>
              </a:pPr>
              <a:r>
                <a:rPr lang="en-GB" sz="2000" dirty="0">
                  <a:latin typeface="+mn-lt"/>
                </a:rPr>
                <a:t>An</a:t>
              </a:r>
              <a:r>
                <a:rPr lang="en-GB" sz="2000" b="1" dirty="0">
                  <a:latin typeface="+mn-lt"/>
                </a:rPr>
                <a:t> </a:t>
              </a:r>
              <a:r>
                <a:rPr lang="en-GB" sz="2000" b="1" i="1" dirty="0">
                  <a:latin typeface="+mn-lt"/>
                </a:rPr>
                <a:t>allele</a:t>
              </a:r>
              <a:r>
                <a:rPr lang="en-GB" sz="2000" b="1" dirty="0">
                  <a:latin typeface="+mn-lt"/>
                </a:rPr>
                <a:t> </a:t>
              </a:r>
              <a:r>
                <a:rPr lang="en-GB" sz="2000" dirty="0">
                  <a:latin typeface="+mn-lt"/>
                </a:rPr>
                <a:t> (</a:t>
              </a:r>
              <a:r>
                <a:rPr lang="en-GB" sz="2000" dirty="0" err="1">
                  <a:latin typeface="+mn-lt"/>
                </a:rPr>
                <a:t>ə’li</a:t>
              </a:r>
              <a:r>
                <a:rPr lang="en-GB" sz="2000" dirty="0">
                  <a:latin typeface="+mn-lt"/>
                </a:rPr>
                <a:t>ː:l) - particular</a:t>
              </a:r>
              <a:r>
                <a:rPr lang="en-GB" sz="2000" b="1" dirty="0">
                  <a:latin typeface="+mn-lt"/>
                </a:rPr>
                <a:t> </a:t>
              </a:r>
              <a:r>
                <a:rPr lang="en-GB" sz="2000" dirty="0">
                  <a:latin typeface="+mn-lt"/>
                </a:rPr>
                <a:t>set of values for a</a:t>
              </a:r>
              <a:r>
                <a:rPr lang="en-GB" sz="2000" b="1" dirty="0">
                  <a:latin typeface="+mn-lt"/>
                </a:rPr>
                <a:t> </a:t>
              </a:r>
              <a:r>
                <a:rPr lang="en-GB" sz="2000" dirty="0">
                  <a:latin typeface="+mn-lt"/>
                </a:rPr>
                <a:t>gene (e.g., eye colour).</a:t>
              </a:r>
              <a:endParaRPr lang="en-US" sz="2000" dirty="0">
                <a:latin typeface="+mn-lt"/>
              </a:endParaRPr>
            </a:p>
          </p:txBody>
        </p:sp>
        <p:sp>
          <p:nvSpPr>
            <p:cNvPr id="16399" name="Line 25"/>
            <p:cNvSpPr>
              <a:spLocks noChangeShapeType="1"/>
            </p:cNvSpPr>
            <p:nvPr/>
          </p:nvSpPr>
          <p:spPr bwMode="auto">
            <a:xfrm flipH="1" flipV="1">
              <a:off x="5149850" y="1828799"/>
              <a:ext cx="1010086" cy="786085"/>
            </a:xfrm>
            <a:prstGeom prst="line">
              <a:avLst/>
            </a:prstGeom>
            <a:noFill/>
            <a:ln w="15875">
              <a:solidFill>
                <a:srgbClr val="000000"/>
              </a:solidFill>
              <a:round/>
              <a:headEnd/>
              <a:tailEnd type="arrow" w="sm" len="lg"/>
            </a:ln>
          </p:spPr>
          <p:txBody>
            <a:bodyPr/>
            <a:lstStyle/>
            <a:p>
              <a:endParaRPr lang="en-GB"/>
            </a:p>
          </p:txBody>
        </p:sp>
      </p:grpSp>
      <p:sp>
        <p:nvSpPr>
          <p:cNvPr id="9228" name="Rectangle 26"/>
          <p:cNvSpPr>
            <a:spLocks noChangeArrowheads="1"/>
          </p:cNvSpPr>
          <p:nvPr/>
        </p:nvSpPr>
        <p:spPr bwMode="auto">
          <a:xfrm>
            <a:off x="2403475" y="2943225"/>
            <a:ext cx="3286605" cy="461665"/>
          </a:xfrm>
          <a:prstGeom prst="rect">
            <a:avLst/>
          </a:prstGeom>
          <a:noFill/>
          <a:ln w="9525">
            <a:noFill/>
            <a:miter lim="800000"/>
            <a:headEnd/>
            <a:tailEnd/>
          </a:ln>
        </p:spPr>
        <p:txBody>
          <a:bodyPr wrap="none">
            <a:spAutoFit/>
          </a:bodyPr>
          <a:lstStyle/>
          <a:p>
            <a:pPr eaLnBrk="1" hangingPunct="1"/>
            <a:r>
              <a:rPr lang="en-US" altLang="en-US" dirty="0"/>
              <a:t>Fig. 6. A Chromosome.</a:t>
            </a:r>
            <a:endParaRPr lang="en-GB"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228"/>
                                        </p:tgtEl>
                                        <p:attrNameLst>
                                          <p:attrName>style.visibility</p:attrName>
                                        </p:attrNameLst>
                                      </p:cBhvr>
                                      <p:to>
                                        <p:strVal val="visible"/>
                                      </p:to>
                                    </p:set>
                                    <p:animEffect transition="in" filter="blinds(horizontal)">
                                      <p:cBhvr>
                                        <p:cTn id="27" dur="500"/>
                                        <p:tgtEl>
                                          <p:spTgt spid="922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4">
                                            <p:txEl>
                                              <p:pRg st="0" end="0"/>
                                            </p:txEl>
                                          </p:spTgt>
                                        </p:tgtEl>
                                        <p:attrNameLst>
                                          <p:attrName>style.visibility</p:attrName>
                                        </p:attrNameLst>
                                      </p:cBhvr>
                                      <p:to>
                                        <p:strVal val="visible"/>
                                      </p:to>
                                    </p:set>
                                    <p:animEffect transition="in" filter="dissolve">
                                      <p:cBhvr>
                                        <p:cTn id="32" dur="500"/>
                                        <p:tgtEl>
                                          <p:spTgt spid="14">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2">
                                            <p:txEl>
                                              <p:pRg st="0" end="0"/>
                                            </p:txEl>
                                          </p:spTgt>
                                        </p:tgtEl>
                                        <p:attrNameLst>
                                          <p:attrName>style.visibility</p:attrName>
                                        </p:attrNameLst>
                                      </p:cBhvr>
                                      <p:to>
                                        <p:strVal val="visible"/>
                                      </p:to>
                                    </p:set>
                                    <p:animEffect transition="in" filter="dissolve">
                                      <p:cBhvr>
                                        <p:cTn id="37"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autoUpdateAnimBg="0"/>
      <p:bldP spid="12" grpId="0" build="p" autoUpdateAnimBg="0"/>
      <p:bldP spid="9228"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Date Placeholder 3"/>
          <p:cNvSpPr>
            <a:spLocks noGrp="1"/>
          </p:cNvSpPr>
          <p:nvPr>
            <p:ph type="dt" sz="quarter" idx="10"/>
          </p:nvPr>
        </p:nvSpPr>
        <p:spPr>
          <a:noFill/>
        </p:spPr>
        <p:txBody>
          <a:bodyPr/>
          <a:lstStyle/>
          <a:p>
            <a:fld id="{F4188880-E625-4D6B-A058-3107FFFB04DC}" type="datetime1">
              <a:rPr lang="en-GB" altLang="en-US" smtClean="0"/>
              <a:pPr/>
              <a:t>17/02/2026</a:t>
            </a:fld>
            <a:endParaRPr lang="en-GB" altLang="en-US"/>
          </a:p>
        </p:txBody>
      </p:sp>
      <p:sp>
        <p:nvSpPr>
          <p:cNvPr id="16388" name="Slide Number Placeholder 5"/>
          <p:cNvSpPr>
            <a:spLocks noGrp="1"/>
          </p:cNvSpPr>
          <p:nvPr>
            <p:ph type="sldNum" sz="quarter" idx="12"/>
          </p:nvPr>
        </p:nvSpPr>
        <p:spPr>
          <a:noFill/>
        </p:spPr>
        <p:txBody>
          <a:bodyPr/>
          <a:lstStyle/>
          <a:p>
            <a:fld id="{B70D749E-4FD9-4DCC-85BC-D22D62DF206D}" type="slidenum">
              <a:rPr lang="en-GB" altLang="en-US" smtClean="0"/>
              <a:pPr/>
              <a:t>14</a:t>
            </a:fld>
            <a:endParaRPr lang="en-GB" altLang="en-US"/>
          </a:p>
        </p:txBody>
      </p:sp>
      <p:sp>
        <p:nvSpPr>
          <p:cNvPr id="16389"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6390" name="Rectangle 11"/>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4" name="Rectangle 3"/>
          <p:cNvSpPr>
            <a:spLocks noChangeArrowheads="1"/>
          </p:cNvSpPr>
          <p:nvPr/>
        </p:nvSpPr>
        <p:spPr bwMode="auto">
          <a:xfrm>
            <a:off x="431540" y="836711"/>
            <a:ext cx="8561388" cy="5760639"/>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GB" altLang="en-US" sz="2000" dirty="0"/>
              <a:t>UK Biobank has recently released de-identified exome sequencing data on 500,000 participants to approved researchers around the world. Exome sequencing measures the region of the genome involved in coding proteins and enables researchers to identify disease-causing genes for the development of targeted treatments.  </a:t>
            </a:r>
          </a:p>
          <a:p>
            <a:pPr marL="342900" indent="-342900" eaLnBrk="1" hangingPunct="1">
              <a:spcBef>
                <a:spcPct val="20000"/>
              </a:spcBef>
              <a:buClr>
                <a:schemeClr val="folHlink"/>
              </a:buClr>
              <a:buSzPct val="60000"/>
              <a:buFont typeface="Wingdings" pitchFamily="2" charset="2"/>
              <a:buChar char="n"/>
            </a:pPr>
            <a:endParaRPr lang="en-GB" altLang="en-US" sz="2000" dirty="0"/>
          </a:p>
          <a:p>
            <a:pPr marL="342900" indent="-342900" eaLnBrk="1" hangingPunct="1">
              <a:spcBef>
                <a:spcPct val="20000"/>
              </a:spcBef>
              <a:buClr>
                <a:schemeClr val="folHlink"/>
              </a:buClr>
              <a:buSzPct val="60000"/>
              <a:buFont typeface="Wingdings" pitchFamily="2" charset="2"/>
              <a:buChar char="n"/>
            </a:pPr>
            <a:r>
              <a:rPr lang="en-GB" altLang="en-US" sz="2000" dirty="0"/>
              <a:t>Scientists in the USA have used these data to uncover a gene (GPR75) that protects against obesity. Not previously known to play a role in obesity, GPR75 is part of a group of genes which encode receptors in the brain responsible for regulating energy balance. This is an exciting link for researchers, as these genes are associated with appetite control, food preferences and even levels of physical activity.</a:t>
            </a:r>
          </a:p>
          <a:p>
            <a:pPr marL="342900" indent="-342900" eaLnBrk="1" hangingPunct="1">
              <a:spcBef>
                <a:spcPct val="20000"/>
              </a:spcBef>
              <a:buClr>
                <a:schemeClr val="folHlink"/>
              </a:buClr>
              <a:buSzPct val="60000"/>
              <a:buFont typeface="Wingdings" pitchFamily="2" charset="2"/>
              <a:buChar char="n"/>
            </a:pPr>
            <a:endParaRPr lang="en-GB" altLang="en-US" sz="2000" dirty="0"/>
          </a:p>
          <a:p>
            <a:pPr marL="342900" indent="-342900" eaLnBrk="1" hangingPunct="1">
              <a:spcBef>
                <a:spcPct val="20000"/>
              </a:spcBef>
              <a:buClr>
                <a:schemeClr val="folHlink"/>
              </a:buClr>
              <a:buSzPct val="60000"/>
              <a:buFont typeface="Wingdings" pitchFamily="2" charset="2"/>
              <a:buChar char="n"/>
            </a:pPr>
            <a:r>
              <a:rPr lang="en-GB" altLang="en-US" sz="2000" dirty="0"/>
              <a:t>Individuals with at least one inactive copy of the gene have, on average, a lower BMI and tend to weigh about 12 pounds less than those without the mutation. Scientists are now pursuing multiple therapeutic approaches to safely replicate the effect of this genetic mutation for personalised treatments.</a:t>
            </a:r>
          </a:p>
        </p:txBody>
      </p:sp>
    </p:spTree>
    <p:extLst>
      <p:ext uri="{BB962C8B-B14F-4D97-AF65-F5344CB8AC3E}">
        <p14:creationId xmlns:p14="http://schemas.microsoft.com/office/powerpoint/2010/main" val="10616698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dissolve">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dissolve">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animEffect transition="in" filter="dissolve">
                                      <p:cBhvr>
                                        <p:cTn id="17" dur="500"/>
                                        <p:tgtEl>
                                          <p:spTgt spid="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Date Placeholder 3"/>
          <p:cNvSpPr txBox="1">
            <a:spLocks noGrp="1"/>
          </p:cNvSpPr>
          <p:nvPr/>
        </p:nvSpPr>
        <p:spPr bwMode="auto">
          <a:xfrm>
            <a:off x="0" y="6400800"/>
            <a:ext cx="1905000" cy="457200"/>
          </a:xfrm>
          <a:prstGeom prst="rect">
            <a:avLst/>
          </a:prstGeom>
          <a:noFill/>
          <a:ln w="9525">
            <a:noFill/>
            <a:miter lim="800000"/>
            <a:headEnd/>
            <a:tailEnd/>
          </a:ln>
        </p:spPr>
        <p:txBody>
          <a:bodyPr anchor="b"/>
          <a:lstStyle/>
          <a:p>
            <a:pPr eaLnBrk="1" hangingPunct="1"/>
            <a:fld id="{E6ADF5A3-2D5B-4DDC-A18D-0CE36B0BB025}" type="datetime1">
              <a:rPr lang="en-GB" altLang="en-US" sz="1200"/>
              <a:pPr eaLnBrk="1" hangingPunct="1"/>
              <a:t>17/02/2026</a:t>
            </a:fld>
            <a:endParaRPr lang="en-GB" altLang="en-US" sz="1200"/>
          </a:p>
        </p:txBody>
      </p:sp>
      <p:sp>
        <p:nvSpPr>
          <p:cNvPr id="17412" name="Slide Number Placeholder 5"/>
          <p:cNvSpPr txBox="1">
            <a:spLocks noGrp="1"/>
          </p:cNvSpPr>
          <p:nvPr/>
        </p:nvSpPr>
        <p:spPr bwMode="auto">
          <a:xfrm>
            <a:off x="7239000" y="6400800"/>
            <a:ext cx="1905000" cy="457200"/>
          </a:xfrm>
          <a:prstGeom prst="rect">
            <a:avLst/>
          </a:prstGeom>
          <a:noFill/>
          <a:ln w="9525">
            <a:noFill/>
            <a:miter lim="800000"/>
            <a:headEnd/>
            <a:tailEnd/>
          </a:ln>
        </p:spPr>
        <p:txBody>
          <a:bodyPr anchor="b"/>
          <a:lstStyle/>
          <a:p>
            <a:pPr algn="r" eaLnBrk="1" hangingPunct="1"/>
            <a:fld id="{0A7F5BBE-8F80-4D65-8894-F8B042236DEA}" type="slidenum">
              <a:rPr lang="en-GB" altLang="en-US" sz="1200"/>
              <a:pPr algn="r" eaLnBrk="1" hangingPunct="1"/>
              <a:t>15</a:t>
            </a:fld>
            <a:endParaRPr lang="en-GB" altLang="en-US" sz="1200"/>
          </a:p>
        </p:txBody>
      </p:sp>
      <p:sp>
        <p:nvSpPr>
          <p:cNvPr id="17413" name="Rectangle 2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2" name="Rectangle 3"/>
          <p:cNvSpPr>
            <a:spLocks noChangeArrowheads="1"/>
          </p:cNvSpPr>
          <p:nvPr/>
        </p:nvSpPr>
        <p:spPr bwMode="auto">
          <a:xfrm>
            <a:off x="571500" y="928688"/>
            <a:ext cx="8143875" cy="571500"/>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dirty="0"/>
              <a:t>The position of a </a:t>
            </a:r>
            <a:r>
              <a:rPr lang="en-US" altLang="en-US" b="1" i="1" dirty="0">
                <a:solidFill>
                  <a:srgbClr val="0000FF"/>
                </a:solidFill>
              </a:rPr>
              <a:t>gene</a:t>
            </a:r>
            <a:r>
              <a:rPr lang="en-US" altLang="en-US" b="1" dirty="0"/>
              <a:t> </a:t>
            </a:r>
            <a:r>
              <a:rPr lang="en-US" altLang="en-US" dirty="0"/>
              <a:t> is called a </a:t>
            </a:r>
            <a:r>
              <a:rPr lang="en-US" altLang="en-US" b="1" i="1" dirty="0">
                <a:solidFill>
                  <a:srgbClr val="0000FF"/>
                </a:solidFill>
              </a:rPr>
              <a:t>locus</a:t>
            </a:r>
            <a:r>
              <a:rPr lang="en-US" altLang="en-US" dirty="0"/>
              <a:t>.</a:t>
            </a:r>
          </a:p>
        </p:txBody>
      </p:sp>
      <p:sp>
        <p:nvSpPr>
          <p:cNvPr id="13" name="Rectangle 3"/>
          <p:cNvSpPr>
            <a:spLocks noChangeArrowheads="1"/>
          </p:cNvSpPr>
          <p:nvPr/>
        </p:nvSpPr>
        <p:spPr bwMode="auto">
          <a:xfrm>
            <a:off x="571500" y="1428750"/>
            <a:ext cx="8286750" cy="928688"/>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a:t>GAs maintain a set of possible solutions (</a:t>
            </a:r>
            <a:r>
              <a:rPr lang="en-US" altLang="en-US" i="1">
                <a:solidFill>
                  <a:srgbClr val="0000FF"/>
                </a:solidFill>
              </a:rPr>
              <a:t>structures</a:t>
            </a:r>
            <a:r>
              <a:rPr lang="en-US" altLang="en-US"/>
              <a:t>), called a </a:t>
            </a:r>
            <a:r>
              <a:rPr lang="en-US" altLang="en-US" b="1" i="1">
                <a:solidFill>
                  <a:srgbClr val="0000FF"/>
                </a:solidFill>
              </a:rPr>
              <a:t>population</a:t>
            </a:r>
            <a:r>
              <a:rPr lang="en-US" altLang="en-US"/>
              <a:t>.</a:t>
            </a:r>
          </a:p>
        </p:txBody>
      </p:sp>
      <p:sp>
        <p:nvSpPr>
          <p:cNvPr id="17416" name="Rectangle 9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9" name="Rectangle 3"/>
          <p:cNvSpPr>
            <a:spLocks noChangeArrowheads="1"/>
          </p:cNvSpPr>
          <p:nvPr/>
        </p:nvSpPr>
        <p:spPr bwMode="auto">
          <a:xfrm>
            <a:off x="571500" y="2286000"/>
            <a:ext cx="8215313" cy="928688"/>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a:t>Each candidate solution is a string of symbols (most common are </a:t>
            </a:r>
            <a:r>
              <a:rPr lang="en-US" altLang="en-US" b="1" i="1">
                <a:solidFill>
                  <a:srgbClr val="0000FF"/>
                </a:solidFill>
              </a:rPr>
              <a:t>0</a:t>
            </a:r>
            <a:r>
              <a:rPr lang="en-US" altLang="en-US"/>
              <a:t> and </a:t>
            </a:r>
            <a:r>
              <a:rPr lang="en-US" altLang="en-US" b="1" i="1">
                <a:solidFill>
                  <a:srgbClr val="0000FF"/>
                </a:solidFill>
              </a:rPr>
              <a:t>1</a:t>
            </a:r>
            <a:r>
              <a:rPr lang="en-US" altLang="en-US"/>
              <a:t>, (could be real numbers as well)).</a:t>
            </a:r>
          </a:p>
        </p:txBody>
      </p:sp>
      <p:sp>
        <p:nvSpPr>
          <p:cNvPr id="10" name="Rectangle 3"/>
          <p:cNvSpPr>
            <a:spLocks noChangeArrowheads="1"/>
          </p:cNvSpPr>
          <p:nvPr/>
        </p:nvSpPr>
        <p:spPr bwMode="auto">
          <a:xfrm>
            <a:off x="571500" y="3143250"/>
            <a:ext cx="8286750" cy="928688"/>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GB" altLang="en-US" dirty="0"/>
              <a:t>Each string of symbols (candidate solution) is known as a </a:t>
            </a:r>
            <a:r>
              <a:rPr lang="en-GB" altLang="en-US" b="1" i="1" dirty="0">
                <a:solidFill>
                  <a:srgbClr val="0000FF"/>
                </a:solidFill>
              </a:rPr>
              <a:t>chromosome  </a:t>
            </a:r>
            <a:r>
              <a:rPr lang="en-GB" altLang="en-US" dirty="0"/>
              <a:t>(fig.6)</a:t>
            </a:r>
            <a:r>
              <a:rPr lang="en-US" altLang="en-US" dirty="0"/>
              <a:t>.</a:t>
            </a:r>
            <a:endParaRPr lang="en-GB" altLang="en-US" dirty="0"/>
          </a:p>
        </p:txBody>
      </p:sp>
      <p:sp>
        <p:nvSpPr>
          <p:cNvPr id="11" name="Rectangle 3"/>
          <p:cNvSpPr>
            <a:spLocks noChangeArrowheads="1"/>
          </p:cNvSpPr>
          <p:nvPr/>
        </p:nvSpPr>
        <p:spPr bwMode="auto">
          <a:xfrm>
            <a:off x="571500" y="3929063"/>
            <a:ext cx="8572500" cy="1285875"/>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a:t>Each </a:t>
            </a:r>
            <a:r>
              <a:rPr lang="en-US" altLang="en-US" b="1" i="1">
                <a:solidFill>
                  <a:srgbClr val="002060"/>
                </a:solidFill>
              </a:rPr>
              <a:t>chromosome</a:t>
            </a:r>
            <a:r>
              <a:rPr lang="en-US" altLang="en-US" i="1"/>
              <a:t>  </a:t>
            </a:r>
            <a:r>
              <a:rPr lang="en-US" altLang="en-US"/>
              <a:t>is evaluated using a </a:t>
            </a:r>
            <a:r>
              <a:rPr lang="en-US" altLang="en-US" b="1" i="1">
                <a:solidFill>
                  <a:srgbClr val="0000FF"/>
                </a:solidFill>
              </a:rPr>
              <a:t>fitness function  </a:t>
            </a:r>
            <a:r>
              <a:rPr lang="en-US" altLang="en-US"/>
              <a:t>and assigned a value known as its</a:t>
            </a:r>
            <a:r>
              <a:rPr lang="en-US" altLang="en-US" b="1" i="1"/>
              <a:t> </a:t>
            </a:r>
            <a:r>
              <a:rPr lang="en-US" altLang="en-US" b="1" i="1">
                <a:solidFill>
                  <a:srgbClr val="0000FF"/>
                </a:solidFill>
              </a:rPr>
              <a:t>fitness value</a:t>
            </a:r>
            <a:r>
              <a:rPr lang="en-US" altLang="en-US">
                <a:solidFill>
                  <a:srgbClr val="0000FF"/>
                </a:solidFill>
              </a:rPr>
              <a:t>  </a:t>
            </a:r>
            <a:r>
              <a:rPr lang="en-US" altLang="en-US"/>
              <a:t>(at each iteration called </a:t>
            </a:r>
            <a:r>
              <a:rPr lang="en-US" altLang="en-US" b="1" i="1">
                <a:solidFill>
                  <a:srgbClr val="0000FF"/>
                </a:solidFill>
              </a:rPr>
              <a:t>generation</a:t>
            </a:r>
            <a:r>
              <a:rPr lang="en-US" altLang="en-US"/>
              <a:t>).</a:t>
            </a:r>
            <a:endParaRPr lang="en-GB" altLang="en-US"/>
          </a:p>
        </p:txBody>
      </p:sp>
      <p:sp>
        <p:nvSpPr>
          <p:cNvPr id="14" name="Rectangle 3"/>
          <p:cNvSpPr>
            <a:spLocks noChangeArrowheads="1"/>
          </p:cNvSpPr>
          <p:nvPr/>
        </p:nvSpPr>
        <p:spPr bwMode="auto">
          <a:xfrm>
            <a:off x="571500" y="5143500"/>
            <a:ext cx="7858125" cy="1428750"/>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GB" altLang="en-US" dirty="0"/>
              <a:t>The </a:t>
            </a:r>
            <a:r>
              <a:rPr lang="en-GB" altLang="en-US" i="1" dirty="0">
                <a:solidFill>
                  <a:srgbClr val="0000FF"/>
                </a:solidFill>
              </a:rPr>
              <a:t>fitness value</a:t>
            </a:r>
            <a:r>
              <a:rPr lang="en-GB" altLang="en-US" dirty="0">
                <a:solidFill>
                  <a:srgbClr val="0000FF"/>
                </a:solidFill>
              </a:rPr>
              <a:t> </a:t>
            </a:r>
            <a:r>
              <a:rPr lang="en-GB" altLang="en-US" dirty="0"/>
              <a:t>is used to determine:</a:t>
            </a:r>
          </a:p>
          <a:p>
            <a:pPr marL="800100" lvl="1" indent="-342900" eaLnBrk="1" hangingPunct="1">
              <a:spcBef>
                <a:spcPct val="20000"/>
              </a:spcBef>
              <a:buClr>
                <a:schemeClr val="folHlink"/>
              </a:buClr>
              <a:buSzPct val="60000"/>
              <a:buFont typeface="Wingdings" pitchFamily="2" charset="2"/>
              <a:buChar char="Ø"/>
            </a:pPr>
            <a:r>
              <a:rPr lang="en-GB" altLang="en-US" dirty="0"/>
              <a:t>chromosome's </a:t>
            </a:r>
            <a:r>
              <a:rPr lang="en-GB" altLang="en-US" dirty="0">
                <a:solidFill>
                  <a:srgbClr val="0000FF"/>
                </a:solidFill>
              </a:rPr>
              <a:t>rate of reproduction</a:t>
            </a:r>
            <a:r>
              <a:rPr lang="en-GB" altLang="en-US" dirty="0"/>
              <a:t>;</a:t>
            </a:r>
          </a:p>
          <a:p>
            <a:pPr marL="800100" lvl="1" indent="-342900" eaLnBrk="1" hangingPunct="1">
              <a:spcBef>
                <a:spcPct val="20000"/>
              </a:spcBef>
              <a:buClr>
                <a:schemeClr val="folHlink"/>
              </a:buClr>
              <a:buSzPct val="60000"/>
              <a:buFont typeface="Wingdings" pitchFamily="2" charset="2"/>
              <a:buChar char="Ø"/>
            </a:pPr>
            <a:r>
              <a:rPr lang="en-GB" altLang="en-US" dirty="0"/>
              <a:t>chromosome's </a:t>
            </a:r>
            <a:r>
              <a:rPr lang="en-GB" altLang="en-US" dirty="0">
                <a:solidFill>
                  <a:srgbClr val="0000FF"/>
                </a:solidFill>
              </a:rPr>
              <a:t>life span </a:t>
            </a:r>
            <a:r>
              <a:rPr lang="en-GB" altLang="en-US" dirty="0"/>
              <a:t>(whether it will survive).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dissolve">
                                      <p:cBhvr>
                                        <p:cTn id="7" dur="500"/>
                                        <p:tgtEl>
                                          <p:spTgt spid="1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dissolve">
                                      <p:cBhvr>
                                        <p:cTn id="12" dur="500"/>
                                        <p:tgtEl>
                                          <p:spTgt spid="1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dissolve">
                                      <p:cBhvr>
                                        <p:cTn id="17" dur="500"/>
                                        <p:tgtEl>
                                          <p:spTgt spid="9">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dissolve">
                                      <p:cBhvr>
                                        <p:cTn id="22" dur="500"/>
                                        <p:tgtEl>
                                          <p:spTgt spid="10">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animEffect transition="in" filter="dissolve">
                                      <p:cBhvr>
                                        <p:cTn id="27" dur="500"/>
                                        <p:tgtEl>
                                          <p:spTgt spid="11">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4">
                                            <p:txEl>
                                              <p:pRg st="0" end="0"/>
                                            </p:txEl>
                                          </p:spTgt>
                                        </p:tgtEl>
                                        <p:attrNameLst>
                                          <p:attrName>style.visibility</p:attrName>
                                        </p:attrNameLst>
                                      </p:cBhvr>
                                      <p:to>
                                        <p:strVal val="visible"/>
                                      </p:to>
                                    </p:set>
                                    <p:animEffect transition="in" filter="dissolve">
                                      <p:cBhvr>
                                        <p:cTn id="32" dur="500"/>
                                        <p:tgtEl>
                                          <p:spTgt spid="14">
                                            <p:txEl>
                                              <p:pRg st="0" end="0"/>
                                            </p:txEl>
                                          </p:spTgt>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14">
                                            <p:txEl>
                                              <p:pRg st="1" end="1"/>
                                            </p:txEl>
                                          </p:spTgt>
                                        </p:tgtEl>
                                        <p:attrNameLst>
                                          <p:attrName>style.visibility</p:attrName>
                                        </p:attrNameLst>
                                      </p:cBhvr>
                                      <p:to>
                                        <p:strVal val="visible"/>
                                      </p:to>
                                    </p:set>
                                    <p:animEffect transition="in" filter="dissolve">
                                      <p:cBhvr>
                                        <p:cTn id="35" dur="500"/>
                                        <p:tgtEl>
                                          <p:spTgt spid="14">
                                            <p:txEl>
                                              <p:pRg st="1" end="1"/>
                                            </p:txEl>
                                          </p:spTgt>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14">
                                            <p:txEl>
                                              <p:pRg st="2" end="2"/>
                                            </p:txEl>
                                          </p:spTgt>
                                        </p:tgtEl>
                                        <p:attrNameLst>
                                          <p:attrName>style.visibility</p:attrName>
                                        </p:attrNameLst>
                                      </p:cBhvr>
                                      <p:to>
                                        <p:strVal val="visible"/>
                                      </p:to>
                                    </p:set>
                                    <p:animEffect transition="in" filter="dissolve">
                                      <p:cBhvr>
                                        <p:cTn id="38" dur="50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utoUpdateAnimBg="0"/>
      <p:bldP spid="13" grpId="0" build="p" autoUpdateAnimBg="0"/>
      <p:bldP spid="9" grpId="0" build="p" autoUpdateAnimBg="0"/>
      <p:bldP spid="10" grpId="0" build="p" autoUpdateAnimBg="0"/>
      <p:bldP spid="11" grpId="0" build="p" autoUpdateAnimBg="0"/>
      <p:bldP spid="14"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Date Placeholder 3"/>
          <p:cNvSpPr txBox="1">
            <a:spLocks noGrp="1"/>
          </p:cNvSpPr>
          <p:nvPr/>
        </p:nvSpPr>
        <p:spPr bwMode="auto">
          <a:xfrm>
            <a:off x="0" y="6400800"/>
            <a:ext cx="1905000" cy="457200"/>
          </a:xfrm>
          <a:prstGeom prst="rect">
            <a:avLst/>
          </a:prstGeom>
          <a:noFill/>
          <a:ln w="9525">
            <a:noFill/>
            <a:miter lim="800000"/>
            <a:headEnd/>
            <a:tailEnd/>
          </a:ln>
        </p:spPr>
        <p:txBody>
          <a:bodyPr anchor="b"/>
          <a:lstStyle/>
          <a:p>
            <a:pPr eaLnBrk="1" hangingPunct="1"/>
            <a:fld id="{22C7C17D-F0D0-4236-B77B-E73C7FC819EE}" type="datetime1">
              <a:rPr lang="en-GB" altLang="en-US" sz="1200"/>
              <a:pPr eaLnBrk="1" hangingPunct="1"/>
              <a:t>17/02/2026</a:t>
            </a:fld>
            <a:endParaRPr lang="en-GB" altLang="en-US" sz="1200"/>
          </a:p>
        </p:txBody>
      </p:sp>
      <p:sp>
        <p:nvSpPr>
          <p:cNvPr id="18436" name="Slide Number Placeholder 5"/>
          <p:cNvSpPr txBox="1">
            <a:spLocks noGrp="1"/>
          </p:cNvSpPr>
          <p:nvPr/>
        </p:nvSpPr>
        <p:spPr bwMode="auto">
          <a:xfrm>
            <a:off x="7239000" y="6400800"/>
            <a:ext cx="1905000" cy="457200"/>
          </a:xfrm>
          <a:prstGeom prst="rect">
            <a:avLst/>
          </a:prstGeom>
          <a:noFill/>
          <a:ln w="9525">
            <a:noFill/>
            <a:miter lim="800000"/>
            <a:headEnd/>
            <a:tailEnd/>
          </a:ln>
        </p:spPr>
        <p:txBody>
          <a:bodyPr anchor="b"/>
          <a:lstStyle/>
          <a:p>
            <a:pPr algn="r" eaLnBrk="1" hangingPunct="1"/>
            <a:fld id="{3E6F1B22-0252-4320-8CDF-FF32D4C74106}" type="slidenum">
              <a:rPr lang="en-GB" altLang="en-US" sz="1200"/>
              <a:pPr algn="r" eaLnBrk="1" hangingPunct="1"/>
              <a:t>16</a:t>
            </a:fld>
            <a:endParaRPr lang="en-GB" altLang="en-US" sz="1200"/>
          </a:p>
        </p:txBody>
      </p:sp>
      <p:sp>
        <p:nvSpPr>
          <p:cNvPr id="18437" name="Rectangle 2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8438" name="Rectangle 9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5" name="Rectangle 3"/>
          <p:cNvSpPr>
            <a:spLocks noChangeArrowheads="1"/>
          </p:cNvSpPr>
          <p:nvPr/>
        </p:nvSpPr>
        <p:spPr bwMode="auto">
          <a:xfrm>
            <a:off x="714375" y="1000125"/>
            <a:ext cx="8001000" cy="857250"/>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a:solidFill>
                  <a:srgbClr val="0000FF"/>
                </a:solidFill>
              </a:rPr>
              <a:t>GA</a:t>
            </a:r>
            <a:r>
              <a:rPr lang="en-US" altLang="en-US"/>
              <a:t> solve problems by iteratively generating and testing candidate solutions (</a:t>
            </a:r>
            <a:r>
              <a:rPr lang="en-US" altLang="en-US">
                <a:solidFill>
                  <a:schemeClr val="tx2"/>
                </a:solidFill>
              </a:rPr>
              <a:t>chromosomes</a:t>
            </a:r>
            <a:r>
              <a:rPr lang="en-US" altLang="en-US"/>
              <a:t>).</a:t>
            </a:r>
          </a:p>
        </p:txBody>
      </p:sp>
      <p:sp>
        <p:nvSpPr>
          <p:cNvPr id="10" name="Rectangle 3"/>
          <p:cNvSpPr>
            <a:spLocks noChangeArrowheads="1"/>
          </p:cNvSpPr>
          <p:nvPr/>
        </p:nvSpPr>
        <p:spPr bwMode="auto">
          <a:xfrm>
            <a:off x="701675" y="1968500"/>
            <a:ext cx="8286750" cy="1643063"/>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dirty="0"/>
              <a:t>The </a:t>
            </a:r>
            <a:r>
              <a:rPr lang="en-US" altLang="en-US" dirty="0">
                <a:solidFill>
                  <a:srgbClr val="002060"/>
                </a:solidFill>
              </a:rPr>
              <a:t>next generation </a:t>
            </a:r>
            <a:r>
              <a:rPr lang="en-US" altLang="en-US" dirty="0"/>
              <a:t>chromosomes are produced by selecting ones from the current population (on the basis of their fitness values) and recommending them to reproduce new ones (a Darwinian survival).</a:t>
            </a:r>
          </a:p>
        </p:txBody>
      </p:sp>
      <p:sp>
        <p:nvSpPr>
          <p:cNvPr id="11" name="Rectangle 3"/>
          <p:cNvSpPr>
            <a:spLocks noChangeArrowheads="1"/>
          </p:cNvSpPr>
          <p:nvPr/>
        </p:nvSpPr>
        <p:spPr bwMode="auto">
          <a:xfrm>
            <a:off x="701675" y="5364163"/>
            <a:ext cx="7643813" cy="571500"/>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a:t>The new chromosomes are called </a:t>
            </a:r>
            <a:r>
              <a:rPr lang="en-US" altLang="en-US" b="1" i="1">
                <a:solidFill>
                  <a:srgbClr val="0000FF"/>
                </a:solidFill>
              </a:rPr>
              <a:t>offspring</a:t>
            </a:r>
            <a:r>
              <a:rPr lang="en-US" altLang="en-US"/>
              <a:t>.</a:t>
            </a:r>
          </a:p>
        </p:txBody>
      </p:sp>
      <p:sp>
        <p:nvSpPr>
          <p:cNvPr id="12" name="Rectangle 3"/>
          <p:cNvSpPr>
            <a:spLocks noChangeArrowheads="1"/>
          </p:cNvSpPr>
          <p:nvPr/>
        </p:nvSpPr>
        <p:spPr bwMode="auto">
          <a:xfrm>
            <a:off x="701675" y="3830638"/>
            <a:ext cx="8143875" cy="1143000"/>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dirty="0"/>
              <a:t>Thus, the population is improved from one generation to the next through </a:t>
            </a:r>
            <a:r>
              <a:rPr lang="en-US" altLang="en-US" b="1" i="1" dirty="0">
                <a:solidFill>
                  <a:srgbClr val="0000FF"/>
                </a:solidFill>
              </a:rPr>
              <a:t>reproduction</a:t>
            </a:r>
            <a:r>
              <a:rPr lang="en-US" altLang="en-US" b="1" i="1" dirty="0"/>
              <a:t>  </a:t>
            </a:r>
            <a:r>
              <a:rPr lang="en-US" altLang="en-US" dirty="0"/>
              <a:t>using </a:t>
            </a:r>
            <a:r>
              <a:rPr lang="en-US" altLang="en-US" b="1" i="1" dirty="0"/>
              <a:t> </a:t>
            </a:r>
            <a:r>
              <a:rPr lang="en-US" altLang="en-US" b="1" i="1" dirty="0">
                <a:solidFill>
                  <a:srgbClr val="0000FF"/>
                </a:solidFill>
              </a:rPr>
              <a:t>genetic</a:t>
            </a:r>
            <a:r>
              <a:rPr lang="en-US" altLang="en-US" b="1" i="1" dirty="0"/>
              <a:t> </a:t>
            </a:r>
            <a:r>
              <a:rPr lang="en-US" altLang="en-US" b="1" i="1" dirty="0">
                <a:solidFill>
                  <a:srgbClr val="0000FF"/>
                </a:solidFill>
              </a:rPr>
              <a:t>operators</a:t>
            </a:r>
            <a:r>
              <a:rPr lang="en-US" altLang="en-US" dirty="0"/>
              <a:t>  and fitness based </a:t>
            </a:r>
            <a:r>
              <a:rPr lang="en-US" altLang="en-US" b="1" i="1" dirty="0">
                <a:solidFill>
                  <a:srgbClr val="0000FF"/>
                </a:solidFill>
              </a:rPr>
              <a:t>selection</a:t>
            </a:r>
            <a:r>
              <a:rPr lang="en-US" altLang="en-US" dirty="0"/>
              <a:t>.</a:t>
            </a:r>
            <a:endParaRPr lang="en-GB"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dissolve">
                                      <p:cBhvr>
                                        <p:cTn id="7" dur="500"/>
                                        <p:tgtEl>
                                          <p:spTgt spid="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dissolve">
                                      <p:cBhvr>
                                        <p:cTn id="12" dur="500"/>
                                        <p:tgtEl>
                                          <p:spTgt spid="1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animEffect transition="in" filter="dissolve">
                                      <p:cBhvr>
                                        <p:cTn id="17" dur="500"/>
                                        <p:tgtEl>
                                          <p:spTgt spid="12">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1">
                                            <p:txEl>
                                              <p:pRg st="0" end="0"/>
                                            </p:txEl>
                                          </p:spTgt>
                                        </p:tgtEl>
                                        <p:attrNameLst>
                                          <p:attrName>style.visibility</p:attrName>
                                        </p:attrNameLst>
                                      </p:cBhvr>
                                      <p:to>
                                        <p:strVal val="visible"/>
                                      </p:to>
                                    </p:set>
                                    <p:animEffect transition="in" filter="dissolve">
                                      <p:cBhvr>
                                        <p:cTn id="22"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autoUpdateAnimBg="0"/>
      <p:bldP spid="10" grpId="0" build="p" autoUpdateAnimBg="0"/>
      <p:bldP spid="11" grpId="0" build="p" autoUpdateAnimBg="0"/>
      <p:bldP spid="12"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Date Placeholder 3"/>
          <p:cNvSpPr txBox="1">
            <a:spLocks noGrp="1"/>
          </p:cNvSpPr>
          <p:nvPr/>
        </p:nvSpPr>
        <p:spPr bwMode="auto">
          <a:xfrm>
            <a:off x="0" y="6400800"/>
            <a:ext cx="1905000" cy="457200"/>
          </a:xfrm>
          <a:prstGeom prst="rect">
            <a:avLst/>
          </a:prstGeom>
          <a:noFill/>
          <a:ln w="9525">
            <a:noFill/>
            <a:miter lim="800000"/>
            <a:headEnd/>
            <a:tailEnd/>
          </a:ln>
        </p:spPr>
        <p:txBody>
          <a:bodyPr anchor="b"/>
          <a:lstStyle/>
          <a:p>
            <a:pPr eaLnBrk="1" hangingPunct="1"/>
            <a:fld id="{989F88A8-0CB5-4E9A-9503-CE139E250EC3}" type="datetime1">
              <a:rPr lang="en-GB" altLang="en-US" sz="1200"/>
              <a:pPr eaLnBrk="1" hangingPunct="1"/>
              <a:t>17/02/2026</a:t>
            </a:fld>
            <a:endParaRPr lang="en-GB" altLang="en-US" sz="1200"/>
          </a:p>
        </p:txBody>
      </p:sp>
      <p:sp>
        <p:nvSpPr>
          <p:cNvPr id="20484" name="Slide Number Placeholder 5"/>
          <p:cNvSpPr txBox="1">
            <a:spLocks noGrp="1"/>
          </p:cNvSpPr>
          <p:nvPr/>
        </p:nvSpPr>
        <p:spPr bwMode="auto">
          <a:xfrm>
            <a:off x="7239000" y="6400800"/>
            <a:ext cx="1905000" cy="457200"/>
          </a:xfrm>
          <a:prstGeom prst="rect">
            <a:avLst/>
          </a:prstGeom>
          <a:noFill/>
          <a:ln w="9525">
            <a:noFill/>
            <a:miter lim="800000"/>
            <a:headEnd/>
            <a:tailEnd/>
          </a:ln>
        </p:spPr>
        <p:txBody>
          <a:bodyPr anchor="b"/>
          <a:lstStyle/>
          <a:p>
            <a:pPr algn="r" eaLnBrk="1" hangingPunct="1"/>
            <a:fld id="{8DE7725C-FE22-4FBA-9849-80DFFEFE9134}" type="slidenum">
              <a:rPr lang="en-GB" altLang="en-US" sz="1200"/>
              <a:pPr algn="r" eaLnBrk="1" hangingPunct="1"/>
              <a:t>17</a:t>
            </a:fld>
            <a:endParaRPr lang="en-GB" altLang="en-US" sz="1200"/>
          </a:p>
        </p:txBody>
      </p:sp>
      <p:sp>
        <p:nvSpPr>
          <p:cNvPr id="20485" name="Rectangle 2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3" name="Rectangle 3"/>
          <p:cNvSpPr>
            <a:spLocks noChangeArrowheads="1"/>
          </p:cNvSpPr>
          <p:nvPr/>
        </p:nvSpPr>
        <p:spPr bwMode="auto">
          <a:xfrm>
            <a:off x="482600" y="1128712"/>
            <a:ext cx="8178800" cy="5272087"/>
          </a:xfrm>
          <a:prstGeom prst="rect">
            <a:avLst/>
          </a:prstGeom>
          <a:noFill/>
          <a:ln w="9525">
            <a:noFill/>
            <a:miter lim="800000"/>
            <a:headEnd/>
            <a:tailEnd/>
          </a:ln>
        </p:spPr>
        <p:txBody>
          <a:bodyPr/>
          <a:lstStyle/>
          <a:p>
            <a:pPr marL="342900" indent="-342900" eaLnBrk="1" hangingPunct="1">
              <a:spcBef>
                <a:spcPts val="1200"/>
              </a:spcBef>
              <a:buClr>
                <a:schemeClr val="folHlink"/>
              </a:buClr>
              <a:buSzPct val="60000"/>
              <a:buFont typeface="Wingdings" pitchFamily="2" charset="2"/>
              <a:buChar char="n"/>
            </a:pPr>
            <a:r>
              <a:rPr lang="en-GB" altLang="en-US" dirty="0"/>
              <a:t>GA differ from most of the searching techniques in:</a:t>
            </a:r>
          </a:p>
          <a:p>
            <a:pPr marL="800100" lvl="1" indent="-342900" eaLnBrk="1" hangingPunct="1">
              <a:spcBef>
                <a:spcPts val="1200"/>
              </a:spcBef>
              <a:buClr>
                <a:schemeClr val="folHlink"/>
              </a:buClr>
              <a:buSzPct val="60000"/>
              <a:buFont typeface="Wingdings" pitchFamily="2" charset="2"/>
              <a:buChar char="Ø"/>
            </a:pPr>
            <a:r>
              <a:rPr lang="en-US" altLang="en-US" dirty="0"/>
              <a:t>Instead of using parameters themselves, </a:t>
            </a:r>
            <a:r>
              <a:rPr lang="en-US" altLang="en-US" dirty="0">
                <a:solidFill>
                  <a:srgbClr val="0000FF"/>
                </a:solidFill>
              </a:rPr>
              <a:t>classical GA </a:t>
            </a:r>
            <a:r>
              <a:rPr lang="en-US" altLang="en-US" dirty="0"/>
              <a:t>work with a </a:t>
            </a:r>
            <a:r>
              <a:rPr lang="en-US" altLang="en-US" dirty="0">
                <a:solidFill>
                  <a:srgbClr val="0000FF"/>
                </a:solidFill>
              </a:rPr>
              <a:t>coding</a:t>
            </a:r>
            <a:r>
              <a:rPr lang="en-US" altLang="en-US" dirty="0"/>
              <a:t> of the parameter set;</a:t>
            </a:r>
            <a:endParaRPr lang="en-GB" altLang="en-US" dirty="0"/>
          </a:p>
          <a:p>
            <a:pPr marL="800100" lvl="1" indent="-342900" eaLnBrk="1" hangingPunct="1">
              <a:spcBef>
                <a:spcPts val="1200"/>
              </a:spcBef>
              <a:buClr>
                <a:schemeClr val="folHlink"/>
              </a:buClr>
              <a:buSzPct val="60000"/>
              <a:buFont typeface="Wingdings" pitchFamily="2" charset="2"/>
              <a:buChar char="Ø"/>
            </a:pPr>
            <a:r>
              <a:rPr lang="en-GB" altLang="en-US" dirty="0"/>
              <a:t>Instead of starting from a single point, they start the  search with a </a:t>
            </a:r>
            <a:r>
              <a:rPr lang="en-GB" altLang="en-US" dirty="0">
                <a:solidFill>
                  <a:srgbClr val="0000FF"/>
                </a:solidFill>
              </a:rPr>
              <a:t>population of points</a:t>
            </a:r>
            <a:r>
              <a:rPr lang="en-GB" altLang="en-US" dirty="0"/>
              <a:t>;</a:t>
            </a:r>
          </a:p>
          <a:p>
            <a:pPr marL="800100" lvl="1" indent="-342900" eaLnBrk="1" hangingPunct="1">
              <a:spcBef>
                <a:spcPts val="1200"/>
              </a:spcBef>
              <a:buClr>
                <a:schemeClr val="folHlink"/>
              </a:buClr>
              <a:buSzPct val="60000"/>
              <a:buFont typeface="Wingdings" pitchFamily="2" charset="2"/>
              <a:buChar char="Ø"/>
            </a:pPr>
            <a:r>
              <a:rPr lang="en-GB" altLang="en-US" dirty="0"/>
              <a:t>They use </a:t>
            </a:r>
            <a:r>
              <a:rPr lang="en-GB" altLang="en-US" dirty="0">
                <a:solidFill>
                  <a:srgbClr val="0000FF"/>
                </a:solidFill>
              </a:rPr>
              <a:t>fitness</a:t>
            </a:r>
            <a:r>
              <a:rPr lang="en-GB" altLang="en-US" dirty="0"/>
              <a:t> (objective) function to direct their search, not auxiliary information (e.g., no derivatives);</a:t>
            </a:r>
          </a:p>
          <a:p>
            <a:pPr marL="800100" lvl="1" indent="-342900" eaLnBrk="1" hangingPunct="1">
              <a:spcBef>
                <a:spcPts val="1200"/>
              </a:spcBef>
              <a:buClr>
                <a:schemeClr val="folHlink"/>
              </a:buClr>
              <a:buSzPct val="60000"/>
              <a:buFont typeface="Wingdings" pitchFamily="2" charset="2"/>
              <a:buChar char="Ø"/>
            </a:pPr>
            <a:r>
              <a:rPr lang="en-GB" altLang="en-US" dirty="0"/>
              <a:t>T</a:t>
            </a:r>
            <a:r>
              <a:rPr lang="en-US" altLang="en-US" dirty="0"/>
              <a:t>hey use </a:t>
            </a:r>
            <a:r>
              <a:rPr lang="en-US" altLang="en-US" dirty="0">
                <a:solidFill>
                  <a:srgbClr val="0000FF"/>
                </a:solidFill>
              </a:rPr>
              <a:t>heuristic</a:t>
            </a:r>
            <a:r>
              <a:rPr lang="en-US" altLang="en-US" dirty="0"/>
              <a:t> transition rules (improve their solutions by recombining good ones), and not deterministic ones (which need special conditions for convergence to a global optimum).</a:t>
            </a:r>
            <a:endParaRPr lang="en-GB" altLang="en-US" dirty="0"/>
          </a:p>
        </p:txBody>
      </p:sp>
      <p:sp>
        <p:nvSpPr>
          <p:cNvPr id="20487" name="Rectangle 9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0488"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0489"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0490"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0491" name="Rectangle 1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Date Placeholder 3"/>
          <p:cNvSpPr txBox="1">
            <a:spLocks noGrp="1"/>
          </p:cNvSpPr>
          <p:nvPr/>
        </p:nvSpPr>
        <p:spPr bwMode="auto">
          <a:xfrm>
            <a:off x="0" y="6400800"/>
            <a:ext cx="1905000" cy="457200"/>
          </a:xfrm>
          <a:prstGeom prst="rect">
            <a:avLst/>
          </a:prstGeom>
          <a:noFill/>
          <a:ln w="9525">
            <a:noFill/>
            <a:miter lim="800000"/>
            <a:headEnd/>
            <a:tailEnd/>
          </a:ln>
        </p:spPr>
        <p:txBody>
          <a:bodyPr anchor="b"/>
          <a:lstStyle/>
          <a:p>
            <a:pPr eaLnBrk="1" hangingPunct="1"/>
            <a:fld id="{41D62943-A5A6-4DC1-853A-CC7CA5A1FE4E}" type="datetime1">
              <a:rPr lang="en-GB" altLang="en-US" sz="1200"/>
              <a:pPr eaLnBrk="1" hangingPunct="1"/>
              <a:t>17/02/2026</a:t>
            </a:fld>
            <a:endParaRPr lang="en-GB" altLang="en-US" sz="1200"/>
          </a:p>
        </p:txBody>
      </p:sp>
      <p:sp>
        <p:nvSpPr>
          <p:cNvPr id="19460" name="Slide Number Placeholder 5"/>
          <p:cNvSpPr txBox="1">
            <a:spLocks noGrp="1"/>
          </p:cNvSpPr>
          <p:nvPr/>
        </p:nvSpPr>
        <p:spPr bwMode="auto">
          <a:xfrm>
            <a:off x="7239000" y="6400800"/>
            <a:ext cx="1905000" cy="457200"/>
          </a:xfrm>
          <a:prstGeom prst="rect">
            <a:avLst/>
          </a:prstGeom>
          <a:noFill/>
          <a:ln w="9525">
            <a:noFill/>
            <a:miter lim="800000"/>
            <a:headEnd/>
            <a:tailEnd/>
          </a:ln>
        </p:spPr>
        <p:txBody>
          <a:bodyPr anchor="b"/>
          <a:lstStyle/>
          <a:p>
            <a:pPr algn="r" eaLnBrk="1" hangingPunct="1"/>
            <a:fld id="{16336C6C-8150-4093-9E22-12FE6BF7F8A0}" type="slidenum">
              <a:rPr lang="en-GB" altLang="en-US" sz="1200"/>
              <a:pPr algn="r" eaLnBrk="1" hangingPunct="1"/>
              <a:t>18</a:t>
            </a:fld>
            <a:endParaRPr lang="en-GB" altLang="en-US" sz="1200"/>
          </a:p>
        </p:txBody>
      </p:sp>
      <p:sp>
        <p:nvSpPr>
          <p:cNvPr id="19461" name="Rectangle 2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9462" name="Rectangle 9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9463"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9464"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9465"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9466" name="Rectangle 1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5" name="Rectangle 3"/>
          <p:cNvSpPr>
            <a:spLocks noChangeArrowheads="1"/>
          </p:cNvSpPr>
          <p:nvPr/>
        </p:nvSpPr>
        <p:spPr bwMode="auto">
          <a:xfrm>
            <a:off x="642938" y="1214438"/>
            <a:ext cx="8072437" cy="928687"/>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GB" altLang="en-US"/>
              <a:t>Code the problem parameter set as a set of chromosomes (starting population).</a:t>
            </a:r>
          </a:p>
        </p:txBody>
      </p:sp>
      <p:sp>
        <p:nvSpPr>
          <p:cNvPr id="14" name="Rectangle 2"/>
          <p:cNvSpPr txBox="1">
            <a:spLocks noChangeArrowheads="1"/>
          </p:cNvSpPr>
          <p:nvPr/>
        </p:nvSpPr>
        <p:spPr>
          <a:xfrm>
            <a:off x="2071689" y="142875"/>
            <a:ext cx="3976476" cy="661988"/>
          </a:xfrm>
          <a:prstGeom prst="rect">
            <a:avLst/>
          </a:prstGeom>
        </p:spPr>
        <p:txBody>
          <a:bodyPr/>
          <a:lstStyle/>
          <a:p>
            <a:pPr>
              <a:defRPr/>
            </a:pPr>
            <a:r>
              <a:rPr lang="en-US" sz="3600" b="1" kern="0" dirty="0">
                <a:solidFill>
                  <a:schemeClr val="tx2"/>
                </a:solidFill>
                <a:latin typeface="+mj-lt"/>
                <a:ea typeface="+mj-ea"/>
                <a:cs typeface="+mj-cs"/>
              </a:rPr>
              <a:t>A Simple </a:t>
            </a:r>
            <a:r>
              <a:rPr lang="en-GB" sz="3600" b="1" kern="0" dirty="0">
                <a:solidFill>
                  <a:schemeClr val="tx2"/>
                </a:solidFill>
                <a:latin typeface="+mj-lt"/>
                <a:ea typeface="+mj-ea"/>
                <a:cs typeface="+mj-cs"/>
              </a:rPr>
              <a:t>GA</a:t>
            </a:r>
          </a:p>
        </p:txBody>
      </p:sp>
      <p:grpSp>
        <p:nvGrpSpPr>
          <p:cNvPr id="2" name="Group 19"/>
          <p:cNvGrpSpPr>
            <a:grpSpLocks/>
          </p:cNvGrpSpPr>
          <p:nvPr/>
        </p:nvGrpSpPr>
        <p:grpSpPr bwMode="auto">
          <a:xfrm>
            <a:off x="642938" y="2071688"/>
            <a:ext cx="8072437" cy="1571625"/>
            <a:chOff x="642938" y="2071688"/>
            <a:chExt cx="8072437" cy="1571625"/>
          </a:xfrm>
        </p:grpSpPr>
        <p:sp>
          <p:nvSpPr>
            <p:cNvPr id="19471" name="Rectangle 3"/>
            <p:cNvSpPr>
              <a:spLocks noChangeArrowheads="1"/>
            </p:cNvSpPr>
            <p:nvPr/>
          </p:nvSpPr>
          <p:spPr bwMode="auto">
            <a:xfrm>
              <a:off x="642938" y="2571750"/>
              <a:ext cx="7929562" cy="428625"/>
            </a:xfrm>
            <a:prstGeom prst="rect">
              <a:avLst/>
            </a:prstGeom>
            <a:noFill/>
            <a:ln w="9525">
              <a:noFill/>
              <a:miter lim="800000"/>
              <a:headEnd/>
              <a:tailEnd/>
            </a:ln>
          </p:spPr>
          <p:txBody>
            <a:bodyPr/>
            <a:lstStyle/>
            <a:p>
              <a:pPr marL="800100" lvl="1" indent="-342900" eaLnBrk="1" hangingPunct="1">
                <a:spcBef>
                  <a:spcPct val="20000"/>
                </a:spcBef>
                <a:buClr>
                  <a:schemeClr val="folHlink"/>
                </a:buClr>
                <a:buSzPct val="60000"/>
                <a:buFont typeface="Wingdings" pitchFamily="2" charset="2"/>
                <a:buChar char="Ø"/>
              </a:pPr>
              <a:r>
                <a:rPr lang="en-US" altLang="en-US"/>
                <a:t>Initialise </a:t>
              </a:r>
              <a:r>
                <a:rPr lang="en-US" altLang="en-US" b="1" i="1">
                  <a:solidFill>
                    <a:srgbClr val="0000FF"/>
                  </a:solidFill>
                </a:rPr>
                <a:t>P(t=0)</a:t>
              </a:r>
              <a:r>
                <a:rPr lang="en-US" altLang="en-US"/>
                <a:t> (starting population </a:t>
              </a:r>
              <a:r>
                <a:rPr lang="en-US" altLang="en-US" b="1" i="1">
                  <a:solidFill>
                    <a:srgbClr val="0000FF"/>
                  </a:solidFill>
                </a:rPr>
                <a:t>P(0)</a:t>
              </a:r>
              <a:r>
                <a:rPr lang="en-US" altLang="en-US"/>
                <a:t>);</a:t>
              </a:r>
              <a:endParaRPr lang="en-GB" altLang="en-US"/>
            </a:p>
          </p:txBody>
        </p:sp>
        <p:sp>
          <p:nvSpPr>
            <p:cNvPr id="19472" name="Rectangle 3"/>
            <p:cNvSpPr>
              <a:spLocks noChangeArrowheads="1"/>
            </p:cNvSpPr>
            <p:nvPr/>
          </p:nvSpPr>
          <p:spPr bwMode="auto">
            <a:xfrm>
              <a:off x="642938" y="3071813"/>
              <a:ext cx="8001000" cy="571500"/>
            </a:xfrm>
            <a:prstGeom prst="rect">
              <a:avLst/>
            </a:prstGeom>
            <a:noFill/>
            <a:ln w="9525">
              <a:noFill/>
              <a:miter lim="800000"/>
              <a:headEnd/>
              <a:tailEnd/>
            </a:ln>
          </p:spPr>
          <p:txBody>
            <a:bodyPr/>
            <a:lstStyle/>
            <a:p>
              <a:pPr marL="800100" lvl="1" indent="-342900" eaLnBrk="1" hangingPunct="1">
                <a:spcBef>
                  <a:spcPct val="20000"/>
                </a:spcBef>
                <a:buClr>
                  <a:schemeClr val="folHlink"/>
                </a:buClr>
                <a:buSzPct val="60000"/>
                <a:buFont typeface="Wingdings" pitchFamily="2" charset="2"/>
                <a:buChar char="Ø"/>
              </a:pPr>
              <a:r>
                <a:rPr lang="en-US" altLang="en-US"/>
                <a:t>Evaluate </a:t>
              </a:r>
              <a:r>
                <a:rPr lang="en-US" altLang="en-US" b="1" i="1">
                  <a:solidFill>
                    <a:srgbClr val="0033CC"/>
                  </a:solidFill>
                </a:rPr>
                <a:t>P(t=0)</a:t>
              </a:r>
              <a:r>
                <a:rPr lang="en-US" altLang="en-US"/>
                <a:t> (evaluate each member fitness);</a:t>
              </a:r>
              <a:endParaRPr lang="en-GB" altLang="en-US"/>
            </a:p>
          </p:txBody>
        </p:sp>
        <p:sp>
          <p:nvSpPr>
            <p:cNvPr id="19473" name="Rectangle 3"/>
            <p:cNvSpPr>
              <a:spLocks noChangeArrowheads="1"/>
            </p:cNvSpPr>
            <p:nvPr/>
          </p:nvSpPr>
          <p:spPr bwMode="auto">
            <a:xfrm>
              <a:off x="642938" y="2071688"/>
              <a:ext cx="8072437" cy="500062"/>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GB" altLang="en-US" dirty="0"/>
                <a:t>Let </a:t>
              </a:r>
              <a:r>
                <a:rPr lang="en-GB" altLang="en-US" b="1" i="1" dirty="0">
                  <a:solidFill>
                    <a:srgbClr val="0000FF"/>
                  </a:solidFill>
                </a:rPr>
                <a:t>P(t)</a:t>
              </a:r>
              <a:r>
                <a:rPr lang="en-GB" altLang="en-US" dirty="0"/>
                <a:t> be the state of population </a:t>
              </a:r>
              <a:r>
                <a:rPr lang="en-GB" altLang="en-US" b="1" i="1" dirty="0">
                  <a:solidFill>
                    <a:srgbClr val="0000FF"/>
                  </a:solidFill>
                </a:rPr>
                <a:t>P</a:t>
              </a:r>
              <a:r>
                <a:rPr lang="en-GB" altLang="en-US" dirty="0">
                  <a:solidFill>
                    <a:srgbClr val="0000FF"/>
                  </a:solidFill>
                </a:rPr>
                <a:t>  </a:t>
              </a:r>
              <a:r>
                <a:rPr lang="en-GB" altLang="en-US" dirty="0"/>
                <a:t>at time </a:t>
              </a:r>
              <a:r>
                <a:rPr lang="en-GB" altLang="en-US" b="1" i="1" dirty="0">
                  <a:solidFill>
                    <a:srgbClr val="0000FF"/>
                  </a:solidFill>
                </a:rPr>
                <a:t>t.</a:t>
              </a:r>
              <a:endParaRPr lang="en-GB" altLang="en-US" dirty="0"/>
            </a:p>
          </p:txBody>
        </p:sp>
      </p:grpSp>
      <p:sp>
        <p:nvSpPr>
          <p:cNvPr id="19" name="Rectangle 3"/>
          <p:cNvSpPr>
            <a:spLocks noChangeArrowheads="1"/>
          </p:cNvSpPr>
          <p:nvPr/>
        </p:nvSpPr>
        <p:spPr bwMode="auto">
          <a:xfrm>
            <a:off x="719138" y="3643313"/>
            <a:ext cx="8424862" cy="2521991"/>
          </a:xfrm>
          <a:prstGeom prst="rect">
            <a:avLst/>
          </a:prstGeom>
          <a:noFill/>
          <a:ln w="9525">
            <a:noFill/>
            <a:miter lim="800000"/>
            <a:headEnd/>
            <a:tailEnd/>
          </a:ln>
        </p:spPr>
        <p:txBody>
          <a:bodyPr/>
          <a:lstStyle/>
          <a:p>
            <a:pPr marL="800100" lvl="1" indent="-342900" eaLnBrk="1" hangingPunct="1">
              <a:spcBef>
                <a:spcPct val="20000"/>
              </a:spcBef>
              <a:buClr>
                <a:schemeClr val="folHlink"/>
              </a:buClr>
              <a:buSzPct val="60000"/>
            </a:pPr>
            <a:r>
              <a:rPr lang="en-US" altLang="en-US" i="1" dirty="0">
                <a:solidFill>
                  <a:srgbClr val="C00000"/>
                </a:solidFill>
              </a:rPr>
              <a:t>repeat</a:t>
            </a:r>
          </a:p>
          <a:p>
            <a:pPr marL="800100" lvl="1" indent="-342900" eaLnBrk="1" hangingPunct="1">
              <a:spcBef>
                <a:spcPct val="20000"/>
              </a:spcBef>
              <a:buClr>
                <a:schemeClr val="folHlink"/>
              </a:buClr>
              <a:buSzPct val="60000"/>
            </a:pPr>
            <a:r>
              <a:rPr lang="en-US" altLang="en-US" b="1" i="1" dirty="0"/>
              <a:t>	</a:t>
            </a:r>
            <a:r>
              <a:rPr lang="en-US" altLang="en-US" b="1" i="1" dirty="0">
                <a:solidFill>
                  <a:srgbClr val="0000FF"/>
                </a:solidFill>
              </a:rPr>
              <a:t>t = t + 1</a:t>
            </a:r>
            <a:r>
              <a:rPr lang="en-US" altLang="en-US" dirty="0"/>
              <a:t>;</a:t>
            </a:r>
          </a:p>
          <a:p>
            <a:pPr marL="800100" lvl="1" indent="-342900" eaLnBrk="1" hangingPunct="1">
              <a:spcBef>
                <a:spcPct val="20000"/>
              </a:spcBef>
              <a:buClr>
                <a:schemeClr val="folHlink"/>
              </a:buClr>
              <a:buSzPct val="60000"/>
            </a:pPr>
            <a:r>
              <a:rPr lang="en-US" altLang="en-US" dirty="0"/>
              <a:t>	generate </a:t>
            </a:r>
            <a:r>
              <a:rPr lang="en-US" altLang="en-US" b="1" i="1" dirty="0">
                <a:solidFill>
                  <a:srgbClr val="0000FF"/>
                </a:solidFill>
              </a:rPr>
              <a:t>P(t)</a:t>
            </a:r>
            <a:r>
              <a:rPr lang="en-US" altLang="en-US" dirty="0">
                <a:solidFill>
                  <a:srgbClr val="0000FF"/>
                </a:solidFill>
              </a:rPr>
              <a:t>  </a:t>
            </a:r>
            <a:r>
              <a:rPr lang="en-US" altLang="en-US" dirty="0"/>
              <a:t>from </a:t>
            </a:r>
            <a:r>
              <a:rPr lang="en-US" altLang="en-US" b="1" i="1" dirty="0">
                <a:solidFill>
                  <a:srgbClr val="0000FF"/>
                </a:solidFill>
              </a:rPr>
              <a:t>P(t-1)</a:t>
            </a:r>
            <a:r>
              <a:rPr lang="en-US" altLang="en-US" dirty="0">
                <a:solidFill>
                  <a:srgbClr val="0000FF"/>
                </a:solidFill>
              </a:rPr>
              <a:t> </a:t>
            </a:r>
            <a:r>
              <a:rPr lang="en-US" altLang="en-US" dirty="0"/>
              <a:t>(based on fitness)</a:t>
            </a:r>
          </a:p>
          <a:p>
            <a:pPr marL="800100" lvl="1" indent="-342900" eaLnBrk="1" hangingPunct="1">
              <a:spcBef>
                <a:spcPct val="20000"/>
              </a:spcBef>
              <a:buClr>
                <a:schemeClr val="folHlink"/>
              </a:buClr>
              <a:buSzPct val="60000"/>
            </a:pPr>
            <a:r>
              <a:rPr lang="en-US" altLang="en-US" dirty="0"/>
              <a:t>	evaluate </a:t>
            </a:r>
            <a:r>
              <a:rPr lang="en-US" altLang="en-US" b="1" i="1" dirty="0">
                <a:solidFill>
                  <a:srgbClr val="0000FF"/>
                </a:solidFill>
              </a:rPr>
              <a:t>P(t)</a:t>
            </a:r>
            <a:r>
              <a:rPr lang="en-US" altLang="en-US" dirty="0"/>
              <a:t>;</a:t>
            </a:r>
            <a:r>
              <a:rPr lang="en-US" altLang="en-US" i="1" dirty="0"/>
              <a:t> </a:t>
            </a:r>
          </a:p>
          <a:p>
            <a:pPr marL="800100" lvl="1" indent="-342900" eaLnBrk="1" hangingPunct="1">
              <a:spcBef>
                <a:spcPct val="20000"/>
              </a:spcBef>
              <a:buClr>
                <a:schemeClr val="folHlink"/>
              </a:buClr>
              <a:buSzPct val="60000"/>
            </a:pPr>
            <a:r>
              <a:rPr lang="en-US" altLang="en-US" i="1" dirty="0">
                <a:solidFill>
                  <a:srgbClr val="C00000"/>
                </a:solidFill>
              </a:rPr>
              <a:t>until  </a:t>
            </a:r>
            <a:r>
              <a:rPr lang="en-US" altLang="en-US" dirty="0"/>
              <a:t>(best fit chromosome found or the stopping condition is satisfied)</a:t>
            </a:r>
            <a:r>
              <a:rPr lang="en-US" altLang="en-US" i="1" dirty="0"/>
              <a:t>.</a:t>
            </a:r>
            <a:endParaRPr lang="en-GB"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5">
                                            <p:txEl>
                                              <p:pRg st="0" end="0"/>
                                            </p:txEl>
                                          </p:spTgt>
                                        </p:tgtEl>
                                        <p:attrNameLst>
                                          <p:attrName>style.visibility</p:attrName>
                                        </p:attrNameLst>
                                      </p:cBhvr>
                                      <p:to>
                                        <p:strVal val="visible"/>
                                      </p:to>
                                    </p:set>
                                    <p:animEffect transition="in" filter="dissolve">
                                      <p:cBhvr>
                                        <p:cTn id="13" dur="500"/>
                                        <p:tgtEl>
                                          <p:spTgt spid="15">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up)">
                                      <p:cBhvr>
                                        <p:cTn id="18" dur="20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up)">
                                      <p:cBhvr>
                                        <p:cTn id="23"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autoUpdateAnimBg="0"/>
      <p:bldP spid="14" grpId="0" autoUpdateAnimBg="0"/>
      <p:bldP spid="1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Date Placeholder 3"/>
          <p:cNvSpPr txBox="1">
            <a:spLocks noGrp="1"/>
          </p:cNvSpPr>
          <p:nvPr/>
        </p:nvSpPr>
        <p:spPr bwMode="auto">
          <a:xfrm>
            <a:off x="0" y="6400800"/>
            <a:ext cx="1905000" cy="457200"/>
          </a:xfrm>
          <a:prstGeom prst="rect">
            <a:avLst/>
          </a:prstGeom>
          <a:noFill/>
          <a:ln w="9525">
            <a:noFill/>
            <a:miter lim="800000"/>
            <a:headEnd/>
            <a:tailEnd/>
          </a:ln>
        </p:spPr>
        <p:txBody>
          <a:bodyPr anchor="b"/>
          <a:lstStyle/>
          <a:p>
            <a:pPr eaLnBrk="1" hangingPunct="1"/>
            <a:fld id="{680B8E0B-FA9D-487D-B92D-DAF086B60223}" type="datetime1">
              <a:rPr lang="en-GB" altLang="en-US" sz="1200"/>
              <a:pPr eaLnBrk="1" hangingPunct="1"/>
              <a:t>17/02/2026</a:t>
            </a:fld>
            <a:endParaRPr lang="en-GB" altLang="en-US" sz="1200"/>
          </a:p>
        </p:txBody>
      </p:sp>
      <p:sp>
        <p:nvSpPr>
          <p:cNvPr id="21508" name="Slide Number Placeholder 5"/>
          <p:cNvSpPr txBox="1">
            <a:spLocks noGrp="1"/>
          </p:cNvSpPr>
          <p:nvPr/>
        </p:nvSpPr>
        <p:spPr bwMode="auto">
          <a:xfrm>
            <a:off x="7239000" y="6400800"/>
            <a:ext cx="1905000" cy="457200"/>
          </a:xfrm>
          <a:prstGeom prst="rect">
            <a:avLst/>
          </a:prstGeom>
          <a:noFill/>
          <a:ln w="9525">
            <a:noFill/>
            <a:miter lim="800000"/>
            <a:headEnd/>
            <a:tailEnd/>
          </a:ln>
        </p:spPr>
        <p:txBody>
          <a:bodyPr anchor="b"/>
          <a:lstStyle/>
          <a:p>
            <a:pPr algn="r" eaLnBrk="1" hangingPunct="1"/>
            <a:fld id="{C608B41A-7A6C-4413-89BB-7EB65C47524E}" type="slidenum">
              <a:rPr lang="en-GB" altLang="en-US" sz="1200"/>
              <a:pPr algn="r" eaLnBrk="1" hangingPunct="1"/>
              <a:t>19</a:t>
            </a:fld>
            <a:endParaRPr lang="en-GB" altLang="en-US" sz="1200"/>
          </a:p>
        </p:txBody>
      </p:sp>
      <p:sp>
        <p:nvSpPr>
          <p:cNvPr id="21509" name="Rectangle 2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2" name="Rectangle 3"/>
          <p:cNvSpPr>
            <a:spLocks noChangeArrowheads="1"/>
          </p:cNvSpPr>
          <p:nvPr/>
        </p:nvSpPr>
        <p:spPr bwMode="auto">
          <a:xfrm>
            <a:off x="701675" y="1785938"/>
            <a:ext cx="8251825" cy="995362"/>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GB" altLang="en-US" sz="2000" dirty="0"/>
              <a:t>In a biological system, a </a:t>
            </a:r>
            <a:r>
              <a:rPr lang="en-GB" altLang="en-US" sz="2000" b="1" i="1" dirty="0">
                <a:solidFill>
                  <a:srgbClr val="003FBC"/>
                </a:solidFill>
              </a:rPr>
              <a:t>genotype</a:t>
            </a:r>
            <a:r>
              <a:rPr lang="en-GB" altLang="en-US" sz="2000" dirty="0"/>
              <a:t>  is the total genetic package.</a:t>
            </a:r>
            <a:r>
              <a:rPr lang="en-US" altLang="en-US" sz="2000" dirty="0"/>
              <a:t> The organism produced by the </a:t>
            </a:r>
            <a:r>
              <a:rPr lang="en-US" altLang="en-US" sz="2000" b="1" i="1" dirty="0">
                <a:solidFill>
                  <a:srgbClr val="0000FF"/>
                </a:solidFill>
              </a:rPr>
              <a:t>genotype</a:t>
            </a:r>
            <a:r>
              <a:rPr lang="en-US" altLang="en-US" sz="2000" dirty="0"/>
              <a:t> is called a </a:t>
            </a:r>
            <a:r>
              <a:rPr lang="en-US" altLang="en-US" sz="2000" b="1" i="1" dirty="0">
                <a:solidFill>
                  <a:srgbClr val="003FBC"/>
                </a:solidFill>
              </a:rPr>
              <a:t>phenotype</a:t>
            </a:r>
            <a:r>
              <a:rPr lang="en-US" altLang="en-US" sz="2000" dirty="0"/>
              <a:t> (its expression). </a:t>
            </a:r>
          </a:p>
        </p:txBody>
      </p:sp>
      <p:sp>
        <p:nvSpPr>
          <p:cNvPr id="21511" name="Rectangle 9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1512"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1513"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1514"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1515" name="Rectangle 1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1516" name="Rectangle 1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9" name="Rectangle 3"/>
          <p:cNvSpPr>
            <a:spLocks noChangeArrowheads="1"/>
          </p:cNvSpPr>
          <p:nvPr/>
        </p:nvSpPr>
        <p:spPr bwMode="auto">
          <a:xfrm>
            <a:off x="665163" y="763588"/>
            <a:ext cx="8178800" cy="1022350"/>
          </a:xfrm>
          <a:prstGeom prst="rect">
            <a:avLst/>
          </a:prstGeom>
          <a:noFill/>
          <a:ln>
            <a:noFill/>
          </a:ln>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defRPr/>
            </a:pPr>
            <a:r>
              <a:rPr lang="en-GB" altLang="en-US" sz="2000" dirty="0"/>
              <a:t>GA</a:t>
            </a:r>
            <a:r>
              <a:rPr lang="en-US" altLang="en-US" sz="2000" dirty="0"/>
              <a:t> perform the search using </a:t>
            </a:r>
            <a:r>
              <a:rPr lang="en-US" altLang="en-US" sz="2000" dirty="0">
                <a:solidFill>
                  <a:schemeClr val="tx2">
                    <a:lumMod val="75000"/>
                  </a:schemeClr>
                </a:solidFill>
              </a:rPr>
              <a:t>a</a:t>
            </a:r>
            <a:r>
              <a:rPr lang="en-US" altLang="en-US" sz="2000" dirty="0"/>
              <a:t> </a:t>
            </a:r>
            <a:r>
              <a:rPr lang="en-US" altLang="en-US" sz="2000" dirty="0">
                <a:solidFill>
                  <a:srgbClr val="0000FF"/>
                </a:solidFill>
              </a:rPr>
              <a:t>fitness function </a:t>
            </a:r>
            <a:r>
              <a:rPr lang="en-US" altLang="en-US" sz="2000" dirty="0"/>
              <a:t>as a metric, and not additional information (derivatives) - in this sense they are </a:t>
            </a:r>
            <a:r>
              <a:rPr lang="en-US" altLang="en-US" sz="2000" dirty="0">
                <a:solidFill>
                  <a:srgbClr val="0000FF"/>
                </a:solidFill>
              </a:rPr>
              <a:t>blind </a:t>
            </a:r>
            <a:r>
              <a:rPr lang="en-US" altLang="en-US" sz="2000" dirty="0"/>
              <a:t>(</a:t>
            </a:r>
            <a:r>
              <a:rPr lang="en-US" altLang="en-US" sz="2000" dirty="0">
                <a:solidFill>
                  <a:srgbClr val="993300"/>
                </a:solidFill>
              </a:rPr>
              <a:t>“The blind watchmaker”</a:t>
            </a:r>
            <a:r>
              <a:rPr lang="en-US" altLang="en-US" sz="2000" dirty="0"/>
              <a:t>, R. Dawkins).</a:t>
            </a:r>
            <a:endParaRPr lang="en-GB" altLang="en-US" sz="2000" dirty="0"/>
          </a:p>
        </p:txBody>
      </p:sp>
      <p:sp>
        <p:nvSpPr>
          <p:cNvPr id="29" name="Rectangle 49"/>
          <p:cNvSpPr>
            <a:spLocks noChangeArrowheads="1"/>
          </p:cNvSpPr>
          <p:nvPr/>
        </p:nvSpPr>
        <p:spPr bwMode="auto">
          <a:xfrm>
            <a:off x="2198688" y="6203950"/>
            <a:ext cx="5000625" cy="400050"/>
          </a:xfrm>
          <a:prstGeom prst="rect">
            <a:avLst/>
          </a:prstGeom>
          <a:noFill/>
          <a:ln w="9525">
            <a:noFill/>
            <a:miter lim="800000"/>
            <a:headEnd/>
            <a:tailEnd/>
          </a:ln>
        </p:spPr>
        <p:txBody>
          <a:bodyPr>
            <a:spAutoFit/>
          </a:bodyPr>
          <a:lstStyle/>
          <a:p>
            <a:pPr eaLnBrk="1" hangingPunct="1"/>
            <a:r>
              <a:rPr lang="en-US" altLang="en-US" sz="2000" dirty="0"/>
              <a:t>Fig. 7. Two spaces in the classical GA.</a:t>
            </a:r>
            <a:endParaRPr lang="en-GB" altLang="en-US" sz="2000" dirty="0"/>
          </a:p>
        </p:txBody>
      </p:sp>
      <p:grpSp>
        <p:nvGrpSpPr>
          <p:cNvPr id="2" name="Group 50"/>
          <p:cNvGrpSpPr>
            <a:grpSpLocks/>
          </p:cNvGrpSpPr>
          <p:nvPr/>
        </p:nvGrpSpPr>
        <p:grpSpPr bwMode="auto">
          <a:xfrm>
            <a:off x="214313" y="2928938"/>
            <a:ext cx="4175125" cy="3105150"/>
            <a:chOff x="214282" y="2928934"/>
            <a:chExt cx="4175151" cy="3104804"/>
          </a:xfrm>
        </p:grpSpPr>
        <p:pic>
          <p:nvPicPr>
            <p:cNvPr id="21539" name="Picture 16"/>
            <p:cNvPicPr>
              <a:picLocks noChangeAspect="1" noChangeArrowheads="1"/>
            </p:cNvPicPr>
            <p:nvPr/>
          </p:nvPicPr>
          <p:blipFill>
            <a:blip r:embed="rId2" cstate="print"/>
            <a:srcRect/>
            <a:stretch>
              <a:fillRect/>
            </a:stretch>
          </p:blipFill>
          <p:spPr bwMode="auto">
            <a:xfrm>
              <a:off x="214282" y="3286123"/>
              <a:ext cx="3571900" cy="2747615"/>
            </a:xfrm>
            <a:prstGeom prst="rect">
              <a:avLst/>
            </a:prstGeom>
            <a:noFill/>
            <a:ln w="9525">
              <a:noFill/>
              <a:miter lim="800000"/>
              <a:headEnd/>
              <a:tailEnd/>
            </a:ln>
          </p:spPr>
        </p:pic>
        <p:sp>
          <p:nvSpPr>
            <p:cNvPr id="21540" name="Text Box 5"/>
            <p:cNvSpPr txBox="1">
              <a:spLocks noChangeArrowheads="1"/>
            </p:cNvSpPr>
            <p:nvPr/>
          </p:nvSpPr>
          <p:spPr bwMode="auto">
            <a:xfrm>
              <a:off x="336462" y="2928934"/>
              <a:ext cx="4052971" cy="430839"/>
            </a:xfrm>
            <a:prstGeom prst="rect">
              <a:avLst/>
            </a:prstGeom>
            <a:noFill/>
            <a:ln w="9525">
              <a:noFill/>
              <a:miter lim="800000"/>
              <a:headEnd/>
              <a:tailEnd/>
            </a:ln>
          </p:spPr>
          <p:txBody>
            <a:bodyPr>
              <a:spAutoFit/>
            </a:bodyPr>
            <a:lstStyle/>
            <a:p>
              <a:pPr eaLnBrk="1" hangingPunct="1"/>
              <a:r>
                <a:rPr lang="en-US" altLang="en-US" sz="2200">
                  <a:cs typeface="Tahoma" pitchFamily="34" charset="0"/>
                </a:rPr>
                <a:t>Phenotype (problem space)</a:t>
              </a:r>
            </a:p>
          </p:txBody>
        </p:sp>
      </p:grpSp>
      <p:grpSp>
        <p:nvGrpSpPr>
          <p:cNvPr id="3" name="Group 51"/>
          <p:cNvGrpSpPr>
            <a:grpSpLocks/>
          </p:cNvGrpSpPr>
          <p:nvPr/>
        </p:nvGrpSpPr>
        <p:grpSpPr bwMode="auto">
          <a:xfrm>
            <a:off x="3732213" y="3429000"/>
            <a:ext cx="2263775" cy="928688"/>
            <a:chOff x="3732193" y="3429000"/>
            <a:chExt cx="2263823" cy="928694"/>
          </a:xfrm>
        </p:grpSpPr>
        <p:sp>
          <p:nvSpPr>
            <p:cNvPr id="14369" name="Text Box 7"/>
            <p:cNvSpPr txBox="1">
              <a:spLocks noChangeArrowheads="1"/>
            </p:cNvSpPr>
            <p:nvPr/>
          </p:nvSpPr>
          <p:spPr bwMode="auto">
            <a:xfrm>
              <a:off x="3732193" y="3429000"/>
              <a:ext cx="2263823" cy="769943"/>
            </a:xfrm>
            <a:prstGeom prst="rect">
              <a:avLst/>
            </a:prstGeom>
            <a:noFill/>
            <a:ln w="9525">
              <a:noFill/>
              <a:miter lim="800000"/>
              <a:headEnd/>
              <a:tailEnd/>
            </a:ln>
          </p:spPr>
          <p:txBody>
            <a:bodyPr>
              <a:spAutoFit/>
            </a:bodyPr>
            <a:lstStyle/>
            <a:p>
              <a:pPr eaLnBrk="1" hangingPunct="1">
                <a:defRPr/>
              </a:pPr>
              <a:r>
                <a:rPr lang="en-US" sz="2200" dirty="0">
                  <a:latin typeface="+mn-lt"/>
                </a:rPr>
                <a:t>   </a:t>
              </a:r>
              <a:r>
                <a:rPr lang="en-US" sz="2200" dirty="0">
                  <a:latin typeface="+mn-lt"/>
                  <a:cs typeface="Times New Roman" pitchFamily="18" charset="0"/>
                </a:rPr>
                <a:t>Encoding </a:t>
              </a:r>
            </a:p>
            <a:p>
              <a:pPr eaLnBrk="1" hangingPunct="1">
                <a:defRPr/>
              </a:pPr>
              <a:r>
                <a:rPr lang="en-US" sz="2200" dirty="0">
                  <a:latin typeface="+mn-lt"/>
                  <a:cs typeface="Times New Roman" pitchFamily="18" charset="0"/>
                </a:rPr>
                <a:t>(representation)</a:t>
              </a:r>
            </a:p>
          </p:txBody>
        </p:sp>
        <p:sp>
          <p:nvSpPr>
            <p:cNvPr id="30" name="Striped Right Arrow 29"/>
            <p:cNvSpPr/>
            <p:nvPr/>
          </p:nvSpPr>
          <p:spPr bwMode="auto">
            <a:xfrm>
              <a:off x="3857608" y="4143380"/>
              <a:ext cx="1928854" cy="214314"/>
            </a:xfrm>
            <a:prstGeom prst="stripedRightArrow">
              <a:avLst>
                <a:gd name="adj1" fmla="val 50000"/>
                <a:gd name="adj2" fmla="val 50000"/>
              </a:avLst>
            </a:prstGeom>
            <a:solidFill>
              <a:srgbClr val="00B0F0"/>
            </a:solidFill>
            <a:ln w="9525" cap="flat" cmpd="sng" algn="ctr">
              <a:solidFill>
                <a:schemeClr val="tx1"/>
              </a:solidFill>
              <a:prstDash val="solid"/>
              <a:miter lim="800000"/>
              <a:headEnd type="none" w="med" len="med"/>
              <a:tailEnd type="none" w="med" len="med"/>
            </a:ln>
            <a:effectLst/>
          </p:spPr>
          <p:txBody>
            <a:bodyPr wrap="none"/>
            <a:lstStyle/>
            <a:p>
              <a:pPr eaLnBrk="1" hangingPunct="1">
                <a:defRPr/>
              </a:pPr>
              <a:endParaRPr lang="en-GB"/>
            </a:p>
          </p:txBody>
        </p:sp>
      </p:grpSp>
      <p:grpSp>
        <p:nvGrpSpPr>
          <p:cNvPr id="4" name="Group 52"/>
          <p:cNvGrpSpPr>
            <a:grpSpLocks/>
          </p:cNvGrpSpPr>
          <p:nvPr/>
        </p:nvGrpSpPr>
        <p:grpSpPr bwMode="auto">
          <a:xfrm>
            <a:off x="3513138" y="4929188"/>
            <a:ext cx="3140075" cy="1055687"/>
            <a:chOff x="3513114" y="4929198"/>
            <a:chExt cx="3140169" cy="1054757"/>
          </a:xfrm>
        </p:grpSpPr>
        <p:sp>
          <p:nvSpPr>
            <p:cNvPr id="21535" name="Text Box 9"/>
            <p:cNvSpPr txBox="1">
              <a:spLocks noChangeArrowheads="1"/>
            </p:cNvSpPr>
            <p:nvPr/>
          </p:nvSpPr>
          <p:spPr bwMode="auto">
            <a:xfrm>
              <a:off x="3513114" y="5214951"/>
              <a:ext cx="3140169" cy="769004"/>
            </a:xfrm>
            <a:prstGeom prst="rect">
              <a:avLst/>
            </a:prstGeom>
            <a:noFill/>
            <a:ln w="9525">
              <a:noFill/>
              <a:miter lim="800000"/>
              <a:headEnd/>
              <a:tailEnd/>
            </a:ln>
          </p:spPr>
          <p:txBody>
            <a:bodyPr>
              <a:spAutoFit/>
            </a:bodyPr>
            <a:lstStyle/>
            <a:p>
              <a:pPr eaLnBrk="1" hangingPunct="1"/>
              <a:r>
                <a:rPr lang="en-US" altLang="en-US" sz="2200">
                  <a:cs typeface="Tahoma" pitchFamily="34" charset="0"/>
                </a:rPr>
                <a:t>     Decoding </a:t>
              </a:r>
            </a:p>
            <a:p>
              <a:pPr eaLnBrk="1" hangingPunct="1"/>
              <a:r>
                <a:rPr lang="en-US" altLang="en-US" sz="2200">
                  <a:cs typeface="Tahoma" pitchFamily="34" charset="0"/>
                </a:rPr>
                <a:t>(inverse representation)</a:t>
              </a:r>
            </a:p>
          </p:txBody>
        </p:sp>
        <p:sp>
          <p:nvSpPr>
            <p:cNvPr id="31" name="Striped Right Arrow 30"/>
            <p:cNvSpPr/>
            <p:nvPr/>
          </p:nvSpPr>
          <p:spPr bwMode="auto">
            <a:xfrm rot="10800000">
              <a:off x="3786172" y="4929198"/>
              <a:ext cx="2000310" cy="214123"/>
            </a:xfrm>
            <a:prstGeom prst="stripedRightArrow">
              <a:avLst/>
            </a:prstGeom>
            <a:solidFill>
              <a:srgbClr val="00B0F0"/>
            </a:solidFill>
            <a:ln w="12700" cap="flat" cmpd="tri" algn="ctr">
              <a:solidFill>
                <a:schemeClr val="tx1"/>
              </a:solidFill>
              <a:prstDash val="solid"/>
              <a:round/>
              <a:headEnd type="none" w="med" len="med"/>
              <a:tailEnd type="none" w="med" len="med"/>
            </a:ln>
            <a:effectLst/>
          </p:spPr>
          <p:txBody>
            <a:bodyPr wrap="none"/>
            <a:lstStyle/>
            <a:p>
              <a:pPr eaLnBrk="1" hangingPunct="1">
                <a:defRPr/>
              </a:pPr>
              <a:endParaRPr lang="en-GB"/>
            </a:p>
          </p:txBody>
        </p:sp>
      </p:grpSp>
      <p:grpSp>
        <p:nvGrpSpPr>
          <p:cNvPr id="5" name="Group 47"/>
          <p:cNvGrpSpPr>
            <a:grpSpLocks/>
          </p:cNvGrpSpPr>
          <p:nvPr/>
        </p:nvGrpSpPr>
        <p:grpSpPr bwMode="auto">
          <a:xfrm>
            <a:off x="5265738" y="2917825"/>
            <a:ext cx="3614737" cy="2940050"/>
            <a:chOff x="5265750" y="2917814"/>
            <a:chExt cx="3614811" cy="2940078"/>
          </a:xfrm>
        </p:grpSpPr>
        <p:sp>
          <p:nvSpPr>
            <p:cNvPr id="21523" name="Text Box 3"/>
            <p:cNvSpPr txBox="1">
              <a:spLocks noChangeArrowheads="1"/>
            </p:cNvSpPr>
            <p:nvPr/>
          </p:nvSpPr>
          <p:spPr bwMode="auto">
            <a:xfrm>
              <a:off x="5265750" y="2917814"/>
              <a:ext cx="3614811" cy="430890"/>
            </a:xfrm>
            <a:prstGeom prst="rect">
              <a:avLst/>
            </a:prstGeom>
            <a:noFill/>
            <a:ln w="9525">
              <a:noFill/>
              <a:miter lim="800000"/>
              <a:headEnd/>
              <a:tailEnd/>
            </a:ln>
          </p:spPr>
          <p:txBody>
            <a:bodyPr>
              <a:spAutoFit/>
            </a:bodyPr>
            <a:lstStyle/>
            <a:p>
              <a:pPr eaLnBrk="1" hangingPunct="1"/>
              <a:r>
                <a:rPr lang="en-US" altLang="en-US" sz="2200" dirty="0">
                  <a:cs typeface="Tahoma" pitchFamily="34" charset="0"/>
                </a:rPr>
                <a:t>Genotype  (solution space) </a:t>
              </a:r>
              <a:endParaRPr lang="en-US" altLang="en-US" sz="2200" baseline="30000" dirty="0">
                <a:cs typeface="Tahoma" pitchFamily="34" charset="0"/>
              </a:endParaRPr>
            </a:p>
          </p:txBody>
        </p:sp>
        <p:sp>
          <p:nvSpPr>
            <p:cNvPr id="21524" name="Text Box 10"/>
            <p:cNvSpPr txBox="1">
              <a:spLocks noChangeArrowheads="1"/>
            </p:cNvSpPr>
            <p:nvPr/>
          </p:nvSpPr>
          <p:spPr bwMode="auto">
            <a:xfrm>
              <a:off x="6908878" y="5103281"/>
              <a:ext cx="1642961" cy="430891"/>
            </a:xfrm>
            <a:prstGeom prst="rect">
              <a:avLst/>
            </a:prstGeom>
            <a:noFill/>
            <a:ln w="9525">
              <a:solidFill>
                <a:schemeClr val="tx1"/>
              </a:solidFill>
              <a:miter lim="800000"/>
              <a:headEnd/>
              <a:tailEnd/>
            </a:ln>
          </p:spPr>
          <p:txBody>
            <a:bodyPr>
              <a:spAutoFit/>
            </a:bodyPr>
            <a:lstStyle/>
            <a:p>
              <a:pPr eaLnBrk="1" hangingPunct="1"/>
              <a:r>
                <a:rPr lang="en-US" altLang="en-US" sz="2200"/>
                <a:t>011101001</a:t>
              </a:r>
            </a:p>
          </p:txBody>
        </p:sp>
        <p:sp>
          <p:nvSpPr>
            <p:cNvPr id="21525" name="Text Box 11"/>
            <p:cNvSpPr txBox="1">
              <a:spLocks noChangeArrowheads="1"/>
            </p:cNvSpPr>
            <p:nvPr/>
          </p:nvSpPr>
          <p:spPr bwMode="auto">
            <a:xfrm>
              <a:off x="6517516" y="4674653"/>
              <a:ext cx="1705857" cy="430891"/>
            </a:xfrm>
            <a:prstGeom prst="rect">
              <a:avLst/>
            </a:prstGeom>
            <a:noFill/>
            <a:ln w="9525">
              <a:solidFill>
                <a:schemeClr val="tx1"/>
              </a:solidFill>
              <a:miter lim="800000"/>
              <a:headEnd/>
              <a:tailEnd/>
            </a:ln>
          </p:spPr>
          <p:txBody>
            <a:bodyPr>
              <a:spAutoFit/>
            </a:bodyPr>
            <a:lstStyle/>
            <a:p>
              <a:pPr eaLnBrk="1" hangingPunct="1"/>
              <a:r>
                <a:rPr lang="en-US" altLang="en-US" sz="2200"/>
                <a:t>010001001</a:t>
              </a:r>
            </a:p>
          </p:txBody>
        </p:sp>
        <p:sp>
          <p:nvSpPr>
            <p:cNvPr id="21526" name="Text Box 12"/>
            <p:cNvSpPr txBox="1">
              <a:spLocks noChangeArrowheads="1"/>
            </p:cNvSpPr>
            <p:nvPr/>
          </p:nvSpPr>
          <p:spPr bwMode="auto">
            <a:xfrm>
              <a:off x="6689795" y="4214818"/>
              <a:ext cx="1542232" cy="430891"/>
            </a:xfrm>
            <a:prstGeom prst="rect">
              <a:avLst/>
            </a:prstGeom>
            <a:noFill/>
            <a:ln w="9525">
              <a:solidFill>
                <a:schemeClr val="tx1"/>
              </a:solidFill>
              <a:miter lim="800000"/>
              <a:headEnd/>
              <a:tailEnd/>
            </a:ln>
          </p:spPr>
          <p:txBody>
            <a:bodyPr>
              <a:spAutoFit/>
            </a:bodyPr>
            <a:lstStyle/>
            <a:p>
              <a:pPr eaLnBrk="1" hangingPunct="1"/>
              <a:r>
                <a:rPr lang="en-US" altLang="en-US" sz="2200"/>
                <a:t>10010010</a:t>
              </a:r>
            </a:p>
          </p:txBody>
        </p:sp>
        <p:sp>
          <p:nvSpPr>
            <p:cNvPr id="21527" name="Text Box 13"/>
            <p:cNvSpPr txBox="1">
              <a:spLocks noChangeArrowheads="1"/>
            </p:cNvSpPr>
            <p:nvPr/>
          </p:nvSpPr>
          <p:spPr bwMode="auto">
            <a:xfrm>
              <a:off x="6653282" y="3714324"/>
              <a:ext cx="1507309" cy="430891"/>
            </a:xfrm>
            <a:prstGeom prst="rect">
              <a:avLst/>
            </a:prstGeom>
            <a:noFill/>
            <a:ln w="9525">
              <a:solidFill>
                <a:schemeClr val="tx1"/>
              </a:solidFill>
              <a:miter lim="800000"/>
              <a:headEnd/>
              <a:tailEnd/>
            </a:ln>
          </p:spPr>
          <p:txBody>
            <a:bodyPr>
              <a:spAutoFit/>
            </a:bodyPr>
            <a:lstStyle/>
            <a:p>
              <a:pPr eaLnBrk="1" hangingPunct="1"/>
              <a:r>
                <a:rPr lang="en-US" altLang="en-US" sz="2200"/>
                <a:t>10010001</a:t>
              </a:r>
            </a:p>
          </p:txBody>
        </p:sp>
        <p:cxnSp>
          <p:nvCxnSpPr>
            <p:cNvPr id="21528" name="Straight Connector 32"/>
            <p:cNvCxnSpPr>
              <a:cxnSpLocks noChangeShapeType="1"/>
            </p:cNvCxnSpPr>
            <p:nvPr/>
          </p:nvCxnSpPr>
          <p:spPr bwMode="auto">
            <a:xfrm rot="5400000" flipH="1" flipV="1">
              <a:off x="5643570" y="4000504"/>
              <a:ext cx="1071570" cy="357190"/>
            </a:xfrm>
            <a:prstGeom prst="line">
              <a:avLst/>
            </a:prstGeom>
            <a:noFill/>
            <a:ln w="25400" algn="ctr">
              <a:solidFill>
                <a:schemeClr val="tx1"/>
              </a:solidFill>
              <a:miter lim="800000"/>
              <a:headEnd/>
              <a:tailEnd/>
            </a:ln>
          </p:spPr>
        </p:cxnSp>
        <p:cxnSp>
          <p:nvCxnSpPr>
            <p:cNvPr id="21529" name="Straight Connector 33"/>
            <p:cNvCxnSpPr>
              <a:cxnSpLocks noChangeShapeType="1"/>
            </p:cNvCxnSpPr>
            <p:nvPr/>
          </p:nvCxnSpPr>
          <p:spPr bwMode="auto">
            <a:xfrm rot="10800000">
              <a:off x="6000760" y="4714884"/>
              <a:ext cx="1285884" cy="1143008"/>
            </a:xfrm>
            <a:prstGeom prst="line">
              <a:avLst/>
            </a:prstGeom>
            <a:noFill/>
            <a:ln w="25400" algn="ctr">
              <a:solidFill>
                <a:schemeClr val="tx1"/>
              </a:solidFill>
              <a:miter lim="800000"/>
              <a:headEnd/>
              <a:tailEnd/>
            </a:ln>
          </p:spPr>
        </p:cxnSp>
        <p:cxnSp>
          <p:nvCxnSpPr>
            <p:cNvPr id="21530" name="Straight Connector 35"/>
            <p:cNvCxnSpPr>
              <a:cxnSpLocks noChangeShapeType="1"/>
            </p:cNvCxnSpPr>
            <p:nvPr/>
          </p:nvCxnSpPr>
          <p:spPr bwMode="auto">
            <a:xfrm flipV="1">
              <a:off x="6357950" y="3429000"/>
              <a:ext cx="1143008" cy="214314"/>
            </a:xfrm>
            <a:prstGeom prst="line">
              <a:avLst/>
            </a:prstGeom>
            <a:noFill/>
            <a:ln w="25400" algn="ctr">
              <a:solidFill>
                <a:schemeClr val="tx1"/>
              </a:solidFill>
              <a:miter lim="800000"/>
              <a:headEnd/>
              <a:tailEnd/>
            </a:ln>
          </p:spPr>
        </p:cxnSp>
        <p:cxnSp>
          <p:nvCxnSpPr>
            <p:cNvPr id="21531" name="Straight Connector 37"/>
            <p:cNvCxnSpPr>
              <a:cxnSpLocks noChangeShapeType="1"/>
            </p:cNvCxnSpPr>
            <p:nvPr/>
          </p:nvCxnSpPr>
          <p:spPr bwMode="auto">
            <a:xfrm rot="10800000">
              <a:off x="7500958" y="3429000"/>
              <a:ext cx="928694" cy="357190"/>
            </a:xfrm>
            <a:prstGeom prst="line">
              <a:avLst/>
            </a:prstGeom>
            <a:noFill/>
            <a:ln w="25400" algn="ctr">
              <a:solidFill>
                <a:schemeClr val="tx1"/>
              </a:solidFill>
              <a:miter lim="800000"/>
              <a:headEnd/>
              <a:tailEnd/>
            </a:ln>
          </p:spPr>
        </p:cxnSp>
        <p:cxnSp>
          <p:nvCxnSpPr>
            <p:cNvPr id="21532" name="Straight Connector 39"/>
            <p:cNvCxnSpPr>
              <a:cxnSpLocks noChangeShapeType="1"/>
            </p:cNvCxnSpPr>
            <p:nvPr/>
          </p:nvCxnSpPr>
          <p:spPr bwMode="auto">
            <a:xfrm rot="16200000" flipV="1">
              <a:off x="7822429" y="4393413"/>
              <a:ext cx="1643074" cy="428628"/>
            </a:xfrm>
            <a:prstGeom prst="line">
              <a:avLst/>
            </a:prstGeom>
            <a:noFill/>
            <a:ln w="25400" algn="ctr">
              <a:solidFill>
                <a:schemeClr val="tx1"/>
              </a:solidFill>
              <a:miter lim="800000"/>
              <a:headEnd/>
              <a:tailEnd/>
            </a:ln>
          </p:spPr>
        </p:cxnSp>
        <p:cxnSp>
          <p:nvCxnSpPr>
            <p:cNvPr id="21533" name="Straight Connector 41"/>
            <p:cNvCxnSpPr>
              <a:cxnSpLocks noChangeShapeType="1"/>
            </p:cNvCxnSpPr>
            <p:nvPr/>
          </p:nvCxnSpPr>
          <p:spPr bwMode="auto">
            <a:xfrm flipV="1">
              <a:off x="8072462" y="5429264"/>
              <a:ext cx="785818" cy="357190"/>
            </a:xfrm>
            <a:prstGeom prst="line">
              <a:avLst/>
            </a:prstGeom>
            <a:noFill/>
            <a:ln w="25400" algn="ctr">
              <a:solidFill>
                <a:schemeClr val="tx1"/>
              </a:solidFill>
              <a:miter lim="800000"/>
              <a:headEnd/>
              <a:tailEnd/>
            </a:ln>
          </p:spPr>
        </p:cxnSp>
        <p:cxnSp>
          <p:nvCxnSpPr>
            <p:cNvPr id="21534" name="Straight Connector 43"/>
            <p:cNvCxnSpPr>
              <a:cxnSpLocks noChangeShapeType="1"/>
            </p:cNvCxnSpPr>
            <p:nvPr/>
          </p:nvCxnSpPr>
          <p:spPr bwMode="auto">
            <a:xfrm flipV="1">
              <a:off x="7286644" y="5786430"/>
              <a:ext cx="785818" cy="71462"/>
            </a:xfrm>
            <a:prstGeom prst="line">
              <a:avLst/>
            </a:prstGeom>
            <a:noFill/>
            <a:ln w="25400" algn="ctr">
              <a:solidFill>
                <a:schemeClr val="tx1"/>
              </a:solidFill>
              <a:miter lim="800000"/>
              <a:headEnd/>
              <a:tailEnd/>
            </a:ln>
          </p:spPr>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dissolve">
                                      <p:cBhvr>
                                        <p:cTn id="7" dur="500"/>
                                        <p:tgtEl>
                                          <p:spTgt spid="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dissolve">
                                      <p:cBhvr>
                                        <p:cTn id="12" dur="500"/>
                                        <p:tgtEl>
                                          <p:spTgt spid="1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2000" fill="hold"/>
                                        <p:tgtEl>
                                          <p:spTgt spid="2"/>
                                        </p:tgtEl>
                                        <p:attrNameLst>
                                          <p:attrName>ppt_x</p:attrName>
                                        </p:attrNameLst>
                                      </p:cBhvr>
                                      <p:tavLst>
                                        <p:tav tm="0">
                                          <p:val>
                                            <p:strVal val="0-#ppt_w/2"/>
                                          </p:val>
                                        </p:tav>
                                        <p:tav tm="100000">
                                          <p:val>
                                            <p:strVal val="#ppt_x"/>
                                          </p:val>
                                        </p:tav>
                                      </p:tavLst>
                                    </p:anim>
                                    <p:anim calcmode="lin" valueType="num">
                                      <p:cBhvr additive="base">
                                        <p:cTn id="18" dur="2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blinds(horizontal)">
                                      <p:cBhvr>
                                        <p:cTn id="23" dur="500"/>
                                        <p:tgtEl>
                                          <p:spTgt spid="2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left)">
                                      <p:cBhvr>
                                        <p:cTn id="28" dur="1000"/>
                                        <p:tgtEl>
                                          <p:spTgt spid="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2"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2000" fill="hold"/>
                                        <p:tgtEl>
                                          <p:spTgt spid="5"/>
                                        </p:tgtEl>
                                        <p:attrNameLst>
                                          <p:attrName>ppt_x</p:attrName>
                                        </p:attrNameLst>
                                      </p:cBhvr>
                                      <p:tavLst>
                                        <p:tav tm="0">
                                          <p:val>
                                            <p:strVal val="1+#ppt_w/2"/>
                                          </p:val>
                                        </p:tav>
                                        <p:tav tm="100000">
                                          <p:val>
                                            <p:strVal val="#ppt_x"/>
                                          </p:val>
                                        </p:tav>
                                      </p:tavLst>
                                    </p:anim>
                                    <p:anim calcmode="lin" valueType="num">
                                      <p:cBhvr additive="base">
                                        <p:cTn id="34" dur="2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2"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wipe(right)">
                                      <p:cBhvr>
                                        <p:cTn id="3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utoUpdateAnimBg="0"/>
      <p:bldP spid="19" grpId="0" build="p" autoUpdateAnimBg="0"/>
      <p:bldP spid="2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ChangeArrowheads="1"/>
          </p:cNvSpPr>
          <p:nvPr/>
        </p:nvSpPr>
        <p:spPr bwMode="auto">
          <a:xfrm>
            <a:off x="719138" y="0"/>
            <a:ext cx="7558087" cy="830263"/>
          </a:xfrm>
          <a:prstGeom prst="rect">
            <a:avLst/>
          </a:prstGeom>
          <a:noFill/>
          <a:ln w="9525">
            <a:noFill/>
            <a:miter lim="800000"/>
            <a:headEnd/>
            <a:tailEnd/>
          </a:ln>
        </p:spPr>
        <p:txBody>
          <a:bodyPr>
            <a:spAutoFit/>
          </a:bodyPr>
          <a:lstStyle/>
          <a:p>
            <a:pPr marL="647700" indent="-719138"/>
            <a:r>
              <a:rPr lang="en-US" altLang="en-US" b="1" u="sng" dirty="0">
                <a:solidFill>
                  <a:srgbClr val="003FBC"/>
                </a:solidFill>
                <a:cs typeface="Times New Roman" pitchFamily="18" charset="0"/>
              </a:rPr>
              <a:t>Example:</a:t>
            </a:r>
            <a:r>
              <a:rPr lang="en-US" altLang="en-US" dirty="0">
                <a:solidFill>
                  <a:srgbClr val="003FBC"/>
                </a:solidFill>
                <a:cs typeface="Times New Roman" pitchFamily="18" charset="0"/>
              </a:rPr>
              <a:t> </a:t>
            </a:r>
            <a:r>
              <a:rPr lang="en-US" altLang="en-US" b="1" dirty="0">
                <a:solidFill>
                  <a:srgbClr val="003FBC"/>
                </a:solidFill>
                <a:cs typeface="Times New Roman" pitchFamily="18" charset="0"/>
              </a:rPr>
              <a:t>Representation/coding of </a:t>
            </a:r>
            <a:r>
              <a:rPr lang="en-US" altLang="en-US" b="1" dirty="0" err="1">
                <a:solidFill>
                  <a:srgbClr val="003FBC"/>
                </a:solidFill>
                <a:cs typeface="Times New Roman" pitchFamily="18" charset="0"/>
              </a:rPr>
              <a:t>behaviour</a:t>
            </a:r>
            <a:r>
              <a:rPr lang="en-US" altLang="en-US" b="1" dirty="0">
                <a:solidFill>
                  <a:srgbClr val="003FBC"/>
                </a:solidFill>
                <a:cs typeface="Times New Roman" pitchFamily="18" charset="0"/>
              </a:rPr>
              <a:t> (coding </a:t>
            </a:r>
            <a:r>
              <a:rPr lang="en-US" altLang="en-US" b="1" i="1" dirty="0">
                <a:solidFill>
                  <a:srgbClr val="003FBC"/>
                </a:solidFill>
                <a:cs typeface="Times New Roman" pitchFamily="18" charset="0"/>
              </a:rPr>
              <a:t>Turkey-mother</a:t>
            </a:r>
            <a:r>
              <a:rPr lang="en-US" altLang="en-US" b="1" dirty="0">
                <a:solidFill>
                  <a:srgbClr val="003FBC"/>
                </a:solidFill>
                <a:cs typeface="Times New Roman" pitchFamily="18" charset="0"/>
              </a:rPr>
              <a:t>  </a:t>
            </a:r>
            <a:r>
              <a:rPr lang="en-US" altLang="en-US" b="1" dirty="0" err="1">
                <a:solidFill>
                  <a:srgbClr val="003FBC"/>
                </a:solidFill>
                <a:cs typeface="Times New Roman" pitchFamily="18" charset="0"/>
              </a:rPr>
              <a:t>behaviour</a:t>
            </a:r>
            <a:r>
              <a:rPr lang="en-US" altLang="en-US" b="1" dirty="0">
                <a:solidFill>
                  <a:srgbClr val="003FBC"/>
                </a:solidFill>
                <a:cs typeface="Times New Roman" pitchFamily="18" charset="0"/>
              </a:rPr>
              <a:t>)</a:t>
            </a:r>
            <a:endParaRPr lang="en-GB" altLang="en-US" b="1" dirty="0">
              <a:solidFill>
                <a:srgbClr val="003FBC"/>
              </a:solidFill>
            </a:endParaRPr>
          </a:p>
        </p:txBody>
      </p:sp>
      <p:pic>
        <p:nvPicPr>
          <p:cNvPr id="59393" name="Picture 1"/>
          <p:cNvPicPr>
            <a:picLocks noChangeAspect="1" noChangeArrowheads="1"/>
          </p:cNvPicPr>
          <p:nvPr/>
        </p:nvPicPr>
        <p:blipFill>
          <a:blip r:embed="rId2" cstate="print"/>
          <a:srcRect/>
          <a:stretch>
            <a:fillRect/>
          </a:stretch>
        </p:blipFill>
        <p:spPr bwMode="auto">
          <a:xfrm>
            <a:off x="323850" y="1016000"/>
            <a:ext cx="2420938" cy="3314700"/>
          </a:xfrm>
          <a:prstGeom prst="rect">
            <a:avLst/>
          </a:prstGeom>
          <a:noFill/>
          <a:ln w="9525">
            <a:noFill/>
            <a:miter lim="800000"/>
            <a:headEnd/>
            <a:tailEnd/>
          </a:ln>
        </p:spPr>
      </p:pic>
      <p:sp>
        <p:nvSpPr>
          <p:cNvPr id="59395" name="Rectangle 3"/>
          <p:cNvSpPr>
            <a:spLocks noChangeArrowheads="1"/>
          </p:cNvSpPr>
          <p:nvPr/>
        </p:nvSpPr>
        <p:spPr bwMode="auto">
          <a:xfrm>
            <a:off x="2771775" y="873125"/>
            <a:ext cx="6372225" cy="3478213"/>
          </a:xfrm>
          <a:prstGeom prst="rect">
            <a:avLst/>
          </a:prstGeom>
          <a:noFill/>
          <a:ln w="9525">
            <a:noFill/>
            <a:miter lim="800000"/>
            <a:headEnd/>
            <a:tailEnd/>
          </a:ln>
        </p:spPr>
        <p:txBody>
          <a:bodyPr anchor="ctr">
            <a:spAutoFit/>
          </a:bodyPr>
          <a:lstStyle/>
          <a:p>
            <a:r>
              <a:rPr lang="en-US" altLang="en-US" sz="2200" i="1" dirty="0">
                <a:cs typeface="Times New Roman" pitchFamily="18" charset="0"/>
              </a:rPr>
              <a:t>Turkey-mothers are fierce protectors of their young. They need to protect them against nest marauders like weasels or scavenging rats. The "rule of thumb" a turkey mother uses to </a:t>
            </a:r>
            <a:r>
              <a:rPr lang="en-US" altLang="en-US" sz="2200" i="1" dirty="0" err="1">
                <a:cs typeface="Times New Roman" pitchFamily="18" charset="0"/>
              </a:rPr>
              <a:t>recognise</a:t>
            </a:r>
            <a:r>
              <a:rPr lang="en-US" altLang="en-US" sz="2200" i="1" dirty="0">
                <a:cs typeface="Times New Roman" pitchFamily="18" charset="0"/>
              </a:rPr>
              <a:t> nest robbers is: "In the vicinity of your nest, attack anything that moves, UNLESS it makes a noise like a baby-turkey." This was discovered by an Austrian zoologist named Wolfgang </a:t>
            </a:r>
            <a:r>
              <a:rPr lang="en-US" altLang="en-US" sz="2200" i="1" dirty="0" err="1">
                <a:cs typeface="Times New Roman" pitchFamily="18" charset="0"/>
              </a:rPr>
              <a:t>Schleide</a:t>
            </a:r>
            <a:r>
              <a:rPr lang="en-US" altLang="en-US" sz="2200" i="1" dirty="0">
                <a:cs typeface="Times New Roman" pitchFamily="18" charset="0"/>
              </a:rPr>
              <a:t>. </a:t>
            </a:r>
            <a:r>
              <a:rPr lang="en-US" altLang="en-US" sz="2200" i="1" dirty="0" err="1">
                <a:cs typeface="Times New Roman" pitchFamily="18" charset="0"/>
              </a:rPr>
              <a:t>Schleide</a:t>
            </a:r>
            <a:r>
              <a:rPr lang="en-US" altLang="en-US" sz="2200" i="1" dirty="0">
                <a:cs typeface="Times New Roman" pitchFamily="18" charset="0"/>
              </a:rPr>
              <a:t> once had a mother-turkey that savagely killed all her own babies.</a:t>
            </a:r>
            <a:r>
              <a:rPr lang="en-US" altLang="en-US" sz="2000" i="1" dirty="0">
                <a:cs typeface="Times New Roman" pitchFamily="18" charset="0"/>
              </a:rPr>
              <a:t> </a:t>
            </a:r>
            <a:endParaRPr lang="en-GB" altLang="en-US" sz="2000" dirty="0"/>
          </a:p>
        </p:txBody>
      </p:sp>
      <p:sp>
        <p:nvSpPr>
          <p:cNvPr id="12" name="Rectangle 3"/>
          <p:cNvSpPr>
            <a:spLocks noChangeArrowheads="1"/>
          </p:cNvSpPr>
          <p:nvPr/>
        </p:nvSpPr>
        <p:spPr bwMode="auto">
          <a:xfrm>
            <a:off x="323850" y="4292600"/>
            <a:ext cx="8820150" cy="2432050"/>
          </a:xfrm>
          <a:prstGeom prst="rect">
            <a:avLst/>
          </a:prstGeom>
          <a:noFill/>
          <a:ln w="9525">
            <a:noFill/>
            <a:miter lim="800000"/>
            <a:headEnd/>
            <a:tailEnd/>
          </a:ln>
        </p:spPr>
        <p:txBody>
          <a:bodyPr anchor="ctr">
            <a:spAutoFit/>
          </a:bodyPr>
          <a:lstStyle/>
          <a:p>
            <a:r>
              <a:rPr lang="en-US" altLang="en-US" sz="2200" i="1">
                <a:cs typeface="Times New Roman" pitchFamily="18" charset="0"/>
              </a:rPr>
              <a:t>The reason was very simple - she was deaf. Predators, as far as the turkey's nervous system is concerned, are defined as moving objects that don't emit a baby's cry. These baby-turkeys that look like baby turkeys, move like baby turkeys, and run trustingly to their mother like baby turkeys, fell victim to the mother's restricted definition of a predator. And she massacred them all.“</a:t>
            </a:r>
          </a:p>
          <a:p>
            <a:r>
              <a:rPr lang="en-US" altLang="en-US" sz="2000">
                <a:cs typeface="Times New Roman" pitchFamily="18" charset="0"/>
              </a:rPr>
              <a:t>(</a:t>
            </a:r>
            <a:r>
              <a:rPr lang="en-US" altLang="en-US" sz="1800">
                <a:cs typeface="Times New Roman" pitchFamily="18" charset="0"/>
              </a:rPr>
              <a:t>From </a:t>
            </a:r>
            <a:r>
              <a:rPr lang="en-US" altLang="en-US" sz="1800">
                <a:solidFill>
                  <a:srgbClr val="993300"/>
                </a:solidFill>
                <a:cs typeface="Times New Roman" pitchFamily="18" charset="0"/>
              </a:rPr>
              <a:t>"River Out of Eden - A Darwinian View of Life" </a:t>
            </a:r>
            <a:r>
              <a:rPr lang="en-US" altLang="en-US" sz="1800">
                <a:cs typeface="Times New Roman" pitchFamily="18" charset="0"/>
              </a:rPr>
              <a:t>by Richard Dawkins.</a:t>
            </a:r>
            <a:r>
              <a:rPr lang="en-US" altLang="en-US" sz="2000">
                <a:cs typeface="Times New Roman" pitchFamily="18" charset="0"/>
              </a:rPr>
              <a:t>)</a:t>
            </a:r>
            <a:endParaRPr lang="en-GB" altLang="en-US" sz="2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59393"/>
                                        </p:tgtEl>
                                        <p:attrNameLst>
                                          <p:attrName>style.visibility</p:attrName>
                                        </p:attrNameLst>
                                      </p:cBhvr>
                                      <p:to>
                                        <p:strVal val="visible"/>
                                      </p:to>
                                    </p:set>
                                    <p:anim calcmode="lin" valueType="num">
                                      <p:cBhvr additive="base">
                                        <p:cTn id="13" dur="1000" fill="hold"/>
                                        <p:tgtEl>
                                          <p:spTgt spid="59393"/>
                                        </p:tgtEl>
                                        <p:attrNameLst>
                                          <p:attrName>ppt_x</p:attrName>
                                        </p:attrNameLst>
                                      </p:cBhvr>
                                      <p:tavLst>
                                        <p:tav tm="0">
                                          <p:val>
                                            <p:strVal val="0-#ppt_w/2"/>
                                          </p:val>
                                        </p:tav>
                                        <p:tav tm="100000">
                                          <p:val>
                                            <p:strVal val="#ppt_x"/>
                                          </p:val>
                                        </p:tav>
                                      </p:tavLst>
                                    </p:anim>
                                    <p:anim calcmode="lin" valueType="num">
                                      <p:cBhvr additive="base">
                                        <p:cTn id="14" dur="1000" fill="hold"/>
                                        <p:tgtEl>
                                          <p:spTgt spid="5939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59395"/>
                                        </p:tgtEl>
                                        <p:attrNameLst>
                                          <p:attrName>style.visibility</p:attrName>
                                        </p:attrNameLst>
                                      </p:cBhvr>
                                      <p:to>
                                        <p:strVal val="visible"/>
                                      </p:to>
                                    </p:set>
                                    <p:animEffect transition="in" filter="wipe(up)">
                                      <p:cBhvr>
                                        <p:cTn id="19" dur="1000"/>
                                        <p:tgtEl>
                                          <p:spTgt spid="5939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up)">
                                      <p:cBhvr>
                                        <p:cTn id="24"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9395"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3"/>
          <p:cNvGrpSpPr>
            <a:grpSpLocks/>
          </p:cNvGrpSpPr>
          <p:nvPr/>
        </p:nvGrpSpPr>
        <p:grpSpPr bwMode="auto">
          <a:xfrm>
            <a:off x="611188" y="225425"/>
            <a:ext cx="8302625" cy="561975"/>
            <a:chOff x="1537" y="6525"/>
            <a:chExt cx="9715" cy="551"/>
          </a:xfrm>
        </p:grpSpPr>
        <p:sp>
          <p:nvSpPr>
            <p:cNvPr id="23589" name="Text Box 34"/>
            <p:cNvSpPr txBox="1">
              <a:spLocks noChangeArrowheads="1"/>
            </p:cNvSpPr>
            <p:nvPr/>
          </p:nvSpPr>
          <p:spPr bwMode="auto">
            <a:xfrm>
              <a:off x="1537" y="6525"/>
              <a:ext cx="1392" cy="551"/>
            </a:xfrm>
            <a:prstGeom prst="rect">
              <a:avLst/>
            </a:prstGeom>
            <a:solidFill>
              <a:srgbClr val="CCFFFF"/>
            </a:solidFill>
            <a:ln w="9525">
              <a:solidFill>
                <a:srgbClr val="000000"/>
              </a:solidFill>
              <a:miter lim="800000"/>
              <a:headEnd/>
              <a:tailEnd/>
            </a:ln>
          </p:spPr>
          <p:txBody>
            <a:bodyPr lIns="45720" tIns="0" rIns="0" bIns="0"/>
            <a:lstStyle/>
            <a:p>
              <a:pPr eaLnBrk="1" hangingPunct="1"/>
              <a:r>
                <a:rPr lang="en-US" altLang="en-US" sz="1800" b="1"/>
                <a:t>Moving</a:t>
              </a:r>
            </a:p>
          </p:txBody>
        </p:sp>
        <p:sp>
          <p:nvSpPr>
            <p:cNvPr id="23590" name="Text Box 35"/>
            <p:cNvSpPr txBox="1">
              <a:spLocks noChangeArrowheads="1"/>
            </p:cNvSpPr>
            <p:nvPr/>
          </p:nvSpPr>
          <p:spPr bwMode="auto">
            <a:xfrm>
              <a:off x="2929" y="6525"/>
              <a:ext cx="1392" cy="551"/>
            </a:xfrm>
            <a:prstGeom prst="rect">
              <a:avLst/>
            </a:prstGeom>
            <a:solidFill>
              <a:srgbClr val="CCFFFF"/>
            </a:solidFill>
            <a:ln w="9525">
              <a:solidFill>
                <a:srgbClr val="000000"/>
              </a:solidFill>
              <a:miter lim="800000"/>
              <a:headEnd/>
              <a:tailEnd/>
            </a:ln>
          </p:spPr>
          <p:txBody>
            <a:bodyPr lIns="45720" tIns="0" rIns="0" bIns="0"/>
            <a:lstStyle/>
            <a:p>
              <a:pPr eaLnBrk="1" hangingPunct="1"/>
              <a:r>
                <a:rPr lang="en-US" altLang="en-US" sz="1800" b="1"/>
                <a:t>Baby- noise</a:t>
              </a:r>
            </a:p>
          </p:txBody>
        </p:sp>
        <p:sp>
          <p:nvSpPr>
            <p:cNvPr id="23591" name="Text Box 36"/>
            <p:cNvSpPr txBox="1">
              <a:spLocks noChangeArrowheads="1"/>
            </p:cNvSpPr>
            <p:nvPr/>
          </p:nvSpPr>
          <p:spPr bwMode="auto">
            <a:xfrm>
              <a:off x="4321" y="6525"/>
              <a:ext cx="1392" cy="551"/>
            </a:xfrm>
            <a:prstGeom prst="rect">
              <a:avLst/>
            </a:prstGeom>
            <a:solidFill>
              <a:srgbClr val="CCFFFF"/>
            </a:solidFill>
            <a:ln w="9525">
              <a:solidFill>
                <a:srgbClr val="000000"/>
              </a:solidFill>
              <a:miter lim="800000"/>
              <a:headEnd/>
              <a:tailEnd/>
            </a:ln>
          </p:spPr>
          <p:txBody>
            <a:bodyPr lIns="45720" tIns="0" rIns="0" bIns="0"/>
            <a:lstStyle/>
            <a:p>
              <a:pPr eaLnBrk="1" hangingPunct="1"/>
              <a:r>
                <a:rPr lang="en-US" altLang="en-US" sz="1800" b="1"/>
                <a:t>Nest vicinity</a:t>
              </a:r>
            </a:p>
          </p:txBody>
        </p:sp>
        <p:sp>
          <p:nvSpPr>
            <p:cNvPr id="23592" name="Text Box 37"/>
            <p:cNvSpPr txBox="1">
              <a:spLocks noChangeArrowheads="1"/>
            </p:cNvSpPr>
            <p:nvPr/>
          </p:nvSpPr>
          <p:spPr bwMode="auto">
            <a:xfrm>
              <a:off x="5713" y="6525"/>
              <a:ext cx="1392" cy="551"/>
            </a:xfrm>
            <a:prstGeom prst="rect">
              <a:avLst/>
            </a:prstGeom>
            <a:solidFill>
              <a:srgbClr val="CCFFFF"/>
            </a:solidFill>
            <a:ln w="9525">
              <a:solidFill>
                <a:srgbClr val="000000"/>
              </a:solidFill>
              <a:miter lim="800000"/>
              <a:headEnd/>
              <a:tailEnd/>
            </a:ln>
          </p:spPr>
          <p:txBody>
            <a:bodyPr lIns="45720" tIns="0" rIns="0" bIns="0"/>
            <a:lstStyle/>
            <a:p>
              <a:pPr eaLnBrk="1" hangingPunct="1"/>
              <a:r>
                <a:rPr lang="en-US" altLang="en-US" sz="1800" b="1"/>
                <a:t>On the ground</a:t>
              </a:r>
            </a:p>
          </p:txBody>
        </p:sp>
        <p:sp>
          <p:nvSpPr>
            <p:cNvPr id="23593" name="Text Box 38"/>
            <p:cNvSpPr txBox="1">
              <a:spLocks noChangeArrowheads="1"/>
            </p:cNvSpPr>
            <p:nvPr/>
          </p:nvSpPr>
          <p:spPr bwMode="auto">
            <a:xfrm>
              <a:off x="7105" y="6525"/>
              <a:ext cx="1334" cy="551"/>
            </a:xfrm>
            <a:prstGeom prst="rect">
              <a:avLst/>
            </a:prstGeom>
            <a:solidFill>
              <a:srgbClr val="CCFFFF"/>
            </a:solidFill>
            <a:ln w="9525">
              <a:solidFill>
                <a:srgbClr val="000000"/>
              </a:solidFill>
              <a:miter lim="800000"/>
              <a:headEnd/>
              <a:tailEnd/>
            </a:ln>
          </p:spPr>
          <p:txBody>
            <a:bodyPr lIns="45720" tIns="0" rIns="0" bIns="0"/>
            <a:lstStyle/>
            <a:p>
              <a:pPr eaLnBrk="1" hangingPunct="1"/>
              <a:r>
                <a:rPr lang="en-US" altLang="en-US" sz="1800" b="1"/>
                <a:t>Large</a:t>
              </a:r>
            </a:p>
          </p:txBody>
        </p:sp>
        <p:sp>
          <p:nvSpPr>
            <p:cNvPr id="23594" name="Text Box 39"/>
            <p:cNvSpPr txBox="1">
              <a:spLocks noChangeArrowheads="1"/>
            </p:cNvSpPr>
            <p:nvPr/>
          </p:nvSpPr>
          <p:spPr bwMode="auto">
            <a:xfrm>
              <a:off x="8584" y="6525"/>
              <a:ext cx="1334" cy="551"/>
            </a:xfrm>
            <a:prstGeom prst="rect">
              <a:avLst/>
            </a:prstGeom>
            <a:solidFill>
              <a:srgbClr val="00CCFF"/>
            </a:solidFill>
            <a:ln w="9525">
              <a:solidFill>
                <a:srgbClr val="000000"/>
              </a:solidFill>
              <a:miter lim="800000"/>
              <a:headEnd/>
              <a:tailEnd/>
            </a:ln>
          </p:spPr>
          <p:txBody>
            <a:bodyPr lIns="45720" tIns="0" rIns="0" bIns="0"/>
            <a:lstStyle/>
            <a:p>
              <a:pPr eaLnBrk="1" hangingPunct="1"/>
              <a:r>
                <a:rPr lang="en-US" altLang="en-US" sz="2000" b="1"/>
                <a:t>Feed</a:t>
              </a:r>
            </a:p>
          </p:txBody>
        </p:sp>
        <p:sp>
          <p:nvSpPr>
            <p:cNvPr id="23595" name="Text Box 40"/>
            <p:cNvSpPr txBox="1">
              <a:spLocks noChangeArrowheads="1"/>
            </p:cNvSpPr>
            <p:nvPr/>
          </p:nvSpPr>
          <p:spPr bwMode="auto">
            <a:xfrm>
              <a:off x="9918" y="6525"/>
              <a:ext cx="1334" cy="551"/>
            </a:xfrm>
            <a:prstGeom prst="rect">
              <a:avLst/>
            </a:prstGeom>
            <a:solidFill>
              <a:srgbClr val="00CCFF"/>
            </a:solidFill>
            <a:ln w="9525">
              <a:solidFill>
                <a:srgbClr val="000000"/>
              </a:solidFill>
              <a:miter lim="800000"/>
              <a:headEnd/>
              <a:tailEnd/>
            </a:ln>
          </p:spPr>
          <p:txBody>
            <a:bodyPr lIns="45720" tIns="0" rIns="0" bIns="0"/>
            <a:lstStyle/>
            <a:p>
              <a:pPr eaLnBrk="1" hangingPunct="1"/>
              <a:r>
                <a:rPr lang="en-US" altLang="en-US" sz="2000" b="1"/>
                <a:t>Attack</a:t>
              </a:r>
            </a:p>
          </p:txBody>
        </p:sp>
      </p:grpSp>
      <p:grpSp>
        <p:nvGrpSpPr>
          <p:cNvPr id="3" name="Group 89"/>
          <p:cNvGrpSpPr>
            <a:grpSpLocks/>
          </p:cNvGrpSpPr>
          <p:nvPr/>
        </p:nvGrpSpPr>
        <p:grpSpPr bwMode="auto">
          <a:xfrm>
            <a:off x="750888" y="1035050"/>
            <a:ext cx="5500687" cy="330200"/>
            <a:chOff x="480" y="1116"/>
            <a:chExt cx="3752" cy="208"/>
          </a:xfrm>
        </p:grpSpPr>
        <p:sp>
          <p:nvSpPr>
            <p:cNvPr id="23587" name="AutoShape 42"/>
            <p:cNvSpPr>
              <a:spLocks/>
            </p:cNvSpPr>
            <p:nvPr/>
          </p:nvSpPr>
          <p:spPr bwMode="auto">
            <a:xfrm rot="-5400000">
              <a:off x="2321" y="-725"/>
              <a:ext cx="69" cy="3752"/>
            </a:xfrm>
            <a:prstGeom prst="leftBrace">
              <a:avLst>
                <a:gd name="adj1" fmla="val 453140"/>
                <a:gd name="adj2" fmla="val 49134"/>
              </a:avLst>
            </a:prstGeom>
            <a:noFill/>
            <a:ln w="9525">
              <a:solidFill>
                <a:srgbClr val="000000"/>
              </a:solidFill>
              <a:round/>
              <a:headEnd/>
              <a:tailEnd/>
            </a:ln>
          </p:spPr>
          <p:txBody>
            <a:bodyPr/>
            <a:lstStyle/>
            <a:p>
              <a:pPr eaLnBrk="1" hangingPunct="1"/>
              <a:endParaRPr lang="en-US" altLang="en-US"/>
            </a:p>
          </p:txBody>
        </p:sp>
        <p:sp>
          <p:nvSpPr>
            <p:cNvPr id="23588" name="Text Box 44"/>
            <p:cNvSpPr txBox="1">
              <a:spLocks noChangeArrowheads="1"/>
            </p:cNvSpPr>
            <p:nvPr/>
          </p:nvSpPr>
          <p:spPr bwMode="auto">
            <a:xfrm>
              <a:off x="2083" y="1208"/>
              <a:ext cx="495" cy="116"/>
            </a:xfrm>
            <a:prstGeom prst="rect">
              <a:avLst/>
            </a:prstGeom>
            <a:noFill/>
            <a:ln w="9525">
              <a:noFill/>
              <a:miter lim="800000"/>
              <a:headEnd/>
              <a:tailEnd/>
            </a:ln>
          </p:spPr>
          <p:txBody>
            <a:bodyPr lIns="0" tIns="0" rIns="0" bIns="0"/>
            <a:lstStyle/>
            <a:p>
              <a:pPr eaLnBrk="1" hangingPunct="1"/>
              <a:r>
                <a:rPr lang="en-US" altLang="en-US" sz="1800" b="1"/>
                <a:t>Input</a:t>
              </a:r>
            </a:p>
          </p:txBody>
        </p:sp>
      </p:grpSp>
      <p:grpSp>
        <p:nvGrpSpPr>
          <p:cNvPr id="4" name="Group 90"/>
          <p:cNvGrpSpPr>
            <a:grpSpLocks/>
          </p:cNvGrpSpPr>
          <p:nvPr/>
        </p:nvGrpSpPr>
        <p:grpSpPr bwMode="auto">
          <a:xfrm>
            <a:off x="6700838" y="1016000"/>
            <a:ext cx="2001837" cy="390525"/>
            <a:chOff x="4539" y="1104"/>
            <a:chExt cx="1365" cy="246"/>
          </a:xfrm>
        </p:grpSpPr>
        <p:sp>
          <p:nvSpPr>
            <p:cNvPr id="23585" name="AutoShape 43"/>
            <p:cNvSpPr>
              <a:spLocks/>
            </p:cNvSpPr>
            <p:nvPr/>
          </p:nvSpPr>
          <p:spPr bwMode="auto">
            <a:xfrm rot="-5400000">
              <a:off x="5187" y="456"/>
              <a:ext cx="69" cy="1365"/>
            </a:xfrm>
            <a:prstGeom prst="leftBrace">
              <a:avLst>
                <a:gd name="adj1" fmla="val 164855"/>
                <a:gd name="adj2" fmla="val 50000"/>
              </a:avLst>
            </a:prstGeom>
            <a:noFill/>
            <a:ln w="9525">
              <a:solidFill>
                <a:srgbClr val="000000"/>
              </a:solidFill>
              <a:round/>
              <a:headEnd/>
              <a:tailEnd/>
            </a:ln>
          </p:spPr>
          <p:txBody>
            <a:bodyPr/>
            <a:lstStyle/>
            <a:p>
              <a:pPr eaLnBrk="1" hangingPunct="1"/>
              <a:endParaRPr lang="en-US" altLang="en-US"/>
            </a:p>
          </p:txBody>
        </p:sp>
        <p:sp>
          <p:nvSpPr>
            <p:cNvPr id="23586" name="Text Box 45"/>
            <p:cNvSpPr txBox="1">
              <a:spLocks noChangeArrowheads="1"/>
            </p:cNvSpPr>
            <p:nvPr/>
          </p:nvSpPr>
          <p:spPr bwMode="auto">
            <a:xfrm>
              <a:off x="4825" y="1208"/>
              <a:ext cx="738" cy="142"/>
            </a:xfrm>
            <a:prstGeom prst="rect">
              <a:avLst/>
            </a:prstGeom>
            <a:noFill/>
            <a:ln w="9525">
              <a:noFill/>
              <a:miter lim="800000"/>
              <a:headEnd/>
              <a:tailEnd/>
            </a:ln>
          </p:spPr>
          <p:txBody>
            <a:bodyPr lIns="0" tIns="0" rIns="0" bIns="0"/>
            <a:lstStyle/>
            <a:p>
              <a:pPr eaLnBrk="1" hangingPunct="1"/>
              <a:r>
                <a:rPr lang="en-US" altLang="en-US" sz="1800" b="1"/>
                <a:t>Output</a:t>
              </a:r>
            </a:p>
          </p:txBody>
        </p:sp>
      </p:grpSp>
      <p:grpSp>
        <p:nvGrpSpPr>
          <p:cNvPr id="5" name="Group 46"/>
          <p:cNvGrpSpPr>
            <a:grpSpLocks/>
          </p:cNvGrpSpPr>
          <p:nvPr/>
        </p:nvGrpSpPr>
        <p:grpSpPr bwMode="auto">
          <a:xfrm>
            <a:off x="611188" y="1557338"/>
            <a:ext cx="8302625" cy="381000"/>
            <a:chOff x="1537" y="6525"/>
            <a:chExt cx="9715" cy="551"/>
          </a:xfrm>
        </p:grpSpPr>
        <p:sp>
          <p:nvSpPr>
            <p:cNvPr id="23578" name="Text Box 47"/>
            <p:cNvSpPr txBox="1">
              <a:spLocks noChangeArrowheads="1"/>
            </p:cNvSpPr>
            <p:nvPr/>
          </p:nvSpPr>
          <p:spPr bwMode="auto">
            <a:xfrm>
              <a:off x="1537" y="6525"/>
              <a:ext cx="1392" cy="551"/>
            </a:xfrm>
            <a:prstGeom prst="rect">
              <a:avLst/>
            </a:prstGeom>
            <a:solidFill>
              <a:srgbClr val="CCFFFF"/>
            </a:solidFill>
            <a:ln w="9525">
              <a:solidFill>
                <a:srgbClr val="000000"/>
              </a:solidFill>
              <a:miter lim="800000"/>
              <a:headEnd/>
              <a:tailEnd/>
            </a:ln>
          </p:spPr>
          <p:txBody>
            <a:bodyPr lIns="45720" tIns="0" rIns="0" bIns="0"/>
            <a:lstStyle/>
            <a:p>
              <a:pPr eaLnBrk="1" hangingPunct="1"/>
              <a:r>
                <a:rPr lang="en-US" altLang="en-US" b="1"/>
                <a:t>*</a:t>
              </a:r>
            </a:p>
          </p:txBody>
        </p:sp>
        <p:sp>
          <p:nvSpPr>
            <p:cNvPr id="23579" name="Text Box 48"/>
            <p:cNvSpPr txBox="1">
              <a:spLocks noChangeArrowheads="1"/>
            </p:cNvSpPr>
            <p:nvPr/>
          </p:nvSpPr>
          <p:spPr bwMode="auto">
            <a:xfrm>
              <a:off x="2929" y="6525"/>
              <a:ext cx="1392" cy="551"/>
            </a:xfrm>
            <a:prstGeom prst="rect">
              <a:avLst/>
            </a:prstGeom>
            <a:solidFill>
              <a:srgbClr val="CCFFFF"/>
            </a:solidFill>
            <a:ln w="9525">
              <a:solidFill>
                <a:srgbClr val="000000"/>
              </a:solidFill>
              <a:miter lim="800000"/>
              <a:headEnd/>
              <a:tailEnd/>
            </a:ln>
          </p:spPr>
          <p:txBody>
            <a:bodyPr lIns="45720" tIns="0" rIns="0" bIns="0"/>
            <a:lstStyle/>
            <a:p>
              <a:pPr eaLnBrk="1" hangingPunct="1"/>
              <a:r>
                <a:rPr lang="en-US" altLang="en-US" b="1"/>
                <a:t>1</a:t>
              </a:r>
            </a:p>
          </p:txBody>
        </p:sp>
        <p:sp>
          <p:nvSpPr>
            <p:cNvPr id="23580" name="Text Box 49"/>
            <p:cNvSpPr txBox="1">
              <a:spLocks noChangeArrowheads="1"/>
            </p:cNvSpPr>
            <p:nvPr/>
          </p:nvSpPr>
          <p:spPr bwMode="auto">
            <a:xfrm>
              <a:off x="4321" y="6525"/>
              <a:ext cx="1392" cy="551"/>
            </a:xfrm>
            <a:prstGeom prst="rect">
              <a:avLst/>
            </a:prstGeom>
            <a:solidFill>
              <a:srgbClr val="CCFFFF"/>
            </a:solidFill>
            <a:ln w="9525">
              <a:solidFill>
                <a:srgbClr val="000000"/>
              </a:solidFill>
              <a:miter lim="800000"/>
              <a:headEnd/>
              <a:tailEnd/>
            </a:ln>
          </p:spPr>
          <p:txBody>
            <a:bodyPr lIns="45720" tIns="0" rIns="0" bIns="0"/>
            <a:lstStyle/>
            <a:p>
              <a:pPr eaLnBrk="1" hangingPunct="1"/>
              <a:r>
                <a:rPr lang="en-US" altLang="en-US" b="1"/>
                <a:t>1</a:t>
              </a:r>
            </a:p>
          </p:txBody>
        </p:sp>
        <p:sp>
          <p:nvSpPr>
            <p:cNvPr id="23581" name="Text Box 50"/>
            <p:cNvSpPr txBox="1">
              <a:spLocks noChangeArrowheads="1"/>
            </p:cNvSpPr>
            <p:nvPr/>
          </p:nvSpPr>
          <p:spPr bwMode="auto">
            <a:xfrm>
              <a:off x="5713" y="6525"/>
              <a:ext cx="1392" cy="551"/>
            </a:xfrm>
            <a:prstGeom prst="rect">
              <a:avLst/>
            </a:prstGeom>
            <a:solidFill>
              <a:srgbClr val="CCFFFF"/>
            </a:solidFill>
            <a:ln w="9525">
              <a:solidFill>
                <a:srgbClr val="000000"/>
              </a:solidFill>
              <a:miter lim="800000"/>
              <a:headEnd/>
              <a:tailEnd/>
            </a:ln>
          </p:spPr>
          <p:txBody>
            <a:bodyPr lIns="45720" tIns="0" rIns="0" bIns="0"/>
            <a:lstStyle/>
            <a:p>
              <a:pPr eaLnBrk="1" hangingPunct="1"/>
              <a:r>
                <a:rPr lang="en-US" altLang="en-US" b="1"/>
                <a:t>*</a:t>
              </a:r>
            </a:p>
          </p:txBody>
        </p:sp>
        <p:sp>
          <p:nvSpPr>
            <p:cNvPr id="23582" name="Text Box 51"/>
            <p:cNvSpPr txBox="1">
              <a:spLocks noChangeArrowheads="1"/>
            </p:cNvSpPr>
            <p:nvPr/>
          </p:nvSpPr>
          <p:spPr bwMode="auto">
            <a:xfrm>
              <a:off x="7105" y="6525"/>
              <a:ext cx="1334" cy="551"/>
            </a:xfrm>
            <a:prstGeom prst="rect">
              <a:avLst/>
            </a:prstGeom>
            <a:solidFill>
              <a:srgbClr val="CCFFFF"/>
            </a:solidFill>
            <a:ln w="9525">
              <a:solidFill>
                <a:srgbClr val="000000"/>
              </a:solidFill>
              <a:miter lim="800000"/>
              <a:headEnd/>
              <a:tailEnd/>
            </a:ln>
          </p:spPr>
          <p:txBody>
            <a:bodyPr lIns="45720" tIns="0" rIns="0" bIns="0"/>
            <a:lstStyle/>
            <a:p>
              <a:pPr eaLnBrk="1" hangingPunct="1"/>
              <a:r>
                <a:rPr lang="en-US" altLang="en-US" b="1"/>
                <a:t>0</a:t>
              </a:r>
            </a:p>
          </p:txBody>
        </p:sp>
        <p:sp>
          <p:nvSpPr>
            <p:cNvPr id="23583" name="Text Box 52"/>
            <p:cNvSpPr txBox="1">
              <a:spLocks noChangeArrowheads="1"/>
            </p:cNvSpPr>
            <p:nvPr/>
          </p:nvSpPr>
          <p:spPr bwMode="auto">
            <a:xfrm>
              <a:off x="8584" y="6525"/>
              <a:ext cx="1334" cy="551"/>
            </a:xfrm>
            <a:prstGeom prst="rect">
              <a:avLst/>
            </a:prstGeom>
            <a:solidFill>
              <a:srgbClr val="00CCFF"/>
            </a:solidFill>
            <a:ln w="9525">
              <a:solidFill>
                <a:srgbClr val="000000"/>
              </a:solidFill>
              <a:miter lim="800000"/>
              <a:headEnd/>
              <a:tailEnd/>
            </a:ln>
          </p:spPr>
          <p:txBody>
            <a:bodyPr lIns="45720" tIns="0" rIns="0" bIns="0"/>
            <a:lstStyle/>
            <a:p>
              <a:pPr eaLnBrk="1" hangingPunct="1"/>
              <a:r>
                <a:rPr lang="en-US" altLang="en-US" b="1"/>
                <a:t>1</a:t>
              </a:r>
            </a:p>
          </p:txBody>
        </p:sp>
        <p:sp>
          <p:nvSpPr>
            <p:cNvPr id="23584" name="Text Box 53"/>
            <p:cNvSpPr txBox="1">
              <a:spLocks noChangeArrowheads="1"/>
            </p:cNvSpPr>
            <p:nvPr/>
          </p:nvSpPr>
          <p:spPr bwMode="auto">
            <a:xfrm>
              <a:off x="9918" y="6525"/>
              <a:ext cx="1334" cy="551"/>
            </a:xfrm>
            <a:prstGeom prst="rect">
              <a:avLst/>
            </a:prstGeom>
            <a:solidFill>
              <a:srgbClr val="00CCFF"/>
            </a:solidFill>
            <a:ln w="9525">
              <a:solidFill>
                <a:srgbClr val="000000"/>
              </a:solidFill>
              <a:miter lim="800000"/>
              <a:headEnd/>
              <a:tailEnd/>
            </a:ln>
          </p:spPr>
          <p:txBody>
            <a:bodyPr lIns="45720" tIns="0" rIns="0" bIns="0"/>
            <a:lstStyle/>
            <a:p>
              <a:pPr eaLnBrk="1" hangingPunct="1"/>
              <a:r>
                <a:rPr lang="en-US" altLang="en-US" b="1"/>
                <a:t>0</a:t>
              </a:r>
            </a:p>
          </p:txBody>
        </p:sp>
      </p:grpSp>
      <p:sp>
        <p:nvSpPr>
          <p:cNvPr id="4150" name="Text Box 54"/>
          <p:cNvSpPr txBox="1">
            <a:spLocks noChangeArrowheads="1"/>
          </p:cNvSpPr>
          <p:nvPr/>
        </p:nvSpPr>
        <p:spPr bwMode="auto">
          <a:xfrm>
            <a:off x="539750" y="2090738"/>
            <a:ext cx="8374063" cy="400050"/>
          </a:xfrm>
          <a:prstGeom prst="rect">
            <a:avLst/>
          </a:prstGeom>
          <a:noFill/>
          <a:ln w="9525">
            <a:noFill/>
            <a:miter lim="800000"/>
            <a:headEnd/>
            <a:tailEnd/>
          </a:ln>
        </p:spPr>
        <p:txBody>
          <a:bodyPr>
            <a:spAutoFit/>
          </a:bodyPr>
          <a:lstStyle/>
          <a:p>
            <a:pPr eaLnBrk="1" hangingPunct="1"/>
            <a:r>
              <a:rPr lang="en-GB" altLang="en-US" sz="2000">
                <a:cs typeface="Times New Roman" pitchFamily="18" charset="0"/>
              </a:rPr>
              <a:t>If the object is making baby-turkey noise, in the nest, and small: - </a:t>
            </a:r>
            <a:r>
              <a:rPr lang="en-GB" altLang="en-US" sz="2000" b="1">
                <a:cs typeface="Times New Roman" pitchFamily="18" charset="0"/>
              </a:rPr>
              <a:t>feed</a:t>
            </a:r>
            <a:r>
              <a:rPr lang="en-GB" altLang="en-US" sz="2000">
                <a:cs typeface="Times New Roman" pitchFamily="18" charset="0"/>
              </a:rPr>
              <a:t>.</a:t>
            </a:r>
            <a:r>
              <a:rPr lang="en-GB" altLang="en-US" sz="2000"/>
              <a:t> </a:t>
            </a:r>
          </a:p>
        </p:txBody>
      </p:sp>
      <p:grpSp>
        <p:nvGrpSpPr>
          <p:cNvPr id="6" name="Group 63"/>
          <p:cNvGrpSpPr>
            <a:grpSpLocks/>
          </p:cNvGrpSpPr>
          <p:nvPr/>
        </p:nvGrpSpPr>
        <p:grpSpPr bwMode="auto">
          <a:xfrm>
            <a:off x="619125" y="2590800"/>
            <a:ext cx="8302625" cy="381000"/>
            <a:chOff x="1537" y="6525"/>
            <a:chExt cx="9715" cy="551"/>
          </a:xfrm>
        </p:grpSpPr>
        <p:sp>
          <p:nvSpPr>
            <p:cNvPr id="23571" name="Text Box 64"/>
            <p:cNvSpPr txBox="1">
              <a:spLocks noChangeArrowheads="1"/>
            </p:cNvSpPr>
            <p:nvPr/>
          </p:nvSpPr>
          <p:spPr bwMode="auto">
            <a:xfrm>
              <a:off x="1537" y="6525"/>
              <a:ext cx="1392" cy="551"/>
            </a:xfrm>
            <a:prstGeom prst="rect">
              <a:avLst/>
            </a:prstGeom>
            <a:solidFill>
              <a:srgbClr val="CCFFFF"/>
            </a:solidFill>
            <a:ln w="9525">
              <a:solidFill>
                <a:srgbClr val="000000"/>
              </a:solidFill>
              <a:miter lim="800000"/>
              <a:headEnd/>
              <a:tailEnd/>
            </a:ln>
          </p:spPr>
          <p:txBody>
            <a:bodyPr lIns="45720" tIns="0" rIns="0" bIns="0"/>
            <a:lstStyle/>
            <a:p>
              <a:pPr eaLnBrk="1" hangingPunct="1"/>
              <a:r>
                <a:rPr lang="en-US" altLang="en-US" b="1"/>
                <a:t>*</a:t>
              </a:r>
            </a:p>
          </p:txBody>
        </p:sp>
        <p:sp>
          <p:nvSpPr>
            <p:cNvPr id="23572" name="Text Box 65"/>
            <p:cNvSpPr txBox="1">
              <a:spLocks noChangeArrowheads="1"/>
            </p:cNvSpPr>
            <p:nvPr/>
          </p:nvSpPr>
          <p:spPr bwMode="auto">
            <a:xfrm>
              <a:off x="2929" y="6525"/>
              <a:ext cx="1392" cy="551"/>
            </a:xfrm>
            <a:prstGeom prst="rect">
              <a:avLst/>
            </a:prstGeom>
            <a:solidFill>
              <a:srgbClr val="CCFFFF"/>
            </a:solidFill>
            <a:ln w="9525">
              <a:solidFill>
                <a:srgbClr val="000000"/>
              </a:solidFill>
              <a:miter lim="800000"/>
              <a:headEnd/>
              <a:tailEnd/>
            </a:ln>
          </p:spPr>
          <p:txBody>
            <a:bodyPr lIns="45720" tIns="0" rIns="0" bIns="0"/>
            <a:lstStyle/>
            <a:p>
              <a:pPr eaLnBrk="1" hangingPunct="1"/>
              <a:r>
                <a:rPr lang="en-US" altLang="en-US" b="1"/>
                <a:t>0</a:t>
              </a:r>
            </a:p>
          </p:txBody>
        </p:sp>
        <p:sp>
          <p:nvSpPr>
            <p:cNvPr id="23573" name="Text Box 66"/>
            <p:cNvSpPr txBox="1">
              <a:spLocks noChangeArrowheads="1"/>
            </p:cNvSpPr>
            <p:nvPr/>
          </p:nvSpPr>
          <p:spPr bwMode="auto">
            <a:xfrm>
              <a:off x="4321" y="6525"/>
              <a:ext cx="1392" cy="551"/>
            </a:xfrm>
            <a:prstGeom prst="rect">
              <a:avLst/>
            </a:prstGeom>
            <a:solidFill>
              <a:srgbClr val="CCFFFF"/>
            </a:solidFill>
            <a:ln w="9525">
              <a:solidFill>
                <a:srgbClr val="000000"/>
              </a:solidFill>
              <a:miter lim="800000"/>
              <a:headEnd/>
              <a:tailEnd/>
            </a:ln>
          </p:spPr>
          <p:txBody>
            <a:bodyPr lIns="45720" tIns="0" rIns="0" bIns="0"/>
            <a:lstStyle/>
            <a:p>
              <a:pPr eaLnBrk="1" hangingPunct="1"/>
              <a:r>
                <a:rPr lang="en-US" altLang="en-US" b="1"/>
                <a:t>0</a:t>
              </a:r>
            </a:p>
          </p:txBody>
        </p:sp>
        <p:sp>
          <p:nvSpPr>
            <p:cNvPr id="23574" name="Text Box 67"/>
            <p:cNvSpPr txBox="1">
              <a:spLocks noChangeArrowheads="1"/>
            </p:cNvSpPr>
            <p:nvPr/>
          </p:nvSpPr>
          <p:spPr bwMode="auto">
            <a:xfrm>
              <a:off x="5713" y="6525"/>
              <a:ext cx="1392" cy="551"/>
            </a:xfrm>
            <a:prstGeom prst="rect">
              <a:avLst/>
            </a:prstGeom>
            <a:solidFill>
              <a:srgbClr val="CCFFFF"/>
            </a:solidFill>
            <a:ln w="9525">
              <a:solidFill>
                <a:srgbClr val="000000"/>
              </a:solidFill>
              <a:miter lim="800000"/>
              <a:headEnd/>
              <a:tailEnd/>
            </a:ln>
          </p:spPr>
          <p:txBody>
            <a:bodyPr lIns="45720" tIns="0" rIns="0" bIns="0"/>
            <a:lstStyle/>
            <a:p>
              <a:pPr eaLnBrk="1" hangingPunct="1"/>
              <a:r>
                <a:rPr lang="en-US" altLang="en-US" b="1"/>
                <a:t>*</a:t>
              </a:r>
            </a:p>
          </p:txBody>
        </p:sp>
        <p:sp>
          <p:nvSpPr>
            <p:cNvPr id="23575" name="Text Box 68"/>
            <p:cNvSpPr txBox="1">
              <a:spLocks noChangeArrowheads="1"/>
            </p:cNvSpPr>
            <p:nvPr/>
          </p:nvSpPr>
          <p:spPr bwMode="auto">
            <a:xfrm>
              <a:off x="7105" y="6525"/>
              <a:ext cx="1334" cy="551"/>
            </a:xfrm>
            <a:prstGeom prst="rect">
              <a:avLst/>
            </a:prstGeom>
            <a:solidFill>
              <a:srgbClr val="CCFFFF"/>
            </a:solidFill>
            <a:ln w="9525">
              <a:solidFill>
                <a:srgbClr val="000000"/>
              </a:solidFill>
              <a:miter lim="800000"/>
              <a:headEnd/>
              <a:tailEnd/>
            </a:ln>
          </p:spPr>
          <p:txBody>
            <a:bodyPr lIns="45720" tIns="0" rIns="0" bIns="0"/>
            <a:lstStyle/>
            <a:p>
              <a:pPr eaLnBrk="1" hangingPunct="1"/>
              <a:r>
                <a:rPr lang="en-US" altLang="en-US" b="1"/>
                <a:t>*</a:t>
              </a:r>
            </a:p>
          </p:txBody>
        </p:sp>
        <p:sp>
          <p:nvSpPr>
            <p:cNvPr id="23576" name="Text Box 69"/>
            <p:cNvSpPr txBox="1">
              <a:spLocks noChangeArrowheads="1"/>
            </p:cNvSpPr>
            <p:nvPr/>
          </p:nvSpPr>
          <p:spPr bwMode="auto">
            <a:xfrm>
              <a:off x="8584" y="6525"/>
              <a:ext cx="1334" cy="551"/>
            </a:xfrm>
            <a:prstGeom prst="rect">
              <a:avLst/>
            </a:prstGeom>
            <a:solidFill>
              <a:srgbClr val="00CCFF"/>
            </a:solidFill>
            <a:ln w="9525">
              <a:solidFill>
                <a:srgbClr val="000000"/>
              </a:solidFill>
              <a:miter lim="800000"/>
              <a:headEnd/>
              <a:tailEnd/>
            </a:ln>
          </p:spPr>
          <p:txBody>
            <a:bodyPr lIns="45720" tIns="0" rIns="0" bIns="0"/>
            <a:lstStyle/>
            <a:p>
              <a:pPr eaLnBrk="1" hangingPunct="1"/>
              <a:r>
                <a:rPr lang="en-US" altLang="en-US" b="1"/>
                <a:t>0</a:t>
              </a:r>
            </a:p>
          </p:txBody>
        </p:sp>
        <p:sp>
          <p:nvSpPr>
            <p:cNvPr id="23577" name="Text Box 70"/>
            <p:cNvSpPr txBox="1">
              <a:spLocks noChangeArrowheads="1"/>
            </p:cNvSpPr>
            <p:nvPr/>
          </p:nvSpPr>
          <p:spPr bwMode="auto">
            <a:xfrm>
              <a:off x="9918" y="6525"/>
              <a:ext cx="1334" cy="551"/>
            </a:xfrm>
            <a:prstGeom prst="rect">
              <a:avLst/>
            </a:prstGeom>
            <a:solidFill>
              <a:srgbClr val="00CCFF"/>
            </a:solidFill>
            <a:ln w="9525">
              <a:solidFill>
                <a:srgbClr val="000000"/>
              </a:solidFill>
              <a:miter lim="800000"/>
              <a:headEnd/>
              <a:tailEnd/>
            </a:ln>
          </p:spPr>
          <p:txBody>
            <a:bodyPr lIns="45720" tIns="0" rIns="0" bIns="0"/>
            <a:lstStyle/>
            <a:p>
              <a:pPr eaLnBrk="1" hangingPunct="1"/>
              <a:r>
                <a:rPr lang="en-US" altLang="en-US" b="1"/>
                <a:t>0</a:t>
              </a:r>
            </a:p>
          </p:txBody>
        </p:sp>
      </p:grpSp>
      <p:sp>
        <p:nvSpPr>
          <p:cNvPr id="4167" name="Text Box 71"/>
          <p:cNvSpPr txBox="1">
            <a:spLocks noChangeArrowheads="1"/>
          </p:cNvSpPr>
          <p:nvPr/>
        </p:nvSpPr>
        <p:spPr bwMode="auto">
          <a:xfrm>
            <a:off x="566738" y="3059113"/>
            <a:ext cx="8294687" cy="400050"/>
          </a:xfrm>
          <a:prstGeom prst="rect">
            <a:avLst/>
          </a:prstGeom>
          <a:noFill/>
          <a:ln w="9525">
            <a:noFill/>
            <a:miter lim="800000"/>
            <a:headEnd/>
            <a:tailEnd/>
          </a:ln>
        </p:spPr>
        <p:txBody>
          <a:bodyPr>
            <a:spAutoFit/>
          </a:bodyPr>
          <a:lstStyle/>
          <a:p>
            <a:pPr eaLnBrk="1" hangingPunct="1"/>
            <a:r>
              <a:rPr lang="en-GB" altLang="en-US" sz="2000">
                <a:cs typeface="Times New Roman" pitchFamily="18" charset="0"/>
              </a:rPr>
              <a:t>If the object doesn't make baby-turkey noise and far: - </a:t>
            </a:r>
            <a:r>
              <a:rPr lang="en-GB" altLang="en-US" sz="2000" b="1">
                <a:cs typeface="Times New Roman" pitchFamily="18" charset="0"/>
              </a:rPr>
              <a:t>ignore</a:t>
            </a:r>
            <a:r>
              <a:rPr lang="en-GB" altLang="en-US" sz="2000">
                <a:cs typeface="Times New Roman" pitchFamily="18" charset="0"/>
              </a:rPr>
              <a:t>. </a:t>
            </a:r>
          </a:p>
        </p:txBody>
      </p:sp>
      <p:grpSp>
        <p:nvGrpSpPr>
          <p:cNvPr id="7" name="Group 80"/>
          <p:cNvGrpSpPr>
            <a:grpSpLocks/>
          </p:cNvGrpSpPr>
          <p:nvPr/>
        </p:nvGrpSpPr>
        <p:grpSpPr bwMode="auto">
          <a:xfrm>
            <a:off x="619125" y="3657600"/>
            <a:ext cx="8302625" cy="381000"/>
            <a:chOff x="1537" y="6525"/>
            <a:chExt cx="9715" cy="551"/>
          </a:xfrm>
        </p:grpSpPr>
        <p:sp>
          <p:nvSpPr>
            <p:cNvPr id="23564" name="Text Box 81"/>
            <p:cNvSpPr txBox="1">
              <a:spLocks noChangeArrowheads="1"/>
            </p:cNvSpPr>
            <p:nvPr/>
          </p:nvSpPr>
          <p:spPr bwMode="auto">
            <a:xfrm>
              <a:off x="1537" y="6525"/>
              <a:ext cx="1392" cy="551"/>
            </a:xfrm>
            <a:prstGeom prst="rect">
              <a:avLst/>
            </a:prstGeom>
            <a:solidFill>
              <a:srgbClr val="CCFFFF"/>
            </a:solidFill>
            <a:ln w="9525">
              <a:solidFill>
                <a:srgbClr val="000000"/>
              </a:solidFill>
              <a:miter lim="800000"/>
              <a:headEnd/>
              <a:tailEnd/>
            </a:ln>
          </p:spPr>
          <p:txBody>
            <a:bodyPr lIns="45720" tIns="0" rIns="0" bIns="0"/>
            <a:lstStyle/>
            <a:p>
              <a:pPr eaLnBrk="1" hangingPunct="1"/>
              <a:r>
                <a:rPr lang="en-US" altLang="en-US" b="1"/>
                <a:t>1</a:t>
              </a:r>
            </a:p>
          </p:txBody>
        </p:sp>
        <p:sp>
          <p:nvSpPr>
            <p:cNvPr id="23565" name="Text Box 82"/>
            <p:cNvSpPr txBox="1">
              <a:spLocks noChangeArrowheads="1"/>
            </p:cNvSpPr>
            <p:nvPr/>
          </p:nvSpPr>
          <p:spPr bwMode="auto">
            <a:xfrm>
              <a:off x="2929" y="6525"/>
              <a:ext cx="1392" cy="551"/>
            </a:xfrm>
            <a:prstGeom prst="rect">
              <a:avLst/>
            </a:prstGeom>
            <a:solidFill>
              <a:srgbClr val="CCFFFF"/>
            </a:solidFill>
            <a:ln w="9525">
              <a:solidFill>
                <a:srgbClr val="000000"/>
              </a:solidFill>
              <a:miter lim="800000"/>
              <a:headEnd/>
              <a:tailEnd/>
            </a:ln>
          </p:spPr>
          <p:txBody>
            <a:bodyPr lIns="45720" tIns="0" rIns="0" bIns="0"/>
            <a:lstStyle/>
            <a:p>
              <a:pPr eaLnBrk="1" hangingPunct="1"/>
              <a:r>
                <a:rPr lang="en-US" altLang="en-US" b="1"/>
                <a:t>0</a:t>
              </a:r>
            </a:p>
          </p:txBody>
        </p:sp>
        <p:sp>
          <p:nvSpPr>
            <p:cNvPr id="23566" name="Text Box 83"/>
            <p:cNvSpPr txBox="1">
              <a:spLocks noChangeArrowheads="1"/>
            </p:cNvSpPr>
            <p:nvPr/>
          </p:nvSpPr>
          <p:spPr bwMode="auto">
            <a:xfrm>
              <a:off x="4321" y="6525"/>
              <a:ext cx="1392" cy="551"/>
            </a:xfrm>
            <a:prstGeom prst="rect">
              <a:avLst/>
            </a:prstGeom>
            <a:solidFill>
              <a:srgbClr val="CCFFFF"/>
            </a:solidFill>
            <a:ln w="9525">
              <a:solidFill>
                <a:srgbClr val="000000"/>
              </a:solidFill>
              <a:miter lim="800000"/>
              <a:headEnd/>
              <a:tailEnd/>
            </a:ln>
          </p:spPr>
          <p:txBody>
            <a:bodyPr lIns="45720" tIns="0" rIns="0" bIns="0"/>
            <a:lstStyle/>
            <a:p>
              <a:pPr eaLnBrk="1" hangingPunct="1"/>
              <a:r>
                <a:rPr lang="en-US" altLang="en-US" b="1"/>
                <a:t>1</a:t>
              </a:r>
            </a:p>
          </p:txBody>
        </p:sp>
        <p:sp>
          <p:nvSpPr>
            <p:cNvPr id="23567" name="Text Box 84"/>
            <p:cNvSpPr txBox="1">
              <a:spLocks noChangeArrowheads="1"/>
            </p:cNvSpPr>
            <p:nvPr/>
          </p:nvSpPr>
          <p:spPr bwMode="auto">
            <a:xfrm>
              <a:off x="5713" y="6525"/>
              <a:ext cx="1392" cy="551"/>
            </a:xfrm>
            <a:prstGeom prst="rect">
              <a:avLst/>
            </a:prstGeom>
            <a:solidFill>
              <a:srgbClr val="CCFFFF"/>
            </a:solidFill>
            <a:ln w="9525">
              <a:solidFill>
                <a:srgbClr val="000000"/>
              </a:solidFill>
              <a:miter lim="800000"/>
              <a:headEnd/>
              <a:tailEnd/>
            </a:ln>
          </p:spPr>
          <p:txBody>
            <a:bodyPr lIns="45720" tIns="0" rIns="0" bIns="0"/>
            <a:lstStyle/>
            <a:p>
              <a:pPr eaLnBrk="1" hangingPunct="1"/>
              <a:r>
                <a:rPr lang="en-US" altLang="en-US" b="1"/>
                <a:t>1</a:t>
              </a:r>
            </a:p>
          </p:txBody>
        </p:sp>
        <p:sp>
          <p:nvSpPr>
            <p:cNvPr id="23568" name="Text Box 85"/>
            <p:cNvSpPr txBox="1">
              <a:spLocks noChangeArrowheads="1"/>
            </p:cNvSpPr>
            <p:nvPr/>
          </p:nvSpPr>
          <p:spPr bwMode="auto">
            <a:xfrm>
              <a:off x="7105" y="6525"/>
              <a:ext cx="1334" cy="551"/>
            </a:xfrm>
            <a:prstGeom prst="rect">
              <a:avLst/>
            </a:prstGeom>
            <a:solidFill>
              <a:srgbClr val="CCFFFF"/>
            </a:solidFill>
            <a:ln w="9525">
              <a:solidFill>
                <a:srgbClr val="000000"/>
              </a:solidFill>
              <a:miter lim="800000"/>
              <a:headEnd/>
              <a:tailEnd/>
            </a:ln>
          </p:spPr>
          <p:txBody>
            <a:bodyPr lIns="45720" tIns="0" rIns="0" bIns="0"/>
            <a:lstStyle/>
            <a:p>
              <a:pPr eaLnBrk="1" hangingPunct="1"/>
              <a:r>
                <a:rPr lang="en-US" altLang="en-US" b="1"/>
                <a:t>*</a:t>
              </a:r>
            </a:p>
          </p:txBody>
        </p:sp>
        <p:sp>
          <p:nvSpPr>
            <p:cNvPr id="23569" name="Text Box 86"/>
            <p:cNvSpPr txBox="1">
              <a:spLocks noChangeArrowheads="1"/>
            </p:cNvSpPr>
            <p:nvPr/>
          </p:nvSpPr>
          <p:spPr bwMode="auto">
            <a:xfrm>
              <a:off x="8584" y="6525"/>
              <a:ext cx="1334" cy="551"/>
            </a:xfrm>
            <a:prstGeom prst="rect">
              <a:avLst/>
            </a:prstGeom>
            <a:solidFill>
              <a:srgbClr val="00CCFF"/>
            </a:solidFill>
            <a:ln w="9525">
              <a:solidFill>
                <a:srgbClr val="000000"/>
              </a:solidFill>
              <a:miter lim="800000"/>
              <a:headEnd/>
              <a:tailEnd/>
            </a:ln>
          </p:spPr>
          <p:txBody>
            <a:bodyPr lIns="45720" tIns="0" rIns="0" bIns="0"/>
            <a:lstStyle/>
            <a:p>
              <a:pPr eaLnBrk="1" hangingPunct="1"/>
              <a:r>
                <a:rPr lang="en-US" altLang="en-US" b="1"/>
                <a:t>0</a:t>
              </a:r>
            </a:p>
          </p:txBody>
        </p:sp>
        <p:sp>
          <p:nvSpPr>
            <p:cNvPr id="23570" name="Text Box 87"/>
            <p:cNvSpPr txBox="1">
              <a:spLocks noChangeArrowheads="1"/>
            </p:cNvSpPr>
            <p:nvPr/>
          </p:nvSpPr>
          <p:spPr bwMode="auto">
            <a:xfrm>
              <a:off x="9918" y="6525"/>
              <a:ext cx="1334" cy="551"/>
            </a:xfrm>
            <a:prstGeom prst="rect">
              <a:avLst/>
            </a:prstGeom>
            <a:solidFill>
              <a:srgbClr val="00CCFF"/>
            </a:solidFill>
            <a:ln w="9525">
              <a:solidFill>
                <a:srgbClr val="000000"/>
              </a:solidFill>
              <a:miter lim="800000"/>
              <a:headEnd/>
              <a:tailEnd/>
            </a:ln>
          </p:spPr>
          <p:txBody>
            <a:bodyPr lIns="45720" tIns="0" rIns="0" bIns="0"/>
            <a:lstStyle/>
            <a:p>
              <a:pPr eaLnBrk="1" hangingPunct="1"/>
              <a:r>
                <a:rPr lang="en-US" altLang="en-US" b="1"/>
                <a:t>1</a:t>
              </a:r>
            </a:p>
          </p:txBody>
        </p:sp>
      </p:grpSp>
      <p:sp>
        <p:nvSpPr>
          <p:cNvPr id="4184" name="Text Box 88"/>
          <p:cNvSpPr txBox="1">
            <a:spLocks noChangeArrowheads="1"/>
          </p:cNvSpPr>
          <p:nvPr/>
        </p:nvSpPr>
        <p:spPr bwMode="auto">
          <a:xfrm>
            <a:off x="603250" y="4117975"/>
            <a:ext cx="8302625" cy="708025"/>
          </a:xfrm>
          <a:prstGeom prst="rect">
            <a:avLst/>
          </a:prstGeom>
          <a:noFill/>
          <a:ln w="9525">
            <a:noFill/>
            <a:miter lim="800000"/>
            <a:headEnd/>
            <a:tailEnd/>
          </a:ln>
        </p:spPr>
        <p:txBody>
          <a:bodyPr>
            <a:spAutoFit/>
          </a:bodyPr>
          <a:lstStyle/>
          <a:p>
            <a:pPr eaLnBrk="1" hangingPunct="1"/>
            <a:r>
              <a:rPr lang="en-GB" altLang="en-US" sz="2000">
                <a:cs typeface="Times New Roman" pitchFamily="18" charset="0"/>
              </a:rPr>
              <a:t>If the object is moving, doesn't make baby-turkey noise, close, on the ground: - </a:t>
            </a:r>
            <a:r>
              <a:rPr lang="en-GB" altLang="en-US" sz="2000" b="1">
                <a:cs typeface="Times New Roman" pitchFamily="18" charset="0"/>
              </a:rPr>
              <a:t>attack</a:t>
            </a:r>
            <a:r>
              <a:rPr lang="en-GB" altLang="en-US" sz="2000">
                <a:cs typeface="Times New Roman" pitchFamily="18" charset="0"/>
              </a:rPr>
              <a:t>. </a:t>
            </a:r>
          </a:p>
        </p:txBody>
      </p:sp>
      <p:sp>
        <p:nvSpPr>
          <p:cNvPr id="18443" name="Rectangle 42"/>
          <p:cNvSpPr>
            <a:spLocks noChangeArrowheads="1"/>
          </p:cNvSpPr>
          <p:nvPr/>
        </p:nvSpPr>
        <p:spPr bwMode="auto">
          <a:xfrm>
            <a:off x="250825" y="5157788"/>
            <a:ext cx="8893175" cy="1322387"/>
          </a:xfrm>
          <a:prstGeom prst="rect">
            <a:avLst/>
          </a:prstGeom>
          <a:noFill/>
          <a:ln w="9525">
            <a:noFill/>
            <a:miter lim="800000"/>
            <a:headEnd/>
            <a:tailEnd/>
          </a:ln>
        </p:spPr>
        <p:txBody>
          <a:bodyPr>
            <a:spAutoFit/>
          </a:bodyPr>
          <a:lstStyle/>
          <a:p>
            <a:pPr marL="323850" indent="-457200" eaLnBrk="1" hangingPunct="1"/>
            <a:r>
              <a:rPr lang="en-US" altLang="en-US" sz="2000" dirty="0"/>
              <a:t>Fig. 8. Example of coding  (7 bit representation) of a </a:t>
            </a:r>
            <a:r>
              <a:rPr lang="en-US" altLang="en-US" sz="2000" i="1" dirty="0" err="1"/>
              <a:t>TurkeyMother</a:t>
            </a:r>
            <a:r>
              <a:rPr lang="en-US" altLang="en-US" sz="2000" dirty="0"/>
              <a:t>  system. Depending on an object's movement, noise making, location, size, etc. attributes (input), the turkey would feed, attack, or ignore it (output). The string with the fewest "*" (don't care) governs the system's action.</a:t>
            </a:r>
            <a:endParaRPr lang="en-GB"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0-#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1000" fill="hold"/>
                                        <p:tgtEl>
                                          <p:spTgt spid="3"/>
                                        </p:tgtEl>
                                        <p:attrNameLst>
                                          <p:attrName>ppt_x</p:attrName>
                                        </p:attrNameLst>
                                      </p:cBhvr>
                                      <p:tavLst>
                                        <p:tav tm="0">
                                          <p:val>
                                            <p:strVal val="0-#ppt_w/2"/>
                                          </p:val>
                                        </p:tav>
                                        <p:tav tm="100000">
                                          <p:val>
                                            <p:strVal val="#ppt_x"/>
                                          </p:val>
                                        </p:tav>
                                      </p:tavLst>
                                    </p:anim>
                                    <p:anim calcmode="lin" valueType="num">
                                      <p:cBhvr additive="base">
                                        <p:cTn id="14" dur="10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1000" fill="hold"/>
                                        <p:tgtEl>
                                          <p:spTgt spid="4"/>
                                        </p:tgtEl>
                                        <p:attrNameLst>
                                          <p:attrName>ppt_x</p:attrName>
                                        </p:attrNameLst>
                                      </p:cBhvr>
                                      <p:tavLst>
                                        <p:tav tm="0">
                                          <p:val>
                                            <p:strVal val="1+#ppt_w/2"/>
                                          </p:val>
                                        </p:tav>
                                        <p:tav tm="100000">
                                          <p:val>
                                            <p:strVal val="#ppt_x"/>
                                          </p:val>
                                        </p:tav>
                                      </p:tavLst>
                                    </p:anim>
                                    <p:anim calcmode="lin" valueType="num">
                                      <p:cBhvr additive="base">
                                        <p:cTn id="20" dur="1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0-#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150"/>
                                        </p:tgtEl>
                                        <p:attrNameLst>
                                          <p:attrName>style.visibility</p:attrName>
                                        </p:attrNameLst>
                                      </p:cBhvr>
                                      <p:to>
                                        <p:strVal val="visible"/>
                                      </p:to>
                                    </p:set>
                                    <p:anim calcmode="lin" valueType="num">
                                      <p:cBhvr additive="base">
                                        <p:cTn id="31" dur="500" fill="hold"/>
                                        <p:tgtEl>
                                          <p:spTgt spid="4150"/>
                                        </p:tgtEl>
                                        <p:attrNameLst>
                                          <p:attrName>ppt_x</p:attrName>
                                        </p:attrNameLst>
                                      </p:cBhvr>
                                      <p:tavLst>
                                        <p:tav tm="0">
                                          <p:val>
                                            <p:strVal val="0-#ppt_w/2"/>
                                          </p:val>
                                        </p:tav>
                                        <p:tav tm="100000">
                                          <p:val>
                                            <p:strVal val="#ppt_x"/>
                                          </p:val>
                                        </p:tav>
                                      </p:tavLst>
                                    </p:anim>
                                    <p:anim calcmode="lin" valueType="num">
                                      <p:cBhvr additive="base">
                                        <p:cTn id="32" dur="500" fill="hold"/>
                                        <p:tgtEl>
                                          <p:spTgt spid="4150"/>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0-#ppt_w/2"/>
                                          </p:val>
                                        </p:tav>
                                        <p:tav tm="100000">
                                          <p:val>
                                            <p:strVal val="#ppt_x"/>
                                          </p:val>
                                        </p:tav>
                                      </p:tavLst>
                                    </p:anim>
                                    <p:anim calcmode="lin" valueType="num">
                                      <p:cBhvr additive="base">
                                        <p:cTn id="3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167"/>
                                        </p:tgtEl>
                                        <p:attrNameLst>
                                          <p:attrName>style.visibility</p:attrName>
                                        </p:attrNameLst>
                                      </p:cBhvr>
                                      <p:to>
                                        <p:strVal val="visible"/>
                                      </p:to>
                                    </p:set>
                                    <p:anim calcmode="lin" valueType="num">
                                      <p:cBhvr additive="base">
                                        <p:cTn id="43" dur="500" fill="hold"/>
                                        <p:tgtEl>
                                          <p:spTgt spid="4167"/>
                                        </p:tgtEl>
                                        <p:attrNameLst>
                                          <p:attrName>ppt_x</p:attrName>
                                        </p:attrNameLst>
                                      </p:cBhvr>
                                      <p:tavLst>
                                        <p:tav tm="0">
                                          <p:val>
                                            <p:strVal val="0-#ppt_w/2"/>
                                          </p:val>
                                        </p:tav>
                                        <p:tav tm="100000">
                                          <p:val>
                                            <p:strVal val="#ppt_x"/>
                                          </p:val>
                                        </p:tav>
                                      </p:tavLst>
                                    </p:anim>
                                    <p:anim calcmode="lin" valueType="num">
                                      <p:cBhvr additive="base">
                                        <p:cTn id="44" dur="500" fill="hold"/>
                                        <p:tgtEl>
                                          <p:spTgt spid="4167"/>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additive="base">
                                        <p:cTn id="49" dur="500" fill="hold"/>
                                        <p:tgtEl>
                                          <p:spTgt spid="7"/>
                                        </p:tgtEl>
                                        <p:attrNameLst>
                                          <p:attrName>ppt_x</p:attrName>
                                        </p:attrNameLst>
                                      </p:cBhvr>
                                      <p:tavLst>
                                        <p:tav tm="0">
                                          <p:val>
                                            <p:strVal val="0-#ppt_w/2"/>
                                          </p:val>
                                        </p:tav>
                                        <p:tav tm="100000">
                                          <p:val>
                                            <p:strVal val="#ppt_x"/>
                                          </p:val>
                                        </p:tav>
                                      </p:tavLst>
                                    </p:anim>
                                    <p:anim calcmode="lin" valueType="num">
                                      <p:cBhvr additive="base">
                                        <p:cTn id="5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4184"/>
                                        </p:tgtEl>
                                        <p:attrNameLst>
                                          <p:attrName>style.visibility</p:attrName>
                                        </p:attrNameLst>
                                      </p:cBhvr>
                                      <p:to>
                                        <p:strVal val="visible"/>
                                      </p:to>
                                    </p:set>
                                    <p:anim calcmode="lin" valueType="num">
                                      <p:cBhvr additive="base">
                                        <p:cTn id="55" dur="500" fill="hold"/>
                                        <p:tgtEl>
                                          <p:spTgt spid="4184"/>
                                        </p:tgtEl>
                                        <p:attrNameLst>
                                          <p:attrName>ppt_x</p:attrName>
                                        </p:attrNameLst>
                                      </p:cBhvr>
                                      <p:tavLst>
                                        <p:tav tm="0">
                                          <p:val>
                                            <p:strVal val="0-#ppt_w/2"/>
                                          </p:val>
                                        </p:tav>
                                        <p:tav tm="100000">
                                          <p:val>
                                            <p:strVal val="#ppt_x"/>
                                          </p:val>
                                        </p:tav>
                                      </p:tavLst>
                                    </p:anim>
                                    <p:anim calcmode="lin" valueType="num">
                                      <p:cBhvr additive="base">
                                        <p:cTn id="56" dur="500" fill="hold"/>
                                        <p:tgtEl>
                                          <p:spTgt spid="4184"/>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8443"/>
                                        </p:tgtEl>
                                        <p:attrNameLst>
                                          <p:attrName>style.visibility</p:attrName>
                                        </p:attrNameLst>
                                      </p:cBhvr>
                                      <p:to>
                                        <p:strVal val="visible"/>
                                      </p:to>
                                    </p:set>
                                    <p:anim calcmode="lin" valueType="num">
                                      <p:cBhvr additive="base">
                                        <p:cTn id="61" dur="500" fill="hold"/>
                                        <p:tgtEl>
                                          <p:spTgt spid="18443"/>
                                        </p:tgtEl>
                                        <p:attrNameLst>
                                          <p:attrName>ppt_x</p:attrName>
                                        </p:attrNameLst>
                                      </p:cBhvr>
                                      <p:tavLst>
                                        <p:tav tm="0">
                                          <p:val>
                                            <p:strVal val="#ppt_x"/>
                                          </p:val>
                                        </p:tav>
                                        <p:tav tm="100000">
                                          <p:val>
                                            <p:strVal val="#ppt_x"/>
                                          </p:val>
                                        </p:tav>
                                      </p:tavLst>
                                    </p:anim>
                                    <p:anim calcmode="lin" valueType="num">
                                      <p:cBhvr additive="base">
                                        <p:cTn id="62" dur="500" fill="hold"/>
                                        <p:tgtEl>
                                          <p:spTgt spid="184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0" grpId="0" autoUpdateAnimBg="0"/>
      <p:bldP spid="4167" grpId="0" autoUpdateAnimBg="0"/>
      <p:bldP spid="4184" grpId="0" autoUpdateAnimBg="0"/>
      <p:bldP spid="1844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Date Placeholder 3"/>
          <p:cNvSpPr txBox="1">
            <a:spLocks noGrp="1"/>
          </p:cNvSpPr>
          <p:nvPr/>
        </p:nvSpPr>
        <p:spPr bwMode="auto">
          <a:xfrm>
            <a:off x="0" y="6400800"/>
            <a:ext cx="1905000" cy="457200"/>
          </a:xfrm>
          <a:prstGeom prst="rect">
            <a:avLst/>
          </a:prstGeom>
          <a:noFill/>
          <a:ln w="9525">
            <a:noFill/>
            <a:miter lim="800000"/>
            <a:headEnd/>
            <a:tailEnd/>
          </a:ln>
        </p:spPr>
        <p:txBody>
          <a:bodyPr anchor="b"/>
          <a:lstStyle/>
          <a:p>
            <a:pPr eaLnBrk="1" hangingPunct="1"/>
            <a:fld id="{1ABA0D22-156F-4E19-87D2-32F5D84BDF14}" type="datetime1">
              <a:rPr lang="en-GB" altLang="en-US" sz="1200"/>
              <a:pPr eaLnBrk="1" hangingPunct="1"/>
              <a:t>17/02/2026</a:t>
            </a:fld>
            <a:endParaRPr lang="en-GB" altLang="en-US" sz="1200"/>
          </a:p>
        </p:txBody>
      </p:sp>
      <p:sp>
        <p:nvSpPr>
          <p:cNvPr id="24580" name="Slide Number Placeholder 5"/>
          <p:cNvSpPr txBox="1">
            <a:spLocks noGrp="1"/>
          </p:cNvSpPr>
          <p:nvPr/>
        </p:nvSpPr>
        <p:spPr bwMode="auto">
          <a:xfrm>
            <a:off x="7239000" y="6400800"/>
            <a:ext cx="1905000" cy="457200"/>
          </a:xfrm>
          <a:prstGeom prst="rect">
            <a:avLst/>
          </a:prstGeom>
          <a:noFill/>
          <a:ln w="9525">
            <a:noFill/>
            <a:miter lim="800000"/>
            <a:headEnd/>
            <a:tailEnd/>
          </a:ln>
        </p:spPr>
        <p:txBody>
          <a:bodyPr anchor="b"/>
          <a:lstStyle/>
          <a:p>
            <a:pPr algn="r" eaLnBrk="1" hangingPunct="1"/>
            <a:fld id="{CB93BF95-4C19-436E-9EC8-9783DC1D7B22}" type="slidenum">
              <a:rPr lang="en-GB" altLang="en-US" sz="1200"/>
              <a:pPr algn="r" eaLnBrk="1" hangingPunct="1"/>
              <a:t>22</a:t>
            </a:fld>
            <a:endParaRPr lang="en-GB" altLang="en-US" sz="1200"/>
          </a:p>
        </p:txBody>
      </p:sp>
      <p:sp>
        <p:nvSpPr>
          <p:cNvPr id="24581" name="Rectangle 2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4582"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4583"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4584"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4585"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4586"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4587"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4588"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4589"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4590"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4591" name="Rectangle 1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4" name="Rectangle 3"/>
          <p:cNvSpPr>
            <a:spLocks noChangeArrowheads="1"/>
          </p:cNvSpPr>
          <p:nvPr/>
        </p:nvSpPr>
        <p:spPr bwMode="auto">
          <a:xfrm>
            <a:off x="714375" y="1000125"/>
            <a:ext cx="2500313" cy="571500"/>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pPr>
            <a:r>
              <a:rPr lang="en-GB" altLang="en-US" sz="3200" b="1">
                <a:solidFill>
                  <a:srgbClr val="0000FF"/>
                </a:solidFill>
              </a:rPr>
              <a:t>Crossover</a:t>
            </a:r>
          </a:p>
        </p:txBody>
      </p:sp>
      <p:sp>
        <p:nvSpPr>
          <p:cNvPr id="24593" name="Rectangle 2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4594" name="Rectangle 2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8" name="Rectangle 3"/>
          <p:cNvSpPr>
            <a:spLocks noChangeArrowheads="1"/>
          </p:cNvSpPr>
          <p:nvPr/>
        </p:nvSpPr>
        <p:spPr bwMode="auto">
          <a:xfrm>
            <a:off x="500063" y="1714500"/>
            <a:ext cx="8215312" cy="1571625"/>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a:t>This is the most commonly used operator. It produces </a:t>
            </a:r>
            <a:r>
              <a:rPr lang="en-US" altLang="en-US" b="1"/>
              <a:t>two</a:t>
            </a:r>
            <a:r>
              <a:rPr lang="en-US" altLang="en-US"/>
              <a:t> offspring from a pair of strings (chromosomes) by exchanging portions of the pair using </a:t>
            </a:r>
            <a:r>
              <a:rPr lang="en-US" altLang="en-US" b="1" i="1"/>
              <a:t>randomly</a:t>
            </a:r>
            <a:r>
              <a:rPr lang="en-US" altLang="en-US"/>
              <a:t>  chosen point, called </a:t>
            </a:r>
            <a:r>
              <a:rPr lang="en-US" altLang="en-US" b="1" i="1">
                <a:solidFill>
                  <a:schemeClr val="tx2"/>
                </a:solidFill>
              </a:rPr>
              <a:t>crossover point </a:t>
            </a:r>
            <a:r>
              <a:rPr lang="en-US" altLang="en-US"/>
              <a:t>(</a:t>
            </a:r>
            <a:r>
              <a:rPr lang="en-US" altLang="en-US" b="1" i="1">
                <a:solidFill>
                  <a:schemeClr val="tx2"/>
                </a:solidFill>
              </a:rPr>
              <a:t>site</a:t>
            </a:r>
            <a:r>
              <a:rPr lang="en-US" altLang="en-US"/>
              <a:t>)</a:t>
            </a:r>
            <a:r>
              <a:rPr lang="en-US" altLang="en-US" b="1" i="1"/>
              <a:t>.</a:t>
            </a:r>
            <a:endParaRPr lang="en-US" altLang="en-US"/>
          </a:p>
        </p:txBody>
      </p:sp>
      <p:sp>
        <p:nvSpPr>
          <p:cNvPr id="29" name="Rectangle 3"/>
          <p:cNvSpPr>
            <a:spLocks noChangeArrowheads="1"/>
          </p:cNvSpPr>
          <p:nvPr/>
        </p:nvSpPr>
        <p:spPr bwMode="auto">
          <a:xfrm>
            <a:off x="500063" y="3357563"/>
            <a:ext cx="8215312" cy="785812"/>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GB" altLang="en-US" dirty="0"/>
              <a:t>Fig. 9 shows </a:t>
            </a:r>
            <a:r>
              <a:rPr lang="en-GB" altLang="en-US" dirty="0">
                <a:solidFill>
                  <a:schemeClr val="tx2"/>
                </a:solidFill>
              </a:rPr>
              <a:t>one-point crossover </a:t>
            </a:r>
            <a:r>
              <a:rPr lang="en-GB" altLang="en-US" dirty="0"/>
              <a:t>(two-point, or more, are possible).</a:t>
            </a:r>
            <a:endParaRPr lang="en-US" altLang="en-US" dirty="0"/>
          </a:p>
        </p:txBody>
      </p:sp>
      <p:sp>
        <p:nvSpPr>
          <p:cNvPr id="30" name="Rectangle 3"/>
          <p:cNvSpPr>
            <a:spLocks noChangeArrowheads="1"/>
          </p:cNvSpPr>
          <p:nvPr/>
        </p:nvSpPr>
        <p:spPr bwMode="auto">
          <a:xfrm>
            <a:off x="500063" y="4214813"/>
            <a:ext cx="8143875" cy="928687"/>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a:t>The </a:t>
            </a:r>
            <a:r>
              <a:rPr lang="en-US" altLang="en-US">
                <a:solidFill>
                  <a:schemeClr val="tx2"/>
                </a:solidFill>
              </a:rPr>
              <a:t>crossover </a:t>
            </a:r>
            <a:r>
              <a:rPr lang="en-US" altLang="en-US"/>
              <a:t>allows pieces of information to be re-distributed throughout the population.</a:t>
            </a:r>
          </a:p>
        </p:txBody>
      </p:sp>
      <p:sp>
        <p:nvSpPr>
          <p:cNvPr id="31" name="Rectangle 3"/>
          <p:cNvSpPr>
            <a:spLocks noChangeArrowheads="1"/>
          </p:cNvSpPr>
          <p:nvPr/>
        </p:nvSpPr>
        <p:spPr bwMode="auto">
          <a:xfrm>
            <a:off x="500063" y="5286375"/>
            <a:ext cx="8286750" cy="857250"/>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a:t>Offspring produced by </a:t>
            </a:r>
            <a:r>
              <a:rPr lang="en-US" altLang="en-US">
                <a:solidFill>
                  <a:schemeClr val="tx2"/>
                </a:solidFill>
              </a:rPr>
              <a:t>crossover</a:t>
            </a:r>
            <a:r>
              <a:rPr lang="en-US" altLang="en-US"/>
              <a:t> cannot contain information that is not already in the current population.</a:t>
            </a:r>
          </a:p>
        </p:txBody>
      </p:sp>
      <p:sp>
        <p:nvSpPr>
          <p:cNvPr id="25" name="Rectangle 2"/>
          <p:cNvSpPr txBox="1">
            <a:spLocks noChangeArrowheads="1"/>
          </p:cNvSpPr>
          <p:nvPr/>
        </p:nvSpPr>
        <p:spPr>
          <a:xfrm>
            <a:off x="1067100" y="28575"/>
            <a:ext cx="7715250" cy="714375"/>
          </a:xfrm>
          <a:prstGeom prst="rect">
            <a:avLst/>
          </a:prstGeom>
        </p:spPr>
        <p:txBody>
          <a:bodyPr/>
          <a:lstStyle/>
          <a:p>
            <a:pPr>
              <a:defRPr/>
            </a:pPr>
            <a:r>
              <a:rPr lang="en-US" sz="3600" b="1" dirty="0">
                <a:solidFill>
                  <a:srgbClr val="0000FF"/>
                </a:solidFill>
                <a:latin typeface="+mn-lt"/>
              </a:rPr>
              <a:t>GA reproductive operators</a:t>
            </a:r>
            <a:endParaRPr lang="en-GB" sz="3600" b="1" kern="0" dirty="0">
              <a:solidFill>
                <a:srgbClr val="0000FF"/>
              </a:solidFill>
              <a:latin typeface="+mn-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0-#ppt_w/2"/>
                                          </p:val>
                                        </p:tav>
                                        <p:tav tm="100000">
                                          <p:val>
                                            <p:strVal val="#ppt_x"/>
                                          </p:val>
                                        </p:tav>
                                      </p:tavLst>
                                    </p:anim>
                                    <p:anim calcmode="lin" valueType="num">
                                      <p:cBhvr additive="base">
                                        <p:cTn id="8"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24">
                                            <p:txEl>
                                              <p:pRg st="0" end="0"/>
                                            </p:txEl>
                                          </p:spTgt>
                                        </p:tgtEl>
                                        <p:attrNameLst>
                                          <p:attrName>style.visibility</p:attrName>
                                        </p:attrNameLst>
                                      </p:cBhvr>
                                      <p:to>
                                        <p:strVal val="visible"/>
                                      </p:to>
                                    </p:set>
                                    <p:animEffect transition="in" filter="dissolve">
                                      <p:cBhvr>
                                        <p:cTn id="13" dur="500"/>
                                        <p:tgtEl>
                                          <p:spTgt spid="24">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8">
                                            <p:txEl>
                                              <p:pRg st="0" end="0"/>
                                            </p:txEl>
                                          </p:spTgt>
                                        </p:tgtEl>
                                        <p:attrNameLst>
                                          <p:attrName>style.visibility</p:attrName>
                                        </p:attrNameLst>
                                      </p:cBhvr>
                                      <p:to>
                                        <p:strVal val="visible"/>
                                      </p:to>
                                    </p:set>
                                    <p:animEffect transition="in" filter="dissolve">
                                      <p:cBhvr>
                                        <p:cTn id="18" dur="500"/>
                                        <p:tgtEl>
                                          <p:spTgt spid="28">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9">
                                            <p:txEl>
                                              <p:pRg st="0" end="0"/>
                                            </p:txEl>
                                          </p:spTgt>
                                        </p:tgtEl>
                                        <p:attrNameLst>
                                          <p:attrName>style.visibility</p:attrName>
                                        </p:attrNameLst>
                                      </p:cBhvr>
                                      <p:to>
                                        <p:strVal val="visible"/>
                                      </p:to>
                                    </p:set>
                                    <p:animEffect transition="in" filter="dissolve">
                                      <p:cBhvr>
                                        <p:cTn id="23" dur="500"/>
                                        <p:tgtEl>
                                          <p:spTgt spid="29">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30">
                                            <p:txEl>
                                              <p:pRg st="0" end="0"/>
                                            </p:txEl>
                                          </p:spTgt>
                                        </p:tgtEl>
                                        <p:attrNameLst>
                                          <p:attrName>style.visibility</p:attrName>
                                        </p:attrNameLst>
                                      </p:cBhvr>
                                      <p:to>
                                        <p:strVal val="visible"/>
                                      </p:to>
                                    </p:set>
                                    <p:animEffect transition="in" filter="dissolve">
                                      <p:cBhvr>
                                        <p:cTn id="28" dur="500"/>
                                        <p:tgtEl>
                                          <p:spTgt spid="30">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31">
                                            <p:txEl>
                                              <p:pRg st="0" end="0"/>
                                            </p:txEl>
                                          </p:spTgt>
                                        </p:tgtEl>
                                        <p:attrNameLst>
                                          <p:attrName>style.visibility</p:attrName>
                                        </p:attrNameLst>
                                      </p:cBhvr>
                                      <p:to>
                                        <p:strVal val="visible"/>
                                      </p:to>
                                    </p:set>
                                    <p:animEffect transition="in" filter="dissolve">
                                      <p:cBhvr>
                                        <p:cTn id="33" dur="500"/>
                                        <p:tgtEl>
                                          <p:spTgt spid="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autoUpdateAnimBg="0"/>
      <p:bldP spid="28" grpId="0" build="p" autoUpdateAnimBg="0"/>
      <p:bldP spid="29" grpId="0" build="p" autoUpdateAnimBg="0"/>
      <p:bldP spid="30" grpId="0" build="p" autoUpdateAnimBg="0"/>
      <p:bldP spid="31" grpId="0" build="p" autoUpdateAnimBg="0"/>
      <p:bldP spid="25"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Date Placeholder 3"/>
          <p:cNvSpPr txBox="1">
            <a:spLocks noGrp="1"/>
          </p:cNvSpPr>
          <p:nvPr/>
        </p:nvSpPr>
        <p:spPr bwMode="auto">
          <a:xfrm>
            <a:off x="0" y="6400800"/>
            <a:ext cx="1905000" cy="457200"/>
          </a:xfrm>
          <a:prstGeom prst="rect">
            <a:avLst/>
          </a:prstGeom>
          <a:noFill/>
          <a:ln w="9525">
            <a:noFill/>
            <a:miter lim="800000"/>
            <a:headEnd/>
            <a:tailEnd/>
          </a:ln>
        </p:spPr>
        <p:txBody>
          <a:bodyPr anchor="b"/>
          <a:lstStyle/>
          <a:p>
            <a:pPr eaLnBrk="1" hangingPunct="1"/>
            <a:fld id="{BCBCDCD5-E342-4ED9-9DE9-25CBFF4B17B7}" type="datetime1">
              <a:rPr lang="en-GB" altLang="en-US" sz="1200"/>
              <a:pPr eaLnBrk="1" hangingPunct="1"/>
              <a:t>17/02/2026</a:t>
            </a:fld>
            <a:endParaRPr lang="en-GB" altLang="en-US" sz="1200"/>
          </a:p>
        </p:txBody>
      </p:sp>
      <p:sp>
        <p:nvSpPr>
          <p:cNvPr id="25604" name="Slide Number Placeholder 5"/>
          <p:cNvSpPr txBox="1">
            <a:spLocks noGrp="1"/>
          </p:cNvSpPr>
          <p:nvPr/>
        </p:nvSpPr>
        <p:spPr bwMode="auto">
          <a:xfrm>
            <a:off x="7239000" y="6400800"/>
            <a:ext cx="1905000" cy="457200"/>
          </a:xfrm>
          <a:prstGeom prst="rect">
            <a:avLst/>
          </a:prstGeom>
          <a:noFill/>
          <a:ln w="9525">
            <a:noFill/>
            <a:miter lim="800000"/>
            <a:headEnd/>
            <a:tailEnd/>
          </a:ln>
        </p:spPr>
        <p:txBody>
          <a:bodyPr anchor="b"/>
          <a:lstStyle/>
          <a:p>
            <a:pPr algn="r" eaLnBrk="1" hangingPunct="1"/>
            <a:fld id="{32DEE171-657A-4703-B37C-3E8AC2D86CD6}" type="slidenum">
              <a:rPr lang="en-GB" altLang="en-US" sz="1200"/>
              <a:pPr algn="r" eaLnBrk="1" hangingPunct="1"/>
              <a:t>23</a:t>
            </a:fld>
            <a:endParaRPr lang="en-GB" altLang="en-US" sz="1200"/>
          </a:p>
        </p:txBody>
      </p:sp>
      <p:sp>
        <p:nvSpPr>
          <p:cNvPr id="25605" name="Rectangle 2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5606"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5607"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5608"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5609"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5610"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5611"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5612"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5613"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5614"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5615" name="Rectangle 1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5616"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5617" name="Rectangle 9"/>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5618"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5619"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5620" name="Rectangle 2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6428" name="Text Box 35"/>
          <p:cNvSpPr txBox="1">
            <a:spLocks noChangeArrowheads="1"/>
          </p:cNvSpPr>
          <p:nvPr/>
        </p:nvSpPr>
        <p:spPr bwMode="auto">
          <a:xfrm>
            <a:off x="5586413" y="3422650"/>
            <a:ext cx="765175" cy="423863"/>
          </a:xfrm>
          <a:prstGeom prst="rect">
            <a:avLst/>
          </a:prstGeom>
          <a:solidFill>
            <a:srgbClr val="00FFFF"/>
          </a:solidFill>
          <a:ln w="12700">
            <a:solidFill>
              <a:schemeClr val="tx1"/>
            </a:solidFill>
            <a:miter lim="800000"/>
            <a:headEnd/>
            <a:tailEnd/>
          </a:ln>
        </p:spPr>
        <p:txBody>
          <a:bodyPr tIns="0" rIns="0" bIns="0"/>
          <a:lstStyle/>
          <a:p>
            <a:pPr eaLnBrk="1" hangingPunct="1">
              <a:spcAft>
                <a:spcPts val="1000"/>
              </a:spcAft>
            </a:pPr>
            <a:r>
              <a:rPr lang="en-GB" altLang="en-US">
                <a:latin typeface="Calibri" pitchFamily="34" charset="0"/>
              </a:rPr>
              <a:t>aa</a:t>
            </a:r>
            <a:r>
              <a:rPr lang="en-GB" altLang="en-US" b="1">
                <a:latin typeface="Calibri" pitchFamily="34" charset="0"/>
              </a:rPr>
              <a:t>ee</a:t>
            </a:r>
            <a:endParaRPr lang="en-US" altLang="en-US"/>
          </a:p>
        </p:txBody>
      </p:sp>
      <p:sp>
        <p:nvSpPr>
          <p:cNvPr id="16429" name="Text Box 36"/>
          <p:cNvSpPr txBox="1">
            <a:spLocks noChangeArrowheads="1"/>
          </p:cNvSpPr>
          <p:nvPr/>
        </p:nvSpPr>
        <p:spPr bwMode="auto">
          <a:xfrm>
            <a:off x="6286500" y="3429000"/>
            <a:ext cx="744538" cy="423863"/>
          </a:xfrm>
          <a:prstGeom prst="rect">
            <a:avLst/>
          </a:prstGeom>
          <a:solidFill>
            <a:srgbClr val="FF99CC"/>
          </a:solidFill>
          <a:ln w="12700">
            <a:solidFill>
              <a:schemeClr val="tx1"/>
            </a:solidFill>
            <a:miter lim="800000"/>
            <a:headEnd/>
            <a:tailEnd/>
          </a:ln>
        </p:spPr>
        <p:txBody>
          <a:bodyPr lIns="0" tIns="0" bIns="0"/>
          <a:lstStyle/>
          <a:p>
            <a:pPr eaLnBrk="1" hangingPunct="1">
              <a:spcAft>
                <a:spcPts val="1000"/>
              </a:spcAft>
            </a:pPr>
            <a:r>
              <a:rPr lang="en-GB" altLang="en-US">
                <a:latin typeface="Calibri" pitchFamily="34" charset="0"/>
              </a:rPr>
              <a:t>hhhh</a:t>
            </a:r>
            <a:endParaRPr lang="en-US" altLang="en-US"/>
          </a:p>
        </p:txBody>
      </p:sp>
      <p:sp>
        <p:nvSpPr>
          <p:cNvPr id="16424" name="Text Box 30"/>
          <p:cNvSpPr txBox="1">
            <a:spLocks noChangeArrowheads="1"/>
          </p:cNvSpPr>
          <p:nvPr/>
        </p:nvSpPr>
        <p:spPr bwMode="auto">
          <a:xfrm>
            <a:off x="2046288" y="3429000"/>
            <a:ext cx="765175" cy="417513"/>
          </a:xfrm>
          <a:prstGeom prst="rect">
            <a:avLst/>
          </a:prstGeom>
          <a:solidFill>
            <a:srgbClr val="FF99CC"/>
          </a:solidFill>
          <a:ln w="9525">
            <a:solidFill>
              <a:schemeClr val="tx1"/>
            </a:solidFill>
            <a:miter lim="800000"/>
            <a:headEnd/>
            <a:tailEnd/>
          </a:ln>
        </p:spPr>
        <p:txBody>
          <a:bodyPr tIns="0" rIns="0" bIns="0"/>
          <a:lstStyle/>
          <a:p>
            <a:pPr eaLnBrk="1" hangingPunct="1">
              <a:spcAft>
                <a:spcPts val="1000"/>
              </a:spcAft>
            </a:pPr>
            <a:r>
              <a:rPr lang="en-GB" altLang="en-US">
                <a:latin typeface="Calibri" pitchFamily="34" charset="0"/>
              </a:rPr>
              <a:t>cccc</a:t>
            </a:r>
            <a:endParaRPr lang="en-US" altLang="en-US"/>
          </a:p>
        </p:txBody>
      </p:sp>
      <p:sp>
        <p:nvSpPr>
          <p:cNvPr id="16425" name="Text Box 31"/>
          <p:cNvSpPr txBox="1">
            <a:spLocks noChangeArrowheads="1"/>
          </p:cNvSpPr>
          <p:nvPr/>
        </p:nvSpPr>
        <p:spPr bwMode="auto">
          <a:xfrm>
            <a:off x="2684463" y="3422650"/>
            <a:ext cx="744537" cy="423863"/>
          </a:xfrm>
          <a:prstGeom prst="rect">
            <a:avLst/>
          </a:prstGeom>
          <a:solidFill>
            <a:srgbClr val="00FFFF"/>
          </a:solidFill>
          <a:ln w="12700">
            <a:solidFill>
              <a:schemeClr val="tx1"/>
            </a:solidFill>
            <a:miter lim="800000"/>
            <a:headEnd/>
            <a:tailEnd/>
          </a:ln>
        </p:spPr>
        <p:txBody>
          <a:bodyPr lIns="0" tIns="0" bIns="0"/>
          <a:lstStyle/>
          <a:p>
            <a:pPr eaLnBrk="1" hangingPunct="1">
              <a:spcAft>
                <a:spcPts val="1000"/>
              </a:spcAft>
            </a:pPr>
            <a:r>
              <a:rPr lang="en-GB" altLang="en-US">
                <a:latin typeface="Calibri" pitchFamily="34" charset="0"/>
              </a:rPr>
              <a:t>bbbb</a:t>
            </a:r>
            <a:endParaRPr lang="en-US" altLang="en-US"/>
          </a:p>
        </p:txBody>
      </p:sp>
      <p:sp>
        <p:nvSpPr>
          <p:cNvPr id="16426" name="Line 38"/>
          <p:cNvSpPr>
            <a:spLocks noChangeShapeType="1"/>
          </p:cNvSpPr>
          <p:nvPr/>
        </p:nvSpPr>
        <p:spPr bwMode="auto">
          <a:xfrm>
            <a:off x="2428875" y="2214563"/>
            <a:ext cx="3551238" cy="1095375"/>
          </a:xfrm>
          <a:prstGeom prst="line">
            <a:avLst/>
          </a:prstGeom>
          <a:noFill/>
          <a:ln w="19050">
            <a:solidFill>
              <a:srgbClr val="000000"/>
            </a:solidFill>
            <a:round/>
            <a:headEnd/>
            <a:tailEnd type="triangle" w="med" len="med"/>
          </a:ln>
        </p:spPr>
        <p:txBody>
          <a:bodyPr/>
          <a:lstStyle/>
          <a:p>
            <a:endParaRPr lang="en-GB"/>
          </a:p>
        </p:txBody>
      </p:sp>
      <p:sp>
        <p:nvSpPr>
          <p:cNvPr id="16427" name="Line 39"/>
          <p:cNvSpPr>
            <a:spLocks noChangeShapeType="1"/>
          </p:cNvSpPr>
          <p:nvPr/>
        </p:nvSpPr>
        <p:spPr bwMode="auto">
          <a:xfrm flipH="1">
            <a:off x="2428875" y="2214563"/>
            <a:ext cx="3355975" cy="1054100"/>
          </a:xfrm>
          <a:prstGeom prst="line">
            <a:avLst/>
          </a:prstGeom>
          <a:noFill/>
          <a:ln w="19050">
            <a:solidFill>
              <a:srgbClr val="000000"/>
            </a:solidFill>
            <a:round/>
            <a:headEnd/>
            <a:tailEnd type="triangle" w="med" len="med"/>
          </a:ln>
        </p:spPr>
        <p:txBody>
          <a:bodyPr/>
          <a:lstStyle/>
          <a:p>
            <a:endParaRPr lang="en-GB"/>
          </a:p>
        </p:txBody>
      </p:sp>
      <p:grpSp>
        <p:nvGrpSpPr>
          <p:cNvPr id="2" name="Group 46"/>
          <p:cNvGrpSpPr>
            <a:grpSpLocks/>
          </p:cNvGrpSpPr>
          <p:nvPr/>
        </p:nvGrpSpPr>
        <p:grpSpPr bwMode="auto">
          <a:xfrm>
            <a:off x="300038" y="1238250"/>
            <a:ext cx="3200400" cy="904875"/>
            <a:chOff x="-628794" y="1238203"/>
            <a:chExt cx="3200530" cy="904913"/>
          </a:xfrm>
        </p:grpSpPr>
        <p:sp>
          <p:nvSpPr>
            <p:cNvPr id="25642" name="Text Box 27"/>
            <p:cNvSpPr txBox="1">
              <a:spLocks noChangeArrowheads="1"/>
            </p:cNvSpPr>
            <p:nvPr/>
          </p:nvSpPr>
          <p:spPr bwMode="auto">
            <a:xfrm>
              <a:off x="1148972" y="1736336"/>
              <a:ext cx="1422764" cy="406780"/>
            </a:xfrm>
            <a:prstGeom prst="rect">
              <a:avLst/>
            </a:prstGeom>
            <a:solidFill>
              <a:srgbClr val="00FFFF"/>
            </a:solidFill>
            <a:ln w="12700">
              <a:solidFill>
                <a:schemeClr val="tx1"/>
              </a:solidFill>
              <a:miter lim="800000"/>
              <a:headEnd/>
              <a:tailEnd/>
            </a:ln>
          </p:spPr>
          <p:txBody>
            <a:bodyPr lIns="0" tIns="0" bIns="0"/>
            <a:lstStyle/>
            <a:p>
              <a:pPr eaLnBrk="1" hangingPunct="1">
                <a:spcAft>
                  <a:spcPts val="1000"/>
                </a:spcAft>
              </a:pPr>
              <a:r>
                <a:rPr lang="en-GB" altLang="en-US">
                  <a:latin typeface="Calibri" pitchFamily="34" charset="0"/>
                </a:rPr>
                <a:t> aa</a:t>
              </a:r>
              <a:r>
                <a:rPr lang="en-GB" altLang="en-US" b="1">
                  <a:latin typeface="Calibri" pitchFamily="34" charset="0"/>
                </a:rPr>
                <a:t>ee</a:t>
              </a:r>
              <a:r>
                <a:rPr lang="en-GB" altLang="en-US">
                  <a:latin typeface="Calibri" pitchFamily="34" charset="0"/>
                </a:rPr>
                <a:t>bbbb</a:t>
              </a:r>
              <a:endParaRPr lang="en-US" altLang="en-US"/>
            </a:p>
          </p:txBody>
        </p:sp>
        <p:sp>
          <p:nvSpPr>
            <p:cNvPr id="18475" name="Text Box 40"/>
            <p:cNvSpPr txBox="1">
              <a:spLocks noChangeArrowheads="1"/>
            </p:cNvSpPr>
            <p:nvPr/>
          </p:nvSpPr>
          <p:spPr bwMode="auto">
            <a:xfrm>
              <a:off x="-628794" y="1238203"/>
              <a:ext cx="3156078" cy="357203"/>
            </a:xfrm>
            <a:prstGeom prst="rect">
              <a:avLst/>
            </a:prstGeom>
            <a:noFill/>
            <a:ln w="9525">
              <a:noFill/>
              <a:miter lim="800000"/>
              <a:headEnd/>
              <a:tailEnd/>
            </a:ln>
          </p:spPr>
          <p:txBody>
            <a:bodyPr lIns="0" tIns="0" rIns="0" bIns="0"/>
            <a:lstStyle/>
            <a:p>
              <a:pPr eaLnBrk="1" hangingPunct="1">
                <a:defRPr/>
              </a:pPr>
              <a:r>
                <a:rPr lang="en-GB" dirty="0">
                  <a:latin typeface="+mn-lt"/>
                </a:rPr>
                <a:t>parent 1 chromosome </a:t>
              </a:r>
            </a:p>
            <a:p>
              <a:pPr eaLnBrk="1" hangingPunct="1">
                <a:defRPr/>
              </a:pPr>
              <a:endParaRPr lang="en-US" dirty="0">
                <a:latin typeface="+mn-lt"/>
              </a:endParaRPr>
            </a:p>
          </p:txBody>
        </p:sp>
      </p:grpSp>
      <p:grpSp>
        <p:nvGrpSpPr>
          <p:cNvPr id="3" name="Group 47"/>
          <p:cNvGrpSpPr>
            <a:grpSpLocks/>
          </p:cNvGrpSpPr>
          <p:nvPr/>
        </p:nvGrpSpPr>
        <p:grpSpPr bwMode="auto">
          <a:xfrm>
            <a:off x="2819400" y="3790950"/>
            <a:ext cx="4125913" cy="1612900"/>
            <a:chOff x="2819352" y="3790950"/>
            <a:chExt cx="4125969" cy="1612917"/>
          </a:xfrm>
        </p:grpSpPr>
        <p:sp>
          <p:nvSpPr>
            <p:cNvPr id="18472" name="Text Box 45"/>
            <p:cNvSpPr txBox="1">
              <a:spLocks noChangeArrowheads="1"/>
            </p:cNvSpPr>
            <p:nvPr/>
          </p:nvSpPr>
          <p:spPr bwMode="auto">
            <a:xfrm>
              <a:off x="2819352" y="4670434"/>
              <a:ext cx="4125969" cy="733433"/>
            </a:xfrm>
            <a:prstGeom prst="rect">
              <a:avLst/>
            </a:prstGeom>
            <a:noFill/>
            <a:ln w="9525">
              <a:noFill/>
              <a:miter lim="800000"/>
              <a:headEnd/>
              <a:tailEnd/>
            </a:ln>
          </p:spPr>
          <p:txBody>
            <a:bodyPr lIns="0" tIns="0" rIns="0" bIns="0"/>
            <a:lstStyle/>
            <a:p>
              <a:pPr eaLnBrk="1" hangingPunct="1">
                <a:defRPr/>
              </a:pPr>
              <a:r>
                <a:rPr lang="en-GB" dirty="0">
                  <a:latin typeface="+mn-lt"/>
                </a:rPr>
                <a:t>building block </a:t>
              </a:r>
              <a:r>
                <a:rPr lang="en-GB" b="1" dirty="0" err="1">
                  <a:latin typeface="+mn-lt"/>
                </a:rPr>
                <a:t>ee</a:t>
              </a:r>
              <a:r>
                <a:rPr lang="en-GB" dirty="0">
                  <a:latin typeface="+mn-lt"/>
                </a:rPr>
                <a:t> transferred without change</a:t>
              </a:r>
              <a:endParaRPr lang="en-US" dirty="0">
                <a:latin typeface="+mn-lt"/>
              </a:endParaRPr>
            </a:p>
          </p:txBody>
        </p:sp>
        <p:sp>
          <p:nvSpPr>
            <p:cNvPr id="25641" name="Line 46"/>
            <p:cNvSpPr>
              <a:spLocks noChangeShapeType="1"/>
            </p:cNvSpPr>
            <p:nvPr/>
          </p:nvSpPr>
          <p:spPr bwMode="auto">
            <a:xfrm flipV="1">
              <a:off x="4268293" y="3790950"/>
              <a:ext cx="1722070" cy="1070381"/>
            </a:xfrm>
            <a:prstGeom prst="line">
              <a:avLst/>
            </a:prstGeom>
            <a:noFill/>
            <a:ln w="19050">
              <a:solidFill>
                <a:srgbClr val="000000"/>
              </a:solidFill>
              <a:round/>
              <a:headEnd/>
              <a:tailEnd type="triangle" w="med" len="med"/>
            </a:ln>
          </p:spPr>
          <p:txBody>
            <a:bodyPr/>
            <a:lstStyle/>
            <a:p>
              <a:endParaRPr lang="en-GB"/>
            </a:p>
          </p:txBody>
        </p:sp>
      </p:grpSp>
      <p:sp>
        <p:nvSpPr>
          <p:cNvPr id="18454" name="Rectangle 49"/>
          <p:cNvSpPr>
            <a:spLocks noChangeArrowheads="1"/>
          </p:cNvSpPr>
          <p:nvPr/>
        </p:nvSpPr>
        <p:spPr bwMode="auto">
          <a:xfrm>
            <a:off x="581025" y="5437188"/>
            <a:ext cx="8562975" cy="1200150"/>
          </a:xfrm>
          <a:prstGeom prst="rect">
            <a:avLst/>
          </a:prstGeom>
          <a:noFill/>
          <a:ln w="9525">
            <a:noFill/>
            <a:miter lim="800000"/>
            <a:headEnd/>
            <a:tailEnd/>
          </a:ln>
        </p:spPr>
        <p:txBody>
          <a:bodyPr>
            <a:spAutoFit/>
          </a:bodyPr>
          <a:lstStyle/>
          <a:p>
            <a:pPr marL="287338" indent="-457200" eaLnBrk="1" hangingPunct="1"/>
            <a:r>
              <a:rPr lang="en-US" altLang="en-US" dirty="0"/>
              <a:t>Fig. 9. Crossover operator. Building blocks with high fitness transferred and accumulated together to give high fitness of the offspring chromosome.</a:t>
            </a:r>
            <a:endParaRPr lang="en-GB" altLang="en-US" dirty="0"/>
          </a:p>
        </p:txBody>
      </p:sp>
      <p:grpSp>
        <p:nvGrpSpPr>
          <p:cNvPr id="4" name="Group 47"/>
          <p:cNvGrpSpPr>
            <a:grpSpLocks/>
          </p:cNvGrpSpPr>
          <p:nvPr/>
        </p:nvGrpSpPr>
        <p:grpSpPr bwMode="auto">
          <a:xfrm>
            <a:off x="5521325" y="1201738"/>
            <a:ext cx="3395663" cy="963612"/>
            <a:chOff x="4592455" y="1201618"/>
            <a:chExt cx="3395713" cy="963109"/>
          </a:xfrm>
        </p:grpSpPr>
        <p:sp>
          <p:nvSpPr>
            <p:cNvPr id="25638" name="Text Box 33"/>
            <p:cNvSpPr txBox="1">
              <a:spLocks noChangeArrowheads="1"/>
            </p:cNvSpPr>
            <p:nvPr/>
          </p:nvSpPr>
          <p:spPr bwMode="auto">
            <a:xfrm>
              <a:off x="4657534" y="1740951"/>
              <a:ext cx="1339632" cy="423776"/>
            </a:xfrm>
            <a:prstGeom prst="rect">
              <a:avLst/>
            </a:prstGeom>
            <a:solidFill>
              <a:srgbClr val="FF99CC"/>
            </a:solidFill>
            <a:ln w="12700">
              <a:solidFill>
                <a:schemeClr val="tx1"/>
              </a:solidFill>
              <a:miter lim="800000"/>
              <a:headEnd/>
              <a:tailEnd/>
            </a:ln>
          </p:spPr>
          <p:txBody>
            <a:bodyPr tIns="0" rIns="0" bIns="0"/>
            <a:lstStyle/>
            <a:p>
              <a:pPr eaLnBrk="1" hangingPunct="1">
                <a:spcAft>
                  <a:spcPts val="1000"/>
                </a:spcAft>
              </a:pPr>
              <a:r>
                <a:rPr lang="en-GB" altLang="en-US">
                  <a:latin typeface="Calibri" pitchFamily="34" charset="0"/>
                </a:rPr>
                <a:t>cccchhhh</a:t>
              </a:r>
              <a:endParaRPr lang="en-US" altLang="en-US"/>
            </a:p>
          </p:txBody>
        </p:sp>
        <p:sp>
          <p:nvSpPr>
            <p:cNvPr id="18471" name="Text Box 40"/>
            <p:cNvSpPr txBox="1">
              <a:spLocks noChangeArrowheads="1"/>
            </p:cNvSpPr>
            <p:nvPr/>
          </p:nvSpPr>
          <p:spPr bwMode="auto">
            <a:xfrm>
              <a:off x="4592455" y="1201618"/>
              <a:ext cx="3395713" cy="357001"/>
            </a:xfrm>
            <a:prstGeom prst="rect">
              <a:avLst/>
            </a:prstGeom>
            <a:noFill/>
            <a:ln w="9525">
              <a:noFill/>
              <a:miter lim="800000"/>
              <a:headEnd/>
              <a:tailEnd/>
            </a:ln>
          </p:spPr>
          <p:txBody>
            <a:bodyPr lIns="0" tIns="0" rIns="0" bIns="0"/>
            <a:lstStyle/>
            <a:p>
              <a:pPr eaLnBrk="1" hangingPunct="1">
                <a:defRPr/>
              </a:pPr>
              <a:r>
                <a:rPr lang="en-GB" dirty="0">
                  <a:latin typeface="+mn-lt"/>
                </a:rPr>
                <a:t>parent 2 chromosome </a:t>
              </a:r>
            </a:p>
            <a:p>
              <a:pPr eaLnBrk="1" hangingPunct="1">
                <a:defRPr/>
              </a:pPr>
              <a:endParaRPr lang="en-US" dirty="0">
                <a:latin typeface="+mn-lt"/>
              </a:endParaRPr>
            </a:p>
          </p:txBody>
        </p:sp>
      </p:grpSp>
      <p:grpSp>
        <p:nvGrpSpPr>
          <p:cNvPr id="5" name="Group 52"/>
          <p:cNvGrpSpPr>
            <a:grpSpLocks/>
          </p:cNvGrpSpPr>
          <p:nvPr/>
        </p:nvGrpSpPr>
        <p:grpSpPr bwMode="auto">
          <a:xfrm>
            <a:off x="1687513" y="4143375"/>
            <a:ext cx="5768975" cy="357188"/>
            <a:chOff x="758759" y="4143380"/>
            <a:chExt cx="5769093" cy="357191"/>
          </a:xfrm>
        </p:grpSpPr>
        <p:sp>
          <p:nvSpPr>
            <p:cNvPr id="18468" name="Text Box 42"/>
            <p:cNvSpPr txBox="1">
              <a:spLocks noChangeArrowheads="1"/>
            </p:cNvSpPr>
            <p:nvPr/>
          </p:nvSpPr>
          <p:spPr bwMode="auto">
            <a:xfrm>
              <a:off x="758759" y="4143380"/>
              <a:ext cx="1812962" cy="357191"/>
            </a:xfrm>
            <a:prstGeom prst="rect">
              <a:avLst/>
            </a:prstGeom>
            <a:noFill/>
            <a:ln w="9525">
              <a:noFill/>
              <a:miter lim="800000"/>
              <a:headEnd/>
              <a:tailEnd/>
            </a:ln>
          </p:spPr>
          <p:txBody>
            <a:bodyPr lIns="0" tIns="0" rIns="0" bIns="0"/>
            <a:lstStyle/>
            <a:p>
              <a:pPr eaLnBrk="1" hangingPunct="1">
                <a:defRPr/>
              </a:pPr>
              <a:r>
                <a:rPr lang="en-GB" dirty="0">
                  <a:latin typeface="+mn-lt"/>
                </a:rPr>
                <a:t>offspring 1</a:t>
              </a:r>
              <a:endParaRPr lang="en-US" dirty="0">
                <a:latin typeface="+mn-lt"/>
              </a:endParaRPr>
            </a:p>
          </p:txBody>
        </p:sp>
        <p:sp>
          <p:nvSpPr>
            <p:cNvPr id="18469" name="Text Box 42"/>
            <p:cNvSpPr txBox="1">
              <a:spLocks noChangeArrowheads="1"/>
            </p:cNvSpPr>
            <p:nvPr/>
          </p:nvSpPr>
          <p:spPr bwMode="auto">
            <a:xfrm>
              <a:off x="4714890" y="4143380"/>
              <a:ext cx="1812962" cy="357191"/>
            </a:xfrm>
            <a:prstGeom prst="rect">
              <a:avLst/>
            </a:prstGeom>
            <a:noFill/>
            <a:ln w="9525">
              <a:noFill/>
              <a:miter lim="800000"/>
              <a:headEnd/>
              <a:tailEnd/>
            </a:ln>
          </p:spPr>
          <p:txBody>
            <a:bodyPr lIns="0" tIns="0" rIns="0" bIns="0"/>
            <a:lstStyle/>
            <a:p>
              <a:pPr eaLnBrk="1" hangingPunct="1">
                <a:defRPr/>
              </a:pPr>
              <a:r>
                <a:rPr lang="en-GB" dirty="0">
                  <a:latin typeface="+mn-lt"/>
                </a:rPr>
                <a:t>offspring 2</a:t>
              </a:r>
              <a:endParaRPr lang="en-US" dirty="0">
                <a:latin typeface="+mn-lt"/>
              </a:endParaRPr>
            </a:p>
          </p:txBody>
        </p:sp>
      </p:grpSp>
      <p:grpSp>
        <p:nvGrpSpPr>
          <p:cNvPr id="6" name="Group 46"/>
          <p:cNvGrpSpPr>
            <a:grpSpLocks/>
          </p:cNvGrpSpPr>
          <p:nvPr/>
        </p:nvGrpSpPr>
        <p:grpSpPr bwMode="auto">
          <a:xfrm>
            <a:off x="2749550" y="398463"/>
            <a:ext cx="4013200" cy="1944687"/>
            <a:chOff x="2749550" y="398508"/>
            <a:chExt cx="4013244" cy="1944260"/>
          </a:xfrm>
        </p:grpSpPr>
        <p:sp>
          <p:nvSpPr>
            <p:cNvPr id="18465" name="Text Box 44"/>
            <p:cNvSpPr txBox="1">
              <a:spLocks noChangeArrowheads="1"/>
            </p:cNvSpPr>
            <p:nvPr/>
          </p:nvSpPr>
          <p:spPr bwMode="auto">
            <a:xfrm>
              <a:off x="2855914" y="398508"/>
              <a:ext cx="3906880" cy="693585"/>
            </a:xfrm>
            <a:prstGeom prst="rect">
              <a:avLst/>
            </a:prstGeom>
            <a:noFill/>
            <a:ln w="9525">
              <a:noFill/>
              <a:miter lim="800000"/>
              <a:headEnd/>
              <a:tailEnd/>
            </a:ln>
          </p:spPr>
          <p:txBody>
            <a:bodyPr lIns="0" tIns="0" rIns="0" bIns="0"/>
            <a:lstStyle/>
            <a:p>
              <a:pPr eaLnBrk="1" hangingPunct="1">
                <a:spcAft>
                  <a:spcPts val="1000"/>
                </a:spcAft>
                <a:defRPr/>
              </a:pPr>
              <a:r>
                <a:rPr lang="en-GB" dirty="0">
                  <a:latin typeface="+mn-lt"/>
                </a:rPr>
                <a:t>randomly chosen single crossover point = 4</a:t>
              </a:r>
              <a:endParaRPr lang="en-US" dirty="0">
                <a:latin typeface="+mn-lt"/>
              </a:endParaRPr>
            </a:p>
          </p:txBody>
        </p:sp>
        <p:sp>
          <p:nvSpPr>
            <p:cNvPr id="25634" name="Line 48"/>
            <p:cNvSpPr>
              <a:spLocks noChangeShapeType="1"/>
            </p:cNvSpPr>
            <p:nvPr/>
          </p:nvSpPr>
          <p:spPr bwMode="auto">
            <a:xfrm>
              <a:off x="6215075" y="1500188"/>
              <a:ext cx="0" cy="825118"/>
            </a:xfrm>
            <a:prstGeom prst="line">
              <a:avLst/>
            </a:prstGeom>
            <a:noFill/>
            <a:ln w="9525">
              <a:solidFill>
                <a:srgbClr val="000000"/>
              </a:solidFill>
              <a:round/>
              <a:headEnd/>
              <a:tailEnd/>
            </a:ln>
          </p:spPr>
          <p:txBody>
            <a:bodyPr/>
            <a:lstStyle/>
            <a:p>
              <a:endParaRPr lang="en-GB"/>
            </a:p>
          </p:txBody>
        </p:sp>
        <p:sp>
          <p:nvSpPr>
            <p:cNvPr id="25635" name="Line 48"/>
            <p:cNvSpPr>
              <a:spLocks noChangeShapeType="1"/>
            </p:cNvSpPr>
            <p:nvPr/>
          </p:nvSpPr>
          <p:spPr bwMode="auto">
            <a:xfrm>
              <a:off x="2749550" y="1517650"/>
              <a:ext cx="0" cy="825118"/>
            </a:xfrm>
            <a:prstGeom prst="line">
              <a:avLst/>
            </a:prstGeom>
            <a:noFill/>
            <a:ln w="9525">
              <a:solidFill>
                <a:srgbClr val="000000"/>
              </a:solidFill>
              <a:round/>
              <a:headEnd/>
              <a:tailEnd/>
            </a:ln>
          </p:spPr>
          <p:txBody>
            <a:bodyPr/>
            <a:lstStyle/>
            <a:p>
              <a:endParaRPr lang="en-GB"/>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426"/>
                                        </p:tgtEl>
                                        <p:attrNameLst>
                                          <p:attrName>style.visibility</p:attrName>
                                        </p:attrNameLst>
                                      </p:cBhvr>
                                      <p:to>
                                        <p:strVal val="visible"/>
                                      </p:to>
                                    </p:set>
                                    <p:animEffect transition="in" filter="blinds(horizontal)">
                                      <p:cBhvr>
                                        <p:cTn id="22" dur="500"/>
                                        <p:tgtEl>
                                          <p:spTgt spid="1642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427"/>
                                        </p:tgtEl>
                                        <p:attrNameLst>
                                          <p:attrName>style.visibility</p:attrName>
                                        </p:attrNameLst>
                                      </p:cBhvr>
                                      <p:to>
                                        <p:strVal val="visible"/>
                                      </p:to>
                                    </p:set>
                                    <p:animEffect transition="in" filter="blinds(horizontal)">
                                      <p:cBhvr>
                                        <p:cTn id="27" dur="500"/>
                                        <p:tgtEl>
                                          <p:spTgt spid="1642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1" nodeType="clickEffect">
                                  <p:stCondLst>
                                    <p:cond delay="0"/>
                                  </p:stCondLst>
                                  <p:childTnLst>
                                    <p:set>
                                      <p:cBhvr>
                                        <p:cTn id="31" dur="1" fill="hold">
                                          <p:stCondLst>
                                            <p:cond delay="0"/>
                                          </p:stCondLst>
                                        </p:cTn>
                                        <p:tgtEl>
                                          <p:spTgt spid="16424"/>
                                        </p:tgtEl>
                                        <p:attrNameLst>
                                          <p:attrName>style.visibility</p:attrName>
                                        </p:attrNameLst>
                                      </p:cBhvr>
                                      <p:to>
                                        <p:strVal val="visible"/>
                                      </p:to>
                                    </p:set>
                                    <p:animEffect transition="in" filter="blinds(horizontal)">
                                      <p:cBhvr>
                                        <p:cTn id="32" dur="500"/>
                                        <p:tgtEl>
                                          <p:spTgt spid="16424"/>
                                        </p:tgtEl>
                                      </p:cBhvr>
                                    </p:animEffect>
                                  </p:childTnLst>
                                </p:cTn>
                              </p:par>
                              <p:par>
                                <p:cTn id="33" presetID="3" presetClass="entr" presetSubtype="10" fill="hold" grpId="1" nodeType="withEffect">
                                  <p:stCondLst>
                                    <p:cond delay="0"/>
                                  </p:stCondLst>
                                  <p:childTnLst>
                                    <p:set>
                                      <p:cBhvr>
                                        <p:cTn id="34" dur="1" fill="hold">
                                          <p:stCondLst>
                                            <p:cond delay="0"/>
                                          </p:stCondLst>
                                        </p:cTn>
                                        <p:tgtEl>
                                          <p:spTgt spid="16425"/>
                                        </p:tgtEl>
                                        <p:attrNameLst>
                                          <p:attrName>style.visibility</p:attrName>
                                        </p:attrNameLst>
                                      </p:cBhvr>
                                      <p:to>
                                        <p:strVal val="visible"/>
                                      </p:to>
                                    </p:set>
                                    <p:animEffect transition="in" filter="blinds(horizontal)">
                                      <p:cBhvr>
                                        <p:cTn id="35" dur="500"/>
                                        <p:tgtEl>
                                          <p:spTgt spid="1642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grpId="1" nodeType="clickEffect">
                                  <p:stCondLst>
                                    <p:cond delay="0"/>
                                  </p:stCondLst>
                                  <p:childTnLst>
                                    <p:set>
                                      <p:cBhvr>
                                        <p:cTn id="39" dur="1" fill="hold">
                                          <p:stCondLst>
                                            <p:cond delay="0"/>
                                          </p:stCondLst>
                                        </p:cTn>
                                        <p:tgtEl>
                                          <p:spTgt spid="16429"/>
                                        </p:tgtEl>
                                        <p:attrNameLst>
                                          <p:attrName>style.visibility</p:attrName>
                                        </p:attrNameLst>
                                      </p:cBhvr>
                                      <p:to>
                                        <p:strVal val="visible"/>
                                      </p:to>
                                    </p:set>
                                    <p:animEffect transition="in" filter="blinds(horizontal)">
                                      <p:cBhvr>
                                        <p:cTn id="40" dur="500"/>
                                        <p:tgtEl>
                                          <p:spTgt spid="16429"/>
                                        </p:tgtEl>
                                      </p:cBhvr>
                                    </p:animEffect>
                                  </p:childTnLst>
                                </p:cTn>
                              </p:par>
                              <p:par>
                                <p:cTn id="41" presetID="3" presetClass="entr" presetSubtype="10" fill="hold" grpId="1" nodeType="withEffect">
                                  <p:stCondLst>
                                    <p:cond delay="0"/>
                                  </p:stCondLst>
                                  <p:childTnLst>
                                    <p:set>
                                      <p:cBhvr>
                                        <p:cTn id="42" dur="1" fill="hold">
                                          <p:stCondLst>
                                            <p:cond delay="0"/>
                                          </p:stCondLst>
                                        </p:cTn>
                                        <p:tgtEl>
                                          <p:spTgt spid="16428"/>
                                        </p:tgtEl>
                                        <p:attrNameLst>
                                          <p:attrName>style.visibility</p:attrName>
                                        </p:attrNameLst>
                                      </p:cBhvr>
                                      <p:to>
                                        <p:strVal val="visible"/>
                                      </p:to>
                                    </p:set>
                                    <p:animEffect transition="in" filter="blinds(horizontal)">
                                      <p:cBhvr>
                                        <p:cTn id="43" dur="500"/>
                                        <p:tgtEl>
                                          <p:spTgt spid="1642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blinds(horizontal)">
                                      <p:cBhvr>
                                        <p:cTn id="48" dur="500"/>
                                        <p:tgtEl>
                                          <p:spTgt spid="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nodeType="clickEffect">
                                  <p:stCondLst>
                                    <p:cond delay="0"/>
                                  </p:stCondLst>
                                  <p:childTnLst>
                                    <p:set>
                                      <p:cBhvr>
                                        <p:cTn id="52" dur="1" fill="hold">
                                          <p:stCondLst>
                                            <p:cond delay="0"/>
                                          </p:stCondLst>
                                        </p:cTn>
                                        <p:tgtEl>
                                          <p:spTgt spid="3"/>
                                        </p:tgtEl>
                                        <p:attrNameLst>
                                          <p:attrName>style.visibility</p:attrName>
                                        </p:attrNameLst>
                                      </p:cBhvr>
                                      <p:to>
                                        <p:strVal val="visible"/>
                                      </p:to>
                                    </p:set>
                                    <p:animEffect transition="in" filter="blinds(horizontal)">
                                      <p:cBhvr>
                                        <p:cTn id="53" dur="500"/>
                                        <p:tgtEl>
                                          <p:spTgt spid="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0" presetClass="path" presetSubtype="0" accel="50000" decel="50000" autoRev="1" fill="hold" grpId="0" nodeType="clickEffect">
                                  <p:stCondLst>
                                    <p:cond delay="0"/>
                                  </p:stCondLst>
                                  <p:childTnLst>
                                    <p:animMotion origin="layout" path="M 5E-6 -4.07407E-6 L 0.36233 -0.22708 " pathEditMode="relative" rAng="0" ptsTypes="AA">
                                      <p:cBhvr>
                                        <p:cTn id="57" dur="2000" fill="hold"/>
                                        <p:tgtEl>
                                          <p:spTgt spid="16424"/>
                                        </p:tgtEl>
                                        <p:attrNameLst>
                                          <p:attrName>ppt_x</p:attrName>
                                          <p:attrName>ppt_y</p:attrName>
                                        </p:attrNameLst>
                                      </p:cBhvr>
                                      <p:rCtr x="18100" y="-11400"/>
                                    </p:animMotion>
                                  </p:childTnLst>
                                </p:cTn>
                              </p:par>
                            </p:childTnLst>
                          </p:cTn>
                        </p:par>
                      </p:childTnLst>
                    </p:cTn>
                  </p:par>
                  <p:par>
                    <p:cTn id="58" fill="hold" nodeType="clickPar">
                      <p:stCondLst>
                        <p:cond delay="indefinite"/>
                      </p:stCondLst>
                      <p:childTnLst>
                        <p:par>
                          <p:cTn id="59" fill="hold" nodeType="withGroup">
                            <p:stCondLst>
                              <p:cond delay="0"/>
                            </p:stCondLst>
                            <p:childTnLst>
                              <p:par>
                                <p:cTn id="60" presetID="0" presetClass="path" presetSubtype="0" accel="50000" decel="50000" autoRev="1" fill="hold" grpId="0" nodeType="clickEffect">
                                  <p:stCondLst>
                                    <p:cond delay="0"/>
                                  </p:stCondLst>
                                  <p:childTnLst>
                                    <p:animMotion origin="layout" path="M -1.38889E-6 -1.11111E-6 L 0.02309 -0.22662 " pathEditMode="relative" rAng="0" ptsTypes="AA">
                                      <p:cBhvr>
                                        <p:cTn id="61" dur="2000" fill="hold"/>
                                        <p:tgtEl>
                                          <p:spTgt spid="16425"/>
                                        </p:tgtEl>
                                        <p:attrNameLst>
                                          <p:attrName>ppt_x</p:attrName>
                                          <p:attrName>ppt_y</p:attrName>
                                        </p:attrNameLst>
                                      </p:cBhvr>
                                      <p:rCtr x="1100" y="-11300"/>
                                    </p:animMotion>
                                  </p:childTnLst>
                                </p:cTn>
                              </p:par>
                            </p:childTnLst>
                          </p:cTn>
                        </p:par>
                      </p:childTnLst>
                    </p:cTn>
                  </p:par>
                  <p:par>
                    <p:cTn id="62" fill="hold" nodeType="clickPar">
                      <p:stCondLst>
                        <p:cond delay="indefinite"/>
                      </p:stCondLst>
                      <p:childTnLst>
                        <p:par>
                          <p:cTn id="63" fill="hold" nodeType="withGroup">
                            <p:stCondLst>
                              <p:cond delay="0"/>
                            </p:stCondLst>
                            <p:childTnLst>
                              <p:par>
                                <p:cTn id="64" presetID="0" presetClass="path" presetSubtype="0" accel="50000" decel="50000" autoRev="1" fill="hold" grpId="0" nodeType="clickEffect">
                                  <p:stCondLst>
                                    <p:cond delay="0"/>
                                  </p:stCondLst>
                                  <p:childTnLst>
                                    <p:animMotion origin="layout" path="M 2.22222E-6 -1.11111E-6 L -0.39393 -0.22014 " pathEditMode="relative" rAng="0" ptsTypes="AA">
                                      <p:cBhvr>
                                        <p:cTn id="65" dur="2000" fill="hold"/>
                                        <p:tgtEl>
                                          <p:spTgt spid="16428"/>
                                        </p:tgtEl>
                                        <p:attrNameLst>
                                          <p:attrName>ppt_x</p:attrName>
                                          <p:attrName>ppt_y</p:attrName>
                                        </p:attrNameLst>
                                      </p:cBhvr>
                                      <p:rCtr x="-19700" y="-11000"/>
                                    </p:animMotion>
                                  </p:childTnLst>
                                </p:cTn>
                              </p:par>
                            </p:childTnLst>
                          </p:cTn>
                        </p:par>
                      </p:childTnLst>
                    </p:cTn>
                  </p:par>
                  <p:par>
                    <p:cTn id="66" fill="hold" nodeType="clickPar">
                      <p:stCondLst>
                        <p:cond delay="indefinite"/>
                      </p:stCondLst>
                      <p:childTnLst>
                        <p:par>
                          <p:cTn id="67" fill="hold" nodeType="withGroup">
                            <p:stCondLst>
                              <p:cond delay="0"/>
                            </p:stCondLst>
                            <p:childTnLst>
                              <p:par>
                                <p:cTn id="68" presetID="0" presetClass="path" presetSubtype="0" accel="50000" decel="50000" autoRev="1" fill="hold" grpId="0" nodeType="clickEffect">
                                  <p:stCondLst>
                                    <p:cond delay="0"/>
                                  </p:stCondLst>
                                  <p:childTnLst>
                                    <p:animMotion origin="layout" path="M 9.16667E-6 -2.96296E-6 L 9.16667E-6 -0.22315 " pathEditMode="relative" ptsTypes="AA">
                                      <p:cBhvr>
                                        <p:cTn id="69" dur="2000" fill="hold"/>
                                        <p:tgtEl>
                                          <p:spTgt spid="16429"/>
                                        </p:tgtEl>
                                        <p:attrNameLst>
                                          <p:attrName>ppt_x</p:attrName>
                                          <p:attrName>ppt_y</p:attrName>
                                        </p:attrNameLst>
                                      </p:cBhvr>
                                    </p:animMotion>
                                  </p:childTnLst>
                                </p:cTn>
                              </p:par>
                            </p:childTnLst>
                          </p:cTn>
                        </p:par>
                      </p:childTnLst>
                    </p:cTn>
                  </p:par>
                  <p:par>
                    <p:cTn id="70" fill="hold" nodeType="clickPar">
                      <p:stCondLst>
                        <p:cond delay="indefinite"/>
                      </p:stCondLst>
                      <p:childTnLst>
                        <p:par>
                          <p:cTn id="71" fill="hold" nodeType="withGroup">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18454"/>
                                        </p:tgtEl>
                                        <p:attrNameLst>
                                          <p:attrName>style.visibility</p:attrName>
                                        </p:attrNameLst>
                                      </p:cBhvr>
                                      <p:to>
                                        <p:strVal val="visible"/>
                                      </p:to>
                                    </p:set>
                                    <p:animEffect transition="in" filter="blinds(horizontal)">
                                      <p:cBhvr>
                                        <p:cTn id="74" dur="500"/>
                                        <p:tgtEl>
                                          <p:spTgt spid="184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28" grpId="0" animBg="1"/>
      <p:bldP spid="16428" grpId="1" animBg="1"/>
      <p:bldP spid="16429" grpId="0" animBg="1"/>
      <p:bldP spid="16429" grpId="1" animBg="1"/>
      <p:bldP spid="16424" grpId="0" animBg="1"/>
      <p:bldP spid="16424" grpId="1" animBg="1"/>
      <p:bldP spid="16425" grpId="0" animBg="1"/>
      <p:bldP spid="16425" grpId="1" animBg="1"/>
      <p:bldP spid="16426" grpId="0" animBg="1"/>
      <p:bldP spid="16427" grpId="0" animBg="1"/>
      <p:bldP spid="1845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Date Placeholder 3"/>
          <p:cNvSpPr txBox="1">
            <a:spLocks noGrp="1"/>
          </p:cNvSpPr>
          <p:nvPr/>
        </p:nvSpPr>
        <p:spPr bwMode="auto">
          <a:xfrm>
            <a:off x="0" y="6400800"/>
            <a:ext cx="1905000" cy="457200"/>
          </a:xfrm>
          <a:prstGeom prst="rect">
            <a:avLst/>
          </a:prstGeom>
          <a:noFill/>
          <a:ln w="9525">
            <a:noFill/>
            <a:miter lim="800000"/>
            <a:headEnd/>
            <a:tailEnd/>
          </a:ln>
        </p:spPr>
        <p:txBody>
          <a:bodyPr anchor="b"/>
          <a:lstStyle/>
          <a:p>
            <a:pPr eaLnBrk="1" hangingPunct="1"/>
            <a:fld id="{128BD567-01AB-4B27-8950-3DB03FB096D1}" type="datetime1">
              <a:rPr lang="en-GB" altLang="en-US" sz="1200"/>
              <a:pPr eaLnBrk="1" hangingPunct="1"/>
              <a:t>17/02/2026</a:t>
            </a:fld>
            <a:endParaRPr lang="en-GB" altLang="en-US" sz="1200"/>
          </a:p>
        </p:txBody>
      </p:sp>
      <p:sp>
        <p:nvSpPr>
          <p:cNvPr id="26628" name="Slide Number Placeholder 5"/>
          <p:cNvSpPr txBox="1">
            <a:spLocks noGrp="1"/>
          </p:cNvSpPr>
          <p:nvPr/>
        </p:nvSpPr>
        <p:spPr bwMode="auto">
          <a:xfrm>
            <a:off x="7239000" y="6400800"/>
            <a:ext cx="1905000" cy="457200"/>
          </a:xfrm>
          <a:prstGeom prst="rect">
            <a:avLst/>
          </a:prstGeom>
          <a:noFill/>
          <a:ln w="9525">
            <a:noFill/>
            <a:miter lim="800000"/>
            <a:headEnd/>
            <a:tailEnd/>
          </a:ln>
        </p:spPr>
        <p:txBody>
          <a:bodyPr anchor="b"/>
          <a:lstStyle/>
          <a:p>
            <a:pPr algn="r" eaLnBrk="1" hangingPunct="1"/>
            <a:fld id="{0CB80C61-3213-40D2-A7FB-4DB591B37004}" type="slidenum">
              <a:rPr lang="en-GB" altLang="en-US" sz="1200"/>
              <a:pPr algn="r" eaLnBrk="1" hangingPunct="1"/>
              <a:t>24</a:t>
            </a:fld>
            <a:endParaRPr lang="en-GB" altLang="en-US" sz="1200"/>
          </a:p>
        </p:txBody>
      </p:sp>
      <p:sp>
        <p:nvSpPr>
          <p:cNvPr id="26629" name="Rectangle 2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30"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31"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32"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33"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34"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35"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36"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37"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38"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39" name="Rectangle 1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40"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41" name="Rectangle 9"/>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42"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43"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2" name="Rectangle 3"/>
          <p:cNvSpPr txBox="1">
            <a:spLocks noChangeArrowheads="1"/>
          </p:cNvSpPr>
          <p:nvPr/>
        </p:nvSpPr>
        <p:spPr bwMode="auto">
          <a:xfrm>
            <a:off x="555625" y="873125"/>
            <a:ext cx="8358188" cy="1643063"/>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dirty="0"/>
              <a:t>For example, considering the </a:t>
            </a:r>
            <a:r>
              <a:rPr lang="en-US" altLang="en-US" i="1" dirty="0"/>
              <a:t>Cookie</a:t>
            </a:r>
            <a:r>
              <a:rPr lang="en-US" altLang="en-US" dirty="0"/>
              <a:t> problem from Fig.1, if we crossover chromosome </a:t>
            </a:r>
            <a:r>
              <a:rPr lang="en-US" altLang="en-US" b="1" dirty="0">
                <a:solidFill>
                  <a:srgbClr val="0037A4"/>
                </a:solidFill>
              </a:rPr>
              <a:t>52</a:t>
            </a:r>
            <a:r>
              <a:rPr lang="en-US" altLang="en-US" dirty="0"/>
              <a:t>  (fitness </a:t>
            </a:r>
            <a:r>
              <a:rPr lang="en-US" altLang="en-US" dirty="0">
                <a:solidFill>
                  <a:srgbClr val="FF0000"/>
                </a:solidFill>
              </a:rPr>
              <a:t>6</a:t>
            </a:r>
            <a:r>
              <a:rPr lang="en-US" altLang="en-US" dirty="0"/>
              <a:t>) and chromosome </a:t>
            </a:r>
            <a:r>
              <a:rPr lang="en-US" altLang="en-US" b="1" dirty="0">
                <a:solidFill>
                  <a:srgbClr val="0037A4"/>
                </a:solidFill>
              </a:rPr>
              <a:t>14</a:t>
            </a:r>
            <a:r>
              <a:rPr lang="en-US" altLang="en-US" dirty="0"/>
              <a:t> (fitness </a:t>
            </a:r>
            <a:r>
              <a:rPr lang="en-US" altLang="en-US" dirty="0">
                <a:solidFill>
                  <a:srgbClr val="FF0000"/>
                </a:solidFill>
              </a:rPr>
              <a:t>4</a:t>
            </a:r>
            <a:r>
              <a:rPr lang="en-US" altLang="en-US" dirty="0"/>
              <a:t>), we would receive two offspring: chromosomes </a:t>
            </a:r>
            <a:r>
              <a:rPr lang="en-US" altLang="en-US" b="1" dirty="0">
                <a:solidFill>
                  <a:srgbClr val="0037A4"/>
                </a:solidFill>
              </a:rPr>
              <a:t>54</a:t>
            </a:r>
            <a:r>
              <a:rPr lang="en-US" altLang="en-US" dirty="0"/>
              <a:t> (fitness </a:t>
            </a:r>
            <a:r>
              <a:rPr lang="en-US" altLang="en-US" dirty="0">
                <a:solidFill>
                  <a:srgbClr val="FF0000"/>
                </a:solidFill>
              </a:rPr>
              <a:t>8</a:t>
            </a:r>
            <a:r>
              <a:rPr lang="en-US" altLang="en-US" dirty="0"/>
              <a:t>) and </a:t>
            </a:r>
            <a:r>
              <a:rPr lang="en-US" altLang="en-US" b="1" dirty="0">
                <a:solidFill>
                  <a:srgbClr val="0037A4"/>
                </a:solidFill>
              </a:rPr>
              <a:t>12</a:t>
            </a:r>
            <a:r>
              <a:rPr lang="en-US" altLang="en-US" dirty="0"/>
              <a:t> (fitness </a:t>
            </a:r>
            <a:r>
              <a:rPr lang="en-US" altLang="en-US" dirty="0">
                <a:solidFill>
                  <a:srgbClr val="FF0000"/>
                </a:solidFill>
              </a:rPr>
              <a:t>2</a:t>
            </a:r>
            <a:r>
              <a:rPr lang="en-US" altLang="en-US" dirty="0"/>
              <a:t>).</a:t>
            </a:r>
            <a:endParaRPr lang="en-GB" altLang="en-US" dirty="0">
              <a:cs typeface="Tahoma" pitchFamily="34" charset="0"/>
            </a:endParaRPr>
          </a:p>
        </p:txBody>
      </p:sp>
      <p:sp>
        <p:nvSpPr>
          <p:cNvPr id="26646" name="Rectangle 2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grpSp>
        <p:nvGrpSpPr>
          <p:cNvPr id="2" name="Group 11">
            <a:extLst>
              <a:ext uri="{FF2B5EF4-FFF2-40B4-BE49-F238E27FC236}">
                <a16:creationId xmlns:a16="http://schemas.microsoft.com/office/drawing/2014/main" id="{DB1E0F9D-2BD8-3688-19DB-D64CE8265022}"/>
              </a:ext>
            </a:extLst>
          </p:cNvPr>
          <p:cNvGrpSpPr>
            <a:grpSpLocks/>
          </p:cNvGrpSpPr>
          <p:nvPr/>
        </p:nvGrpSpPr>
        <p:grpSpPr bwMode="auto">
          <a:xfrm>
            <a:off x="1259632" y="2401094"/>
            <a:ext cx="4754562" cy="3881437"/>
            <a:chOff x="2890" y="2325"/>
            <a:chExt cx="6357" cy="6030"/>
          </a:xfrm>
        </p:grpSpPr>
        <p:sp>
          <p:nvSpPr>
            <p:cNvPr id="3" name="Rectangle 12">
              <a:extLst>
                <a:ext uri="{FF2B5EF4-FFF2-40B4-BE49-F238E27FC236}">
                  <a16:creationId xmlns:a16="http://schemas.microsoft.com/office/drawing/2014/main" id="{0FB542D8-5286-F0F6-B8CD-1BD9A5DFA530}"/>
                </a:ext>
              </a:extLst>
            </p:cNvPr>
            <p:cNvSpPr>
              <a:spLocks noChangeArrowheads="1"/>
            </p:cNvSpPr>
            <p:nvPr/>
          </p:nvSpPr>
          <p:spPr bwMode="auto">
            <a:xfrm>
              <a:off x="4127"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dirty="0">
                  <a:solidFill>
                    <a:srgbClr val="000000"/>
                  </a:solidFill>
                  <a:latin typeface="Arial" pitchFamily="34" charset="0"/>
                </a:rPr>
                <a:t>1</a:t>
              </a:r>
              <a:endParaRPr lang="en-US" altLang="en-US" dirty="0"/>
            </a:p>
          </p:txBody>
        </p:sp>
        <p:sp>
          <p:nvSpPr>
            <p:cNvPr id="4" name="Rectangle 13">
              <a:extLst>
                <a:ext uri="{FF2B5EF4-FFF2-40B4-BE49-F238E27FC236}">
                  <a16:creationId xmlns:a16="http://schemas.microsoft.com/office/drawing/2014/main" id="{B3C43D3F-B6BB-802B-5AEC-342F9E618B01}"/>
                </a:ext>
              </a:extLst>
            </p:cNvPr>
            <p:cNvSpPr>
              <a:spLocks noChangeArrowheads="1"/>
            </p:cNvSpPr>
            <p:nvPr/>
          </p:nvSpPr>
          <p:spPr bwMode="auto">
            <a:xfrm>
              <a:off x="4691" y="3410"/>
              <a:ext cx="614"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dirty="0">
                  <a:solidFill>
                    <a:srgbClr val="FF0000"/>
                  </a:solidFill>
                  <a:latin typeface="Arial" pitchFamily="34" charset="0"/>
                </a:rPr>
                <a:t>2</a:t>
              </a:r>
              <a:endParaRPr lang="en-US" altLang="en-US" dirty="0">
                <a:solidFill>
                  <a:srgbClr val="FF0000"/>
                </a:solidFill>
              </a:endParaRPr>
            </a:p>
          </p:txBody>
        </p:sp>
        <p:sp>
          <p:nvSpPr>
            <p:cNvPr id="5" name="Rectangle 14">
              <a:extLst>
                <a:ext uri="{FF2B5EF4-FFF2-40B4-BE49-F238E27FC236}">
                  <a16:creationId xmlns:a16="http://schemas.microsoft.com/office/drawing/2014/main" id="{4414CAA3-AFCB-FE73-7F65-301C38AB59B9}"/>
                </a:ext>
              </a:extLst>
            </p:cNvPr>
            <p:cNvSpPr>
              <a:spLocks noChangeArrowheads="1"/>
            </p:cNvSpPr>
            <p:nvPr/>
          </p:nvSpPr>
          <p:spPr bwMode="auto">
            <a:xfrm>
              <a:off x="5253"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6" name="Rectangle 15">
              <a:extLst>
                <a:ext uri="{FF2B5EF4-FFF2-40B4-BE49-F238E27FC236}">
                  <a16:creationId xmlns:a16="http://schemas.microsoft.com/office/drawing/2014/main" id="{EAABEA1B-928B-73E2-EC6C-183EB0C4A887}"/>
                </a:ext>
              </a:extLst>
            </p:cNvPr>
            <p:cNvSpPr>
              <a:spLocks noChangeArrowheads="1"/>
            </p:cNvSpPr>
            <p:nvPr/>
          </p:nvSpPr>
          <p:spPr bwMode="auto">
            <a:xfrm>
              <a:off x="5816"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b="1" dirty="0">
                  <a:solidFill>
                    <a:srgbClr val="000000"/>
                  </a:solidFill>
                  <a:latin typeface="Arial" pitchFamily="34" charset="0"/>
                </a:rPr>
                <a:t>4</a:t>
              </a:r>
              <a:endParaRPr lang="en-US" altLang="en-US" b="1" dirty="0"/>
            </a:p>
          </p:txBody>
        </p:sp>
        <p:sp>
          <p:nvSpPr>
            <p:cNvPr id="7" name="Rectangle 16">
              <a:extLst>
                <a:ext uri="{FF2B5EF4-FFF2-40B4-BE49-F238E27FC236}">
                  <a16:creationId xmlns:a16="http://schemas.microsoft.com/office/drawing/2014/main" id="{3B735548-7623-9EDC-07EE-9A5199EA6096}"/>
                </a:ext>
              </a:extLst>
            </p:cNvPr>
            <p:cNvSpPr>
              <a:spLocks noChangeArrowheads="1"/>
            </p:cNvSpPr>
            <p:nvPr/>
          </p:nvSpPr>
          <p:spPr bwMode="auto">
            <a:xfrm>
              <a:off x="6380"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8" name="Rectangle 17">
              <a:extLst>
                <a:ext uri="{FF2B5EF4-FFF2-40B4-BE49-F238E27FC236}">
                  <a16:creationId xmlns:a16="http://schemas.microsoft.com/office/drawing/2014/main" id="{9F9286CA-A8B3-539E-2171-8D26F465DF74}"/>
                </a:ext>
              </a:extLst>
            </p:cNvPr>
            <p:cNvSpPr>
              <a:spLocks noChangeArrowheads="1"/>
            </p:cNvSpPr>
            <p:nvPr/>
          </p:nvSpPr>
          <p:spPr bwMode="auto">
            <a:xfrm>
              <a:off x="6943"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9" name="Rectangle 18">
              <a:extLst>
                <a:ext uri="{FF2B5EF4-FFF2-40B4-BE49-F238E27FC236}">
                  <a16:creationId xmlns:a16="http://schemas.microsoft.com/office/drawing/2014/main" id="{2228E701-BA55-FD70-791C-92A4CD753B23}"/>
                </a:ext>
              </a:extLst>
            </p:cNvPr>
            <p:cNvSpPr>
              <a:spLocks noChangeArrowheads="1"/>
            </p:cNvSpPr>
            <p:nvPr/>
          </p:nvSpPr>
          <p:spPr bwMode="auto">
            <a:xfrm>
              <a:off x="7506"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10" name="Rectangle 19">
              <a:extLst>
                <a:ext uri="{FF2B5EF4-FFF2-40B4-BE49-F238E27FC236}">
                  <a16:creationId xmlns:a16="http://schemas.microsoft.com/office/drawing/2014/main" id="{F9F67825-BBC7-8332-4353-CA1E0037640F}"/>
                </a:ext>
              </a:extLst>
            </p:cNvPr>
            <p:cNvSpPr>
              <a:spLocks noChangeArrowheads="1"/>
            </p:cNvSpPr>
            <p:nvPr/>
          </p:nvSpPr>
          <p:spPr bwMode="auto">
            <a:xfrm>
              <a:off x="8069"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11" name="Rectangle 20">
              <a:extLst>
                <a:ext uri="{FF2B5EF4-FFF2-40B4-BE49-F238E27FC236}">
                  <a16:creationId xmlns:a16="http://schemas.microsoft.com/office/drawing/2014/main" id="{A0C17AEC-E533-84F9-298D-D66890974C19}"/>
                </a:ext>
              </a:extLst>
            </p:cNvPr>
            <p:cNvSpPr>
              <a:spLocks noChangeArrowheads="1"/>
            </p:cNvSpPr>
            <p:nvPr/>
          </p:nvSpPr>
          <p:spPr bwMode="auto">
            <a:xfrm>
              <a:off x="8632" y="3410"/>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1</a:t>
              </a:r>
              <a:endParaRPr lang="en-US" altLang="en-US"/>
            </a:p>
          </p:txBody>
        </p:sp>
        <p:sp>
          <p:nvSpPr>
            <p:cNvPr id="12" name="Rectangle 21">
              <a:extLst>
                <a:ext uri="{FF2B5EF4-FFF2-40B4-BE49-F238E27FC236}">
                  <a16:creationId xmlns:a16="http://schemas.microsoft.com/office/drawing/2014/main" id="{937A4B51-6CE7-2D47-C71E-9AE6AF0DA73D}"/>
                </a:ext>
              </a:extLst>
            </p:cNvPr>
            <p:cNvSpPr>
              <a:spLocks noChangeArrowheads="1"/>
            </p:cNvSpPr>
            <p:nvPr/>
          </p:nvSpPr>
          <p:spPr bwMode="auto">
            <a:xfrm>
              <a:off x="4127" y="2861"/>
              <a:ext cx="583"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dirty="0">
                  <a:solidFill>
                    <a:srgbClr val="0000FF"/>
                  </a:solidFill>
                  <a:latin typeface="Arial" pitchFamily="34" charset="0"/>
                </a:rPr>
                <a:t>1</a:t>
              </a:r>
              <a:endParaRPr lang="en-US" altLang="en-US" sz="2000" dirty="0">
                <a:solidFill>
                  <a:srgbClr val="0000FF"/>
                </a:solidFill>
              </a:endParaRPr>
            </a:p>
          </p:txBody>
        </p:sp>
        <p:sp>
          <p:nvSpPr>
            <p:cNvPr id="13" name="Rectangle 22">
              <a:extLst>
                <a:ext uri="{FF2B5EF4-FFF2-40B4-BE49-F238E27FC236}">
                  <a16:creationId xmlns:a16="http://schemas.microsoft.com/office/drawing/2014/main" id="{2A09ADA3-C456-D6B8-8BCA-D1128AB29CA1}"/>
                </a:ext>
              </a:extLst>
            </p:cNvPr>
            <p:cNvSpPr>
              <a:spLocks noChangeArrowheads="1"/>
            </p:cNvSpPr>
            <p:nvPr/>
          </p:nvSpPr>
          <p:spPr bwMode="auto">
            <a:xfrm>
              <a:off x="4689" y="2861"/>
              <a:ext cx="584"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2</a:t>
              </a:r>
              <a:endParaRPr lang="en-US" altLang="en-US" sz="2000">
                <a:solidFill>
                  <a:srgbClr val="0000FF"/>
                </a:solidFill>
              </a:endParaRPr>
            </a:p>
          </p:txBody>
        </p:sp>
        <p:sp>
          <p:nvSpPr>
            <p:cNvPr id="14" name="Rectangle 23">
              <a:extLst>
                <a:ext uri="{FF2B5EF4-FFF2-40B4-BE49-F238E27FC236}">
                  <a16:creationId xmlns:a16="http://schemas.microsoft.com/office/drawing/2014/main" id="{50D7A3AE-137B-CD4A-B73B-83667761D6BF}"/>
                </a:ext>
              </a:extLst>
            </p:cNvPr>
            <p:cNvSpPr>
              <a:spLocks noChangeArrowheads="1"/>
            </p:cNvSpPr>
            <p:nvPr/>
          </p:nvSpPr>
          <p:spPr bwMode="auto">
            <a:xfrm>
              <a:off x="5253" y="2861"/>
              <a:ext cx="583"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3</a:t>
              </a:r>
              <a:endParaRPr lang="en-US" altLang="en-US" sz="2000">
                <a:solidFill>
                  <a:srgbClr val="0000FF"/>
                </a:solidFill>
              </a:endParaRPr>
            </a:p>
          </p:txBody>
        </p:sp>
        <p:sp>
          <p:nvSpPr>
            <p:cNvPr id="15" name="Rectangle 24">
              <a:extLst>
                <a:ext uri="{FF2B5EF4-FFF2-40B4-BE49-F238E27FC236}">
                  <a16:creationId xmlns:a16="http://schemas.microsoft.com/office/drawing/2014/main" id="{9A62A4B6-7AB4-38F9-AAC4-2D78A8F212B0}"/>
                </a:ext>
              </a:extLst>
            </p:cNvPr>
            <p:cNvSpPr>
              <a:spLocks noChangeArrowheads="1"/>
            </p:cNvSpPr>
            <p:nvPr/>
          </p:nvSpPr>
          <p:spPr bwMode="auto">
            <a:xfrm>
              <a:off x="5817" y="2861"/>
              <a:ext cx="584"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4</a:t>
              </a:r>
              <a:endParaRPr lang="en-US" altLang="en-US" sz="2000">
                <a:solidFill>
                  <a:srgbClr val="0000FF"/>
                </a:solidFill>
              </a:endParaRPr>
            </a:p>
          </p:txBody>
        </p:sp>
        <p:sp>
          <p:nvSpPr>
            <p:cNvPr id="16" name="Rectangle 25">
              <a:extLst>
                <a:ext uri="{FF2B5EF4-FFF2-40B4-BE49-F238E27FC236}">
                  <a16:creationId xmlns:a16="http://schemas.microsoft.com/office/drawing/2014/main" id="{C33B810B-AF5B-22EC-1B3A-A79F2AFF1348}"/>
                </a:ext>
              </a:extLst>
            </p:cNvPr>
            <p:cNvSpPr>
              <a:spLocks noChangeArrowheads="1"/>
            </p:cNvSpPr>
            <p:nvPr/>
          </p:nvSpPr>
          <p:spPr bwMode="auto">
            <a:xfrm>
              <a:off x="6380" y="2861"/>
              <a:ext cx="583"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5</a:t>
              </a:r>
              <a:endParaRPr lang="en-US" altLang="en-US" sz="2000">
                <a:solidFill>
                  <a:srgbClr val="0000FF"/>
                </a:solidFill>
              </a:endParaRPr>
            </a:p>
          </p:txBody>
        </p:sp>
        <p:sp>
          <p:nvSpPr>
            <p:cNvPr id="17" name="Rectangle 26">
              <a:extLst>
                <a:ext uri="{FF2B5EF4-FFF2-40B4-BE49-F238E27FC236}">
                  <a16:creationId xmlns:a16="http://schemas.microsoft.com/office/drawing/2014/main" id="{DCF5C9D6-09DC-6FF8-8DFB-D4DCE9C2C864}"/>
                </a:ext>
              </a:extLst>
            </p:cNvPr>
            <p:cNvSpPr>
              <a:spLocks noChangeArrowheads="1"/>
            </p:cNvSpPr>
            <p:nvPr/>
          </p:nvSpPr>
          <p:spPr bwMode="auto">
            <a:xfrm>
              <a:off x="6943" y="2861"/>
              <a:ext cx="583"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6</a:t>
              </a:r>
              <a:endParaRPr lang="en-US" altLang="en-US" sz="2000">
                <a:solidFill>
                  <a:srgbClr val="0000FF"/>
                </a:solidFill>
              </a:endParaRPr>
            </a:p>
          </p:txBody>
        </p:sp>
        <p:sp>
          <p:nvSpPr>
            <p:cNvPr id="18" name="Rectangle 27">
              <a:extLst>
                <a:ext uri="{FF2B5EF4-FFF2-40B4-BE49-F238E27FC236}">
                  <a16:creationId xmlns:a16="http://schemas.microsoft.com/office/drawing/2014/main" id="{EFBD7A6D-E644-3F7A-6582-61E6F36EE764}"/>
                </a:ext>
              </a:extLst>
            </p:cNvPr>
            <p:cNvSpPr>
              <a:spLocks noChangeArrowheads="1"/>
            </p:cNvSpPr>
            <p:nvPr/>
          </p:nvSpPr>
          <p:spPr bwMode="auto">
            <a:xfrm>
              <a:off x="7506" y="2861"/>
              <a:ext cx="584"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7</a:t>
              </a:r>
              <a:endParaRPr lang="en-US" altLang="en-US" sz="2000">
                <a:solidFill>
                  <a:srgbClr val="0000FF"/>
                </a:solidFill>
              </a:endParaRPr>
            </a:p>
          </p:txBody>
        </p:sp>
        <p:sp>
          <p:nvSpPr>
            <p:cNvPr id="19" name="Rectangle 28">
              <a:extLst>
                <a:ext uri="{FF2B5EF4-FFF2-40B4-BE49-F238E27FC236}">
                  <a16:creationId xmlns:a16="http://schemas.microsoft.com/office/drawing/2014/main" id="{9416B0BD-5CF7-56A8-FC81-2B153BFF47E0}"/>
                </a:ext>
              </a:extLst>
            </p:cNvPr>
            <p:cNvSpPr>
              <a:spLocks noChangeArrowheads="1"/>
            </p:cNvSpPr>
            <p:nvPr/>
          </p:nvSpPr>
          <p:spPr bwMode="auto">
            <a:xfrm>
              <a:off x="8069" y="2861"/>
              <a:ext cx="583"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8</a:t>
              </a:r>
              <a:endParaRPr lang="en-US" altLang="en-US" sz="2000">
                <a:solidFill>
                  <a:srgbClr val="0000FF"/>
                </a:solidFill>
              </a:endParaRPr>
            </a:p>
          </p:txBody>
        </p:sp>
        <p:sp>
          <p:nvSpPr>
            <p:cNvPr id="20" name="Rectangle 29">
              <a:extLst>
                <a:ext uri="{FF2B5EF4-FFF2-40B4-BE49-F238E27FC236}">
                  <a16:creationId xmlns:a16="http://schemas.microsoft.com/office/drawing/2014/main" id="{72374C43-39AD-8B5B-02B4-CC6104A5C08A}"/>
                </a:ext>
              </a:extLst>
            </p:cNvPr>
            <p:cNvSpPr>
              <a:spLocks noChangeArrowheads="1"/>
            </p:cNvSpPr>
            <p:nvPr/>
          </p:nvSpPr>
          <p:spPr bwMode="auto">
            <a:xfrm>
              <a:off x="8632" y="2861"/>
              <a:ext cx="583"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9</a:t>
              </a:r>
              <a:endParaRPr lang="en-US" altLang="en-US" sz="2000">
                <a:solidFill>
                  <a:srgbClr val="0000FF"/>
                </a:solidFill>
              </a:endParaRPr>
            </a:p>
          </p:txBody>
        </p:sp>
        <p:sp>
          <p:nvSpPr>
            <p:cNvPr id="21" name="Rectangle 30">
              <a:extLst>
                <a:ext uri="{FF2B5EF4-FFF2-40B4-BE49-F238E27FC236}">
                  <a16:creationId xmlns:a16="http://schemas.microsoft.com/office/drawing/2014/main" id="{93A22442-38FD-D67F-87D4-BFD021B11A4D}"/>
                </a:ext>
              </a:extLst>
            </p:cNvPr>
            <p:cNvSpPr>
              <a:spLocks noChangeArrowheads="1"/>
            </p:cNvSpPr>
            <p:nvPr/>
          </p:nvSpPr>
          <p:spPr bwMode="auto">
            <a:xfrm>
              <a:off x="3470" y="3410"/>
              <a:ext cx="584" cy="550"/>
            </a:xfrm>
            <a:prstGeom prst="rect">
              <a:avLst/>
            </a:prstGeom>
            <a:noFill/>
            <a:ln w="19050">
              <a:noFill/>
              <a:miter lim="800000"/>
              <a:headEnd/>
              <a:tailEnd/>
            </a:ln>
          </p:spPr>
          <p:txBody>
            <a:bodyPr tIns="0" bIns="0" anchor="ctr"/>
            <a:lstStyle/>
            <a:p>
              <a:pPr algn="ctr" eaLnBrk="1" hangingPunct="1">
                <a:spcAft>
                  <a:spcPts val="1000"/>
                </a:spcAft>
              </a:pPr>
              <a:r>
                <a:rPr lang="en-GB" altLang="en-US" sz="2000" dirty="0">
                  <a:solidFill>
                    <a:srgbClr val="0000FF"/>
                  </a:solidFill>
                  <a:latin typeface="Arial" pitchFamily="34" charset="0"/>
                </a:rPr>
                <a:t>1</a:t>
              </a:r>
              <a:endParaRPr lang="en-US" altLang="en-US" sz="2000" dirty="0">
                <a:solidFill>
                  <a:srgbClr val="0000FF"/>
                </a:solidFill>
              </a:endParaRPr>
            </a:p>
          </p:txBody>
        </p:sp>
        <p:sp>
          <p:nvSpPr>
            <p:cNvPr id="24" name="Rectangle 31">
              <a:extLst>
                <a:ext uri="{FF2B5EF4-FFF2-40B4-BE49-F238E27FC236}">
                  <a16:creationId xmlns:a16="http://schemas.microsoft.com/office/drawing/2014/main" id="{98716D77-8F5E-3D76-E8AA-0E6E7D2A8ABE}"/>
                </a:ext>
              </a:extLst>
            </p:cNvPr>
            <p:cNvSpPr>
              <a:spLocks noChangeArrowheads="1"/>
            </p:cNvSpPr>
            <p:nvPr/>
          </p:nvSpPr>
          <p:spPr bwMode="auto">
            <a:xfrm>
              <a:off x="4127" y="3960"/>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25" name="Rectangle 32">
              <a:extLst>
                <a:ext uri="{FF2B5EF4-FFF2-40B4-BE49-F238E27FC236}">
                  <a16:creationId xmlns:a16="http://schemas.microsoft.com/office/drawing/2014/main" id="{EDDC7F9D-1906-093E-B0CD-13CF10EAFCF8}"/>
                </a:ext>
              </a:extLst>
            </p:cNvPr>
            <p:cNvSpPr>
              <a:spLocks noChangeArrowheads="1"/>
            </p:cNvSpPr>
            <p:nvPr/>
          </p:nvSpPr>
          <p:spPr bwMode="auto">
            <a:xfrm>
              <a:off x="4689" y="3960"/>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27" name="Rectangle 33">
              <a:extLst>
                <a:ext uri="{FF2B5EF4-FFF2-40B4-BE49-F238E27FC236}">
                  <a16:creationId xmlns:a16="http://schemas.microsoft.com/office/drawing/2014/main" id="{984AF6AC-1973-90F2-C612-B57F4D31BE19}"/>
                </a:ext>
              </a:extLst>
            </p:cNvPr>
            <p:cNvSpPr>
              <a:spLocks noChangeArrowheads="1"/>
            </p:cNvSpPr>
            <p:nvPr/>
          </p:nvSpPr>
          <p:spPr bwMode="auto">
            <a:xfrm>
              <a:off x="5253" y="3960"/>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29" name="Rectangle 34">
              <a:extLst>
                <a:ext uri="{FF2B5EF4-FFF2-40B4-BE49-F238E27FC236}">
                  <a16:creationId xmlns:a16="http://schemas.microsoft.com/office/drawing/2014/main" id="{A567CA50-1AC2-4BE3-98EB-12F16BE1EBD9}"/>
                </a:ext>
              </a:extLst>
            </p:cNvPr>
            <p:cNvSpPr>
              <a:spLocks noChangeArrowheads="1"/>
            </p:cNvSpPr>
            <p:nvPr/>
          </p:nvSpPr>
          <p:spPr bwMode="auto">
            <a:xfrm>
              <a:off x="5817" y="3960"/>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30" name="Rectangle 35">
              <a:extLst>
                <a:ext uri="{FF2B5EF4-FFF2-40B4-BE49-F238E27FC236}">
                  <a16:creationId xmlns:a16="http://schemas.microsoft.com/office/drawing/2014/main" id="{D812BAA2-477D-3E43-7B88-4D5D01EC4440}"/>
                </a:ext>
              </a:extLst>
            </p:cNvPr>
            <p:cNvSpPr>
              <a:spLocks noChangeArrowheads="1"/>
            </p:cNvSpPr>
            <p:nvPr/>
          </p:nvSpPr>
          <p:spPr bwMode="auto">
            <a:xfrm>
              <a:off x="6380" y="3960"/>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31" name="Rectangle 36">
              <a:extLst>
                <a:ext uri="{FF2B5EF4-FFF2-40B4-BE49-F238E27FC236}">
                  <a16:creationId xmlns:a16="http://schemas.microsoft.com/office/drawing/2014/main" id="{3720122B-4320-580F-B8D9-C32CC964D5E9}"/>
                </a:ext>
              </a:extLst>
            </p:cNvPr>
            <p:cNvSpPr>
              <a:spLocks noChangeArrowheads="1"/>
            </p:cNvSpPr>
            <p:nvPr/>
          </p:nvSpPr>
          <p:spPr bwMode="auto">
            <a:xfrm>
              <a:off x="6943" y="3960"/>
              <a:ext cx="584"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32" name="Rectangle 37">
              <a:extLst>
                <a:ext uri="{FF2B5EF4-FFF2-40B4-BE49-F238E27FC236}">
                  <a16:creationId xmlns:a16="http://schemas.microsoft.com/office/drawing/2014/main" id="{A89E56E2-A8EC-66A4-0C63-2EA92490489E}"/>
                </a:ext>
              </a:extLst>
            </p:cNvPr>
            <p:cNvSpPr>
              <a:spLocks noChangeArrowheads="1"/>
            </p:cNvSpPr>
            <p:nvPr/>
          </p:nvSpPr>
          <p:spPr bwMode="auto">
            <a:xfrm>
              <a:off x="7506" y="3960"/>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33" name="Rectangle 38">
              <a:extLst>
                <a:ext uri="{FF2B5EF4-FFF2-40B4-BE49-F238E27FC236}">
                  <a16:creationId xmlns:a16="http://schemas.microsoft.com/office/drawing/2014/main" id="{3F5CE5D6-FADF-C2EF-F33D-8E4168F9C10D}"/>
                </a:ext>
              </a:extLst>
            </p:cNvPr>
            <p:cNvSpPr>
              <a:spLocks noChangeArrowheads="1"/>
            </p:cNvSpPr>
            <p:nvPr/>
          </p:nvSpPr>
          <p:spPr bwMode="auto">
            <a:xfrm>
              <a:off x="8069" y="3960"/>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34" name="Rectangle 39">
              <a:extLst>
                <a:ext uri="{FF2B5EF4-FFF2-40B4-BE49-F238E27FC236}">
                  <a16:creationId xmlns:a16="http://schemas.microsoft.com/office/drawing/2014/main" id="{68913D7C-3E00-CB1E-35A7-D25A56EAB8E3}"/>
                </a:ext>
              </a:extLst>
            </p:cNvPr>
            <p:cNvSpPr>
              <a:spLocks noChangeArrowheads="1"/>
            </p:cNvSpPr>
            <p:nvPr/>
          </p:nvSpPr>
          <p:spPr bwMode="auto">
            <a:xfrm>
              <a:off x="8632" y="3960"/>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35" name="Rectangle 40">
              <a:extLst>
                <a:ext uri="{FF2B5EF4-FFF2-40B4-BE49-F238E27FC236}">
                  <a16:creationId xmlns:a16="http://schemas.microsoft.com/office/drawing/2014/main" id="{95E40C50-C0C6-8D1F-B16C-9BCC1651A0BA}"/>
                </a:ext>
              </a:extLst>
            </p:cNvPr>
            <p:cNvSpPr>
              <a:spLocks noChangeArrowheads="1"/>
            </p:cNvSpPr>
            <p:nvPr/>
          </p:nvSpPr>
          <p:spPr bwMode="auto">
            <a:xfrm>
              <a:off x="3470" y="3960"/>
              <a:ext cx="584"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2</a:t>
              </a:r>
              <a:endParaRPr lang="en-US" altLang="en-US" sz="2000">
                <a:solidFill>
                  <a:srgbClr val="0000FF"/>
                </a:solidFill>
              </a:endParaRPr>
            </a:p>
          </p:txBody>
        </p:sp>
        <p:sp>
          <p:nvSpPr>
            <p:cNvPr id="36" name="Rectangle 41">
              <a:extLst>
                <a:ext uri="{FF2B5EF4-FFF2-40B4-BE49-F238E27FC236}">
                  <a16:creationId xmlns:a16="http://schemas.microsoft.com/office/drawing/2014/main" id="{1D1CD4C1-86BE-EBA1-610F-FAC561484FFD}"/>
                </a:ext>
              </a:extLst>
            </p:cNvPr>
            <p:cNvSpPr>
              <a:spLocks noChangeArrowheads="1"/>
            </p:cNvSpPr>
            <p:nvPr/>
          </p:nvSpPr>
          <p:spPr bwMode="auto">
            <a:xfrm>
              <a:off x="4127" y="450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37" name="Rectangle 42">
              <a:extLst>
                <a:ext uri="{FF2B5EF4-FFF2-40B4-BE49-F238E27FC236}">
                  <a16:creationId xmlns:a16="http://schemas.microsoft.com/office/drawing/2014/main" id="{D569DF90-D285-5ED2-DBF4-D1C9427CB8C0}"/>
                </a:ext>
              </a:extLst>
            </p:cNvPr>
            <p:cNvSpPr>
              <a:spLocks noChangeArrowheads="1"/>
            </p:cNvSpPr>
            <p:nvPr/>
          </p:nvSpPr>
          <p:spPr bwMode="auto">
            <a:xfrm>
              <a:off x="4691" y="4509"/>
              <a:ext cx="614"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38" name="Rectangle 43">
              <a:extLst>
                <a:ext uri="{FF2B5EF4-FFF2-40B4-BE49-F238E27FC236}">
                  <a16:creationId xmlns:a16="http://schemas.microsoft.com/office/drawing/2014/main" id="{D9EA0C4A-F053-05E6-E452-CD9DA6361430}"/>
                </a:ext>
              </a:extLst>
            </p:cNvPr>
            <p:cNvSpPr>
              <a:spLocks noChangeArrowheads="1"/>
            </p:cNvSpPr>
            <p:nvPr/>
          </p:nvSpPr>
          <p:spPr bwMode="auto">
            <a:xfrm>
              <a:off x="5253" y="450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39" name="Rectangle 44">
              <a:extLst>
                <a:ext uri="{FF2B5EF4-FFF2-40B4-BE49-F238E27FC236}">
                  <a16:creationId xmlns:a16="http://schemas.microsoft.com/office/drawing/2014/main" id="{BECD15C4-66CE-B9F5-69CD-88466E4E3A6F}"/>
                </a:ext>
              </a:extLst>
            </p:cNvPr>
            <p:cNvSpPr>
              <a:spLocks noChangeArrowheads="1"/>
            </p:cNvSpPr>
            <p:nvPr/>
          </p:nvSpPr>
          <p:spPr bwMode="auto">
            <a:xfrm>
              <a:off x="5817" y="450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40" name="Rectangle 45">
              <a:extLst>
                <a:ext uri="{FF2B5EF4-FFF2-40B4-BE49-F238E27FC236}">
                  <a16:creationId xmlns:a16="http://schemas.microsoft.com/office/drawing/2014/main" id="{7255493C-807D-5D97-9C7B-C4F4DC5FAB38}"/>
                </a:ext>
              </a:extLst>
            </p:cNvPr>
            <p:cNvSpPr>
              <a:spLocks noChangeArrowheads="1"/>
            </p:cNvSpPr>
            <p:nvPr/>
          </p:nvSpPr>
          <p:spPr bwMode="auto">
            <a:xfrm>
              <a:off x="6380" y="450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7</a:t>
              </a:r>
              <a:endParaRPr lang="en-US" altLang="en-US"/>
            </a:p>
          </p:txBody>
        </p:sp>
        <p:sp>
          <p:nvSpPr>
            <p:cNvPr id="41" name="Rectangle 46">
              <a:extLst>
                <a:ext uri="{FF2B5EF4-FFF2-40B4-BE49-F238E27FC236}">
                  <a16:creationId xmlns:a16="http://schemas.microsoft.com/office/drawing/2014/main" id="{8E09E3FE-5A74-1151-2D05-8BDFC578B592}"/>
                </a:ext>
              </a:extLst>
            </p:cNvPr>
            <p:cNvSpPr>
              <a:spLocks noChangeArrowheads="1"/>
            </p:cNvSpPr>
            <p:nvPr/>
          </p:nvSpPr>
          <p:spPr bwMode="auto">
            <a:xfrm>
              <a:off x="6943" y="450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42" name="Rectangle 47">
              <a:extLst>
                <a:ext uri="{FF2B5EF4-FFF2-40B4-BE49-F238E27FC236}">
                  <a16:creationId xmlns:a16="http://schemas.microsoft.com/office/drawing/2014/main" id="{D78FEB41-D76B-F8BD-8182-E64E58537C64}"/>
                </a:ext>
              </a:extLst>
            </p:cNvPr>
            <p:cNvSpPr>
              <a:spLocks noChangeArrowheads="1"/>
            </p:cNvSpPr>
            <p:nvPr/>
          </p:nvSpPr>
          <p:spPr bwMode="auto">
            <a:xfrm>
              <a:off x="7506" y="450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43" name="Rectangle 48">
              <a:extLst>
                <a:ext uri="{FF2B5EF4-FFF2-40B4-BE49-F238E27FC236}">
                  <a16:creationId xmlns:a16="http://schemas.microsoft.com/office/drawing/2014/main" id="{F38F8977-86C9-1F7A-573B-915F08C2EB9A}"/>
                </a:ext>
              </a:extLst>
            </p:cNvPr>
            <p:cNvSpPr>
              <a:spLocks noChangeArrowheads="1"/>
            </p:cNvSpPr>
            <p:nvPr/>
          </p:nvSpPr>
          <p:spPr bwMode="auto">
            <a:xfrm>
              <a:off x="8069" y="450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44" name="Rectangle 49">
              <a:extLst>
                <a:ext uri="{FF2B5EF4-FFF2-40B4-BE49-F238E27FC236}">
                  <a16:creationId xmlns:a16="http://schemas.microsoft.com/office/drawing/2014/main" id="{581BB412-2603-57F3-5FF5-4A4BF78E55A0}"/>
                </a:ext>
              </a:extLst>
            </p:cNvPr>
            <p:cNvSpPr>
              <a:spLocks noChangeArrowheads="1"/>
            </p:cNvSpPr>
            <p:nvPr/>
          </p:nvSpPr>
          <p:spPr bwMode="auto">
            <a:xfrm>
              <a:off x="8632" y="450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45" name="Rectangle 50">
              <a:extLst>
                <a:ext uri="{FF2B5EF4-FFF2-40B4-BE49-F238E27FC236}">
                  <a16:creationId xmlns:a16="http://schemas.microsoft.com/office/drawing/2014/main" id="{74C3BEE0-5517-5748-42DA-A0F454CDB279}"/>
                </a:ext>
              </a:extLst>
            </p:cNvPr>
            <p:cNvSpPr>
              <a:spLocks noChangeArrowheads="1"/>
            </p:cNvSpPr>
            <p:nvPr/>
          </p:nvSpPr>
          <p:spPr bwMode="auto">
            <a:xfrm>
              <a:off x="3470" y="4509"/>
              <a:ext cx="584" cy="550"/>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3</a:t>
              </a:r>
              <a:endParaRPr lang="en-US" altLang="en-US" sz="2000">
                <a:solidFill>
                  <a:srgbClr val="0000FF"/>
                </a:solidFill>
              </a:endParaRPr>
            </a:p>
          </p:txBody>
        </p:sp>
        <p:sp>
          <p:nvSpPr>
            <p:cNvPr id="46" name="Rectangle 51">
              <a:extLst>
                <a:ext uri="{FF2B5EF4-FFF2-40B4-BE49-F238E27FC236}">
                  <a16:creationId xmlns:a16="http://schemas.microsoft.com/office/drawing/2014/main" id="{520DE632-5425-A34D-DD61-0C6808B986BC}"/>
                </a:ext>
              </a:extLst>
            </p:cNvPr>
            <p:cNvSpPr>
              <a:spLocks noChangeArrowheads="1"/>
            </p:cNvSpPr>
            <p:nvPr/>
          </p:nvSpPr>
          <p:spPr bwMode="auto">
            <a:xfrm>
              <a:off x="4127" y="505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47" name="Rectangle 52">
              <a:extLst>
                <a:ext uri="{FF2B5EF4-FFF2-40B4-BE49-F238E27FC236}">
                  <a16:creationId xmlns:a16="http://schemas.microsoft.com/office/drawing/2014/main" id="{98AADA71-A657-9B2A-1400-C33519FFC72C}"/>
                </a:ext>
              </a:extLst>
            </p:cNvPr>
            <p:cNvSpPr>
              <a:spLocks noChangeArrowheads="1"/>
            </p:cNvSpPr>
            <p:nvPr/>
          </p:nvSpPr>
          <p:spPr bwMode="auto">
            <a:xfrm>
              <a:off x="4691" y="5059"/>
              <a:ext cx="614"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48" name="Rectangle 53">
              <a:extLst>
                <a:ext uri="{FF2B5EF4-FFF2-40B4-BE49-F238E27FC236}">
                  <a16:creationId xmlns:a16="http://schemas.microsoft.com/office/drawing/2014/main" id="{A1836196-8F88-F949-9419-36357A4C48F8}"/>
                </a:ext>
              </a:extLst>
            </p:cNvPr>
            <p:cNvSpPr>
              <a:spLocks noChangeArrowheads="1"/>
            </p:cNvSpPr>
            <p:nvPr/>
          </p:nvSpPr>
          <p:spPr bwMode="auto">
            <a:xfrm>
              <a:off x="5253" y="505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49" name="Rectangle 54">
              <a:extLst>
                <a:ext uri="{FF2B5EF4-FFF2-40B4-BE49-F238E27FC236}">
                  <a16:creationId xmlns:a16="http://schemas.microsoft.com/office/drawing/2014/main" id="{69230278-AD9E-C505-25E9-D89A8DA62A77}"/>
                </a:ext>
              </a:extLst>
            </p:cNvPr>
            <p:cNvSpPr>
              <a:spLocks noChangeArrowheads="1"/>
            </p:cNvSpPr>
            <p:nvPr/>
          </p:nvSpPr>
          <p:spPr bwMode="auto">
            <a:xfrm>
              <a:off x="5817" y="505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7</a:t>
              </a:r>
              <a:endParaRPr lang="en-US" altLang="en-US"/>
            </a:p>
          </p:txBody>
        </p:sp>
        <p:sp>
          <p:nvSpPr>
            <p:cNvPr id="50" name="Rectangle 55">
              <a:extLst>
                <a:ext uri="{FF2B5EF4-FFF2-40B4-BE49-F238E27FC236}">
                  <a16:creationId xmlns:a16="http://schemas.microsoft.com/office/drawing/2014/main" id="{2377433A-FFD0-E125-794F-CDA84E902B8A}"/>
                </a:ext>
              </a:extLst>
            </p:cNvPr>
            <p:cNvSpPr>
              <a:spLocks noChangeArrowheads="1"/>
            </p:cNvSpPr>
            <p:nvPr/>
          </p:nvSpPr>
          <p:spPr bwMode="auto">
            <a:xfrm>
              <a:off x="6380" y="505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8</a:t>
              </a:r>
              <a:endParaRPr lang="en-US" altLang="en-US"/>
            </a:p>
          </p:txBody>
        </p:sp>
        <p:sp>
          <p:nvSpPr>
            <p:cNvPr id="51" name="Rectangle 56">
              <a:extLst>
                <a:ext uri="{FF2B5EF4-FFF2-40B4-BE49-F238E27FC236}">
                  <a16:creationId xmlns:a16="http://schemas.microsoft.com/office/drawing/2014/main" id="{33FF1B5C-AC6D-B9C1-0A12-0C812E887943}"/>
                </a:ext>
              </a:extLst>
            </p:cNvPr>
            <p:cNvSpPr>
              <a:spLocks noChangeArrowheads="1"/>
            </p:cNvSpPr>
            <p:nvPr/>
          </p:nvSpPr>
          <p:spPr bwMode="auto">
            <a:xfrm>
              <a:off x="6943" y="505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7</a:t>
              </a:r>
              <a:endParaRPr lang="en-US" altLang="en-US"/>
            </a:p>
          </p:txBody>
        </p:sp>
        <p:sp>
          <p:nvSpPr>
            <p:cNvPr id="52" name="Rectangle 57">
              <a:extLst>
                <a:ext uri="{FF2B5EF4-FFF2-40B4-BE49-F238E27FC236}">
                  <a16:creationId xmlns:a16="http://schemas.microsoft.com/office/drawing/2014/main" id="{33BFE977-8D88-FEB0-C7E0-676387DCA5A4}"/>
                </a:ext>
              </a:extLst>
            </p:cNvPr>
            <p:cNvSpPr>
              <a:spLocks noChangeArrowheads="1"/>
            </p:cNvSpPr>
            <p:nvPr/>
          </p:nvSpPr>
          <p:spPr bwMode="auto">
            <a:xfrm>
              <a:off x="7506" y="505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53" name="Rectangle 58">
              <a:extLst>
                <a:ext uri="{FF2B5EF4-FFF2-40B4-BE49-F238E27FC236}">
                  <a16:creationId xmlns:a16="http://schemas.microsoft.com/office/drawing/2014/main" id="{E210BD14-CC45-9ED4-5F86-72F30215FB3E}"/>
                </a:ext>
              </a:extLst>
            </p:cNvPr>
            <p:cNvSpPr>
              <a:spLocks noChangeArrowheads="1"/>
            </p:cNvSpPr>
            <p:nvPr/>
          </p:nvSpPr>
          <p:spPr bwMode="auto">
            <a:xfrm>
              <a:off x="8069" y="505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54" name="Rectangle 59">
              <a:extLst>
                <a:ext uri="{FF2B5EF4-FFF2-40B4-BE49-F238E27FC236}">
                  <a16:creationId xmlns:a16="http://schemas.microsoft.com/office/drawing/2014/main" id="{AD7B08D7-0168-5285-AE91-85612F90072D}"/>
                </a:ext>
              </a:extLst>
            </p:cNvPr>
            <p:cNvSpPr>
              <a:spLocks noChangeArrowheads="1"/>
            </p:cNvSpPr>
            <p:nvPr/>
          </p:nvSpPr>
          <p:spPr bwMode="auto">
            <a:xfrm>
              <a:off x="8632" y="5059"/>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55" name="Rectangle 60">
              <a:extLst>
                <a:ext uri="{FF2B5EF4-FFF2-40B4-BE49-F238E27FC236}">
                  <a16:creationId xmlns:a16="http://schemas.microsoft.com/office/drawing/2014/main" id="{6138629C-26A3-306A-6ACB-0E5EBB82DDF4}"/>
                </a:ext>
              </a:extLst>
            </p:cNvPr>
            <p:cNvSpPr>
              <a:spLocks noChangeArrowheads="1"/>
            </p:cNvSpPr>
            <p:nvPr/>
          </p:nvSpPr>
          <p:spPr bwMode="auto">
            <a:xfrm>
              <a:off x="3470" y="5059"/>
              <a:ext cx="584" cy="550"/>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4</a:t>
              </a:r>
              <a:endParaRPr lang="en-US" altLang="en-US" sz="2000">
                <a:solidFill>
                  <a:srgbClr val="0000FF"/>
                </a:solidFill>
              </a:endParaRPr>
            </a:p>
          </p:txBody>
        </p:sp>
        <p:sp>
          <p:nvSpPr>
            <p:cNvPr id="56" name="Rectangle 61">
              <a:extLst>
                <a:ext uri="{FF2B5EF4-FFF2-40B4-BE49-F238E27FC236}">
                  <a16:creationId xmlns:a16="http://schemas.microsoft.com/office/drawing/2014/main" id="{91B4A750-06B5-2105-1501-510CAF99EE9C}"/>
                </a:ext>
              </a:extLst>
            </p:cNvPr>
            <p:cNvSpPr>
              <a:spLocks noChangeArrowheads="1"/>
            </p:cNvSpPr>
            <p:nvPr/>
          </p:nvSpPr>
          <p:spPr bwMode="auto">
            <a:xfrm>
              <a:off x="4127" y="5609"/>
              <a:ext cx="615" cy="548"/>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57" name="Rectangle 62">
              <a:extLst>
                <a:ext uri="{FF2B5EF4-FFF2-40B4-BE49-F238E27FC236}">
                  <a16:creationId xmlns:a16="http://schemas.microsoft.com/office/drawing/2014/main" id="{D8051212-F513-6309-5155-C633E692CA40}"/>
                </a:ext>
              </a:extLst>
            </p:cNvPr>
            <p:cNvSpPr>
              <a:spLocks noChangeArrowheads="1"/>
            </p:cNvSpPr>
            <p:nvPr/>
          </p:nvSpPr>
          <p:spPr bwMode="auto">
            <a:xfrm>
              <a:off x="4691" y="5609"/>
              <a:ext cx="614" cy="548"/>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b="1" dirty="0">
                  <a:solidFill>
                    <a:srgbClr val="000000"/>
                  </a:solidFill>
                  <a:latin typeface="Arial" pitchFamily="34" charset="0"/>
                </a:rPr>
                <a:t>6</a:t>
              </a:r>
              <a:endParaRPr lang="en-US" altLang="en-US" b="1" dirty="0"/>
            </a:p>
          </p:txBody>
        </p:sp>
        <p:sp>
          <p:nvSpPr>
            <p:cNvPr id="58" name="Rectangle 63">
              <a:extLst>
                <a:ext uri="{FF2B5EF4-FFF2-40B4-BE49-F238E27FC236}">
                  <a16:creationId xmlns:a16="http://schemas.microsoft.com/office/drawing/2014/main" id="{9EDD21EA-D534-3FC2-2447-EE5642139BF1}"/>
                </a:ext>
              </a:extLst>
            </p:cNvPr>
            <p:cNvSpPr>
              <a:spLocks noChangeArrowheads="1"/>
            </p:cNvSpPr>
            <p:nvPr/>
          </p:nvSpPr>
          <p:spPr bwMode="auto">
            <a:xfrm>
              <a:off x="5253" y="5609"/>
              <a:ext cx="615" cy="548"/>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7</a:t>
              </a:r>
              <a:endParaRPr lang="en-US" altLang="en-US"/>
            </a:p>
          </p:txBody>
        </p:sp>
        <p:sp>
          <p:nvSpPr>
            <p:cNvPr id="59" name="Rectangle 64">
              <a:extLst>
                <a:ext uri="{FF2B5EF4-FFF2-40B4-BE49-F238E27FC236}">
                  <a16:creationId xmlns:a16="http://schemas.microsoft.com/office/drawing/2014/main" id="{D9C39689-B19D-618F-6EC0-E504E5E3CD5C}"/>
                </a:ext>
              </a:extLst>
            </p:cNvPr>
            <p:cNvSpPr>
              <a:spLocks noChangeArrowheads="1"/>
            </p:cNvSpPr>
            <p:nvPr/>
          </p:nvSpPr>
          <p:spPr bwMode="auto">
            <a:xfrm>
              <a:off x="5817" y="5609"/>
              <a:ext cx="615" cy="548"/>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dirty="0">
                  <a:solidFill>
                    <a:srgbClr val="FF0000"/>
                  </a:solidFill>
                  <a:latin typeface="Arial" pitchFamily="34" charset="0"/>
                </a:rPr>
                <a:t>8</a:t>
              </a:r>
              <a:endParaRPr lang="en-US" altLang="en-US" dirty="0">
                <a:solidFill>
                  <a:srgbClr val="FF0000"/>
                </a:solidFill>
              </a:endParaRPr>
            </a:p>
          </p:txBody>
        </p:sp>
        <p:sp>
          <p:nvSpPr>
            <p:cNvPr id="60" name="Rectangle 65">
              <a:extLst>
                <a:ext uri="{FF2B5EF4-FFF2-40B4-BE49-F238E27FC236}">
                  <a16:creationId xmlns:a16="http://schemas.microsoft.com/office/drawing/2014/main" id="{E30F73DC-51DD-0EFE-F831-95F8642C53ED}"/>
                </a:ext>
              </a:extLst>
            </p:cNvPr>
            <p:cNvSpPr>
              <a:spLocks noChangeArrowheads="1"/>
            </p:cNvSpPr>
            <p:nvPr/>
          </p:nvSpPr>
          <p:spPr bwMode="auto">
            <a:xfrm>
              <a:off x="6379" y="5610"/>
              <a:ext cx="616" cy="548"/>
            </a:xfrm>
            <a:prstGeom prst="rect">
              <a:avLst/>
            </a:prstGeom>
            <a:solidFill>
              <a:schemeClr val="tx2">
                <a:lumMod val="60000"/>
                <a:lumOff val="40000"/>
              </a:schemeClr>
            </a:solidFill>
            <a:ln w="19050">
              <a:solidFill>
                <a:srgbClr val="000000"/>
              </a:solidFill>
              <a:miter lim="800000"/>
              <a:headEnd/>
              <a:tailEnd/>
            </a:ln>
          </p:spPr>
          <p:txBody>
            <a:bodyPr tIns="0" bIns="0" anchor="ctr"/>
            <a:lstStyle/>
            <a:p>
              <a:pPr algn="ctr" eaLnBrk="1" hangingPunct="1">
                <a:spcAft>
                  <a:spcPts val="1000"/>
                </a:spcAft>
                <a:defRPr/>
              </a:pPr>
              <a:r>
                <a:rPr lang="en-GB" dirty="0">
                  <a:solidFill>
                    <a:srgbClr val="000000"/>
                  </a:solidFill>
                  <a:latin typeface="Arial" charset="0"/>
                </a:rPr>
                <a:t>9</a:t>
              </a:r>
              <a:endParaRPr lang="en-US" dirty="0"/>
            </a:p>
          </p:txBody>
        </p:sp>
        <p:sp>
          <p:nvSpPr>
            <p:cNvPr id="61" name="Rectangle 66">
              <a:extLst>
                <a:ext uri="{FF2B5EF4-FFF2-40B4-BE49-F238E27FC236}">
                  <a16:creationId xmlns:a16="http://schemas.microsoft.com/office/drawing/2014/main" id="{A4654ACC-896D-44B5-5DF2-D4C81F0EA5E6}"/>
                </a:ext>
              </a:extLst>
            </p:cNvPr>
            <p:cNvSpPr>
              <a:spLocks noChangeArrowheads="1"/>
            </p:cNvSpPr>
            <p:nvPr/>
          </p:nvSpPr>
          <p:spPr bwMode="auto">
            <a:xfrm>
              <a:off x="6943" y="5609"/>
              <a:ext cx="615" cy="548"/>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8</a:t>
              </a:r>
              <a:endParaRPr lang="en-US" altLang="en-US"/>
            </a:p>
          </p:txBody>
        </p:sp>
        <p:sp>
          <p:nvSpPr>
            <p:cNvPr id="62" name="Rectangle 67">
              <a:extLst>
                <a:ext uri="{FF2B5EF4-FFF2-40B4-BE49-F238E27FC236}">
                  <a16:creationId xmlns:a16="http://schemas.microsoft.com/office/drawing/2014/main" id="{316D6D7C-3FC8-77E8-EFED-C4EF92B17805}"/>
                </a:ext>
              </a:extLst>
            </p:cNvPr>
            <p:cNvSpPr>
              <a:spLocks noChangeArrowheads="1"/>
            </p:cNvSpPr>
            <p:nvPr/>
          </p:nvSpPr>
          <p:spPr bwMode="auto">
            <a:xfrm>
              <a:off x="7506" y="5609"/>
              <a:ext cx="615" cy="548"/>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7</a:t>
              </a:r>
              <a:endParaRPr lang="en-US" altLang="en-US"/>
            </a:p>
          </p:txBody>
        </p:sp>
        <p:sp>
          <p:nvSpPr>
            <p:cNvPr id="63" name="Rectangle 68">
              <a:extLst>
                <a:ext uri="{FF2B5EF4-FFF2-40B4-BE49-F238E27FC236}">
                  <a16:creationId xmlns:a16="http://schemas.microsoft.com/office/drawing/2014/main" id="{C5ADA009-91E4-4566-D6FD-5978B31C7A44}"/>
                </a:ext>
              </a:extLst>
            </p:cNvPr>
            <p:cNvSpPr>
              <a:spLocks noChangeArrowheads="1"/>
            </p:cNvSpPr>
            <p:nvPr/>
          </p:nvSpPr>
          <p:spPr bwMode="auto">
            <a:xfrm>
              <a:off x="8069" y="5609"/>
              <a:ext cx="615" cy="548"/>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26624" name="Rectangle 69">
              <a:extLst>
                <a:ext uri="{FF2B5EF4-FFF2-40B4-BE49-F238E27FC236}">
                  <a16:creationId xmlns:a16="http://schemas.microsoft.com/office/drawing/2014/main" id="{F02A34B4-A07A-15BF-562F-8B5F70D21DAA}"/>
                </a:ext>
              </a:extLst>
            </p:cNvPr>
            <p:cNvSpPr>
              <a:spLocks noChangeArrowheads="1"/>
            </p:cNvSpPr>
            <p:nvPr/>
          </p:nvSpPr>
          <p:spPr bwMode="auto">
            <a:xfrm>
              <a:off x="8632" y="5609"/>
              <a:ext cx="615" cy="548"/>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26625" name="Rectangle 70">
              <a:extLst>
                <a:ext uri="{FF2B5EF4-FFF2-40B4-BE49-F238E27FC236}">
                  <a16:creationId xmlns:a16="http://schemas.microsoft.com/office/drawing/2014/main" id="{14965610-E57D-229F-44BC-16054F3E5384}"/>
                </a:ext>
              </a:extLst>
            </p:cNvPr>
            <p:cNvSpPr>
              <a:spLocks noChangeArrowheads="1"/>
            </p:cNvSpPr>
            <p:nvPr/>
          </p:nvSpPr>
          <p:spPr bwMode="auto">
            <a:xfrm>
              <a:off x="3470" y="5609"/>
              <a:ext cx="584" cy="548"/>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5</a:t>
              </a:r>
              <a:endParaRPr lang="en-US" altLang="en-US" sz="2000">
                <a:solidFill>
                  <a:srgbClr val="0000FF"/>
                </a:solidFill>
              </a:endParaRPr>
            </a:p>
          </p:txBody>
        </p:sp>
        <p:sp>
          <p:nvSpPr>
            <p:cNvPr id="26644" name="Rectangle 71">
              <a:extLst>
                <a:ext uri="{FF2B5EF4-FFF2-40B4-BE49-F238E27FC236}">
                  <a16:creationId xmlns:a16="http://schemas.microsoft.com/office/drawing/2014/main" id="{403383DD-C9F5-37D1-4C7E-C73B155C8C46}"/>
                </a:ext>
              </a:extLst>
            </p:cNvPr>
            <p:cNvSpPr>
              <a:spLocks noChangeArrowheads="1"/>
            </p:cNvSpPr>
            <p:nvPr/>
          </p:nvSpPr>
          <p:spPr bwMode="auto">
            <a:xfrm>
              <a:off x="4127" y="6157"/>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26645" name="Rectangle 72">
              <a:extLst>
                <a:ext uri="{FF2B5EF4-FFF2-40B4-BE49-F238E27FC236}">
                  <a16:creationId xmlns:a16="http://schemas.microsoft.com/office/drawing/2014/main" id="{7726273E-84C7-B1F0-F5ED-1B54ECE9EBCE}"/>
                </a:ext>
              </a:extLst>
            </p:cNvPr>
            <p:cNvSpPr>
              <a:spLocks noChangeArrowheads="1"/>
            </p:cNvSpPr>
            <p:nvPr/>
          </p:nvSpPr>
          <p:spPr bwMode="auto">
            <a:xfrm>
              <a:off x="4691" y="6157"/>
              <a:ext cx="614"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26647" name="Rectangle 73">
              <a:extLst>
                <a:ext uri="{FF2B5EF4-FFF2-40B4-BE49-F238E27FC236}">
                  <a16:creationId xmlns:a16="http://schemas.microsoft.com/office/drawing/2014/main" id="{6ACBB4CE-F0B2-9616-FB1F-ECFA80E888C8}"/>
                </a:ext>
              </a:extLst>
            </p:cNvPr>
            <p:cNvSpPr>
              <a:spLocks noChangeArrowheads="1"/>
            </p:cNvSpPr>
            <p:nvPr/>
          </p:nvSpPr>
          <p:spPr bwMode="auto">
            <a:xfrm>
              <a:off x="5253" y="6157"/>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26648" name="Rectangle 74">
              <a:extLst>
                <a:ext uri="{FF2B5EF4-FFF2-40B4-BE49-F238E27FC236}">
                  <a16:creationId xmlns:a16="http://schemas.microsoft.com/office/drawing/2014/main" id="{AE9B19E1-8031-2923-60F8-299762996B3F}"/>
                </a:ext>
              </a:extLst>
            </p:cNvPr>
            <p:cNvSpPr>
              <a:spLocks noChangeArrowheads="1"/>
            </p:cNvSpPr>
            <p:nvPr/>
          </p:nvSpPr>
          <p:spPr bwMode="auto">
            <a:xfrm>
              <a:off x="5817" y="6157"/>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7</a:t>
              </a:r>
              <a:endParaRPr lang="en-US" altLang="en-US"/>
            </a:p>
          </p:txBody>
        </p:sp>
        <p:sp>
          <p:nvSpPr>
            <p:cNvPr id="26649" name="Rectangle 75">
              <a:extLst>
                <a:ext uri="{FF2B5EF4-FFF2-40B4-BE49-F238E27FC236}">
                  <a16:creationId xmlns:a16="http://schemas.microsoft.com/office/drawing/2014/main" id="{148C72A8-4471-28B6-A371-AEE4386EA0D6}"/>
                </a:ext>
              </a:extLst>
            </p:cNvPr>
            <p:cNvSpPr>
              <a:spLocks noChangeArrowheads="1"/>
            </p:cNvSpPr>
            <p:nvPr/>
          </p:nvSpPr>
          <p:spPr bwMode="auto">
            <a:xfrm>
              <a:off x="6380" y="6157"/>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8</a:t>
              </a:r>
              <a:endParaRPr lang="en-US" altLang="en-US"/>
            </a:p>
          </p:txBody>
        </p:sp>
        <p:sp>
          <p:nvSpPr>
            <p:cNvPr id="26650" name="Rectangle 76">
              <a:extLst>
                <a:ext uri="{FF2B5EF4-FFF2-40B4-BE49-F238E27FC236}">
                  <a16:creationId xmlns:a16="http://schemas.microsoft.com/office/drawing/2014/main" id="{264B8033-4329-4C23-42FE-352F67359E51}"/>
                </a:ext>
              </a:extLst>
            </p:cNvPr>
            <p:cNvSpPr>
              <a:spLocks noChangeArrowheads="1"/>
            </p:cNvSpPr>
            <p:nvPr/>
          </p:nvSpPr>
          <p:spPr bwMode="auto">
            <a:xfrm>
              <a:off x="6943" y="6157"/>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7</a:t>
              </a:r>
              <a:endParaRPr lang="en-US" altLang="en-US"/>
            </a:p>
          </p:txBody>
        </p:sp>
        <p:sp>
          <p:nvSpPr>
            <p:cNvPr id="26651" name="Rectangle 77">
              <a:extLst>
                <a:ext uri="{FF2B5EF4-FFF2-40B4-BE49-F238E27FC236}">
                  <a16:creationId xmlns:a16="http://schemas.microsoft.com/office/drawing/2014/main" id="{5780B1F7-D8A2-D6DB-9F8F-C0B8C3C83E65}"/>
                </a:ext>
              </a:extLst>
            </p:cNvPr>
            <p:cNvSpPr>
              <a:spLocks noChangeArrowheads="1"/>
            </p:cNvSpPr>
            <p:nvPr/>
          </p:nvSpPr>
          <p:spPr bwMode="auto">
            <a:xfrm>
              <a:off x="7506" y="6157"/>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26652" name="Rectangle 78">
              <a:extLst>
                <a:ext uri="{FF2B5EF4-FFF2-40B4-BE49-F238E27FC236}">
                  <a16:creationId xmlns:a16="http://schemas.microsoft.com/office/drawing/2014/main" id="{AFF8D28A-2BD4-128D-E74D-1E8EF404DC2D}"/>
                </a:ext>
              </a:extLst>
            </p:cNvPr>
            <p:cNvSpPr>
              <a:spLocks noChangeArrowheads="1"/>
            </p:cNvSpPr>
            <p:nvPr/>
          </p:nvSpPr>
          <p:spPr bwMode="auto">
            <a:xfrm>
              <a:off x="8069" y="6157"/>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26653" name="Rectangle 79">
              <a:extLst>
                <a:ext uri="{FF2B5EF4-FFF2-40B4-BE49-F238E27FC236}">
                  <a16:creationId xmlns:a16="http://schemas.microsoft.com/office/drawing/2014/main" id="{5DEDF794-45D3-A6A4-A4B5-87612BF362F8}"/>
                </a:ext>
              </a:extLst>
            </p:cNvPr>
            <p:cNvSpPr>
              <a:spLocks noChangeArrowheads="1"/>
            </p:cNvSpPr>
            <p:nvPr/>
          </p:nvSpPr>
          <p:spPr bwMode="auto">
            <a:xfrm>
              <a:off x="8632" y="6157"/>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26654" name="Rectangle 80">
              <a:extLst>
                <a:ext uri="{FF2B5EF4-FFF2-40B4-BE49-F238E27FC236}">
                  <a16:creationId xmlns:a16="http://schemas.microsoft.com/office/drawing/2014/main" id="{61C7D0A2-E921-3697-CF19-3B312D54EEB8}"/>
                </a:ext>
              </a:extLst>
            </p:cNvPr>
            <p:cNvSpPr>
              <a:spLocks noChangeArrowheads="1"/>
            </p:cNvSpPr>
            <p:nvPr/>
          </p:nvSpPr>
          <p:spPr bwMode="auto">
            <a:xfrm>
              <a:off x="3470" y="6157"/>
              <a:ext cx="584" cy="550"/>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6</a:t>
              </a:r>
              <a:endParaRPr lang="en-US" altLang="en-US" sz="2000">
                <a:solidFill>
                  <a:srgbClr val="0000FF"/>
                </a:solidFill>
              </a:endParaRPr>
            </a:p>
          </p:txBody>
        </p:sp>
        <p:sp>
          <p:nvSpPr>
            <p:cNvPr id="26655" name="Rectangle 81">
              <a:extLst>
                <a:ext uri="{FF2B5EF4-FFF2-40B4-BE49-F238E27FC236}">
                  <a16:creationId xmlns:a16="http://schemas.microsoft.com/office/drawing/2014/main" id="{84143356-E829-200D-871D-F9B2B4C653EE}"/>
                </a:ext>
              </a:extLst>
            </p:cNvPr>
            <p:cNvSpPr>
              <a:spLocks noChangeArrowheads="1"/>
            </p:cNvSpPr>
            <p:nvPr/>
          </p:nvSpPr>
          <p:spPr bwMode="auto">
            <a:xfrm>
              <a:off x="4127" y="6707"/>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26656" name="Rectangle 82">
              <a:extLst>
                <a:ext uri="{FF2B5EF4-FFF2-40B4-BE49-F238E27FC236}">
                  <a16:creationId xmlns:a16="http://schemas.microsoft.com/office/drawing/2014/main" id="{1F49CFE4-B9D1-298C-DC5C-A1D8AE9F9039}"/>
                </a:ext>
              </a:extLst>
            </p:cNvPr>
            <p:cNvSpPr>
              <a:spLocks noChangeArrowheads="1"/>
            </p:cNvSpPr>
            <p:nvPr/>
          </p:nvSpPr>
          <p:spPr bwMode="auto">
            <a:xfrm>
              <a:off x="4691" y="6707"/>
              <a:ext cx="614"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26657" name="Rectangle 83">
              <a:extLst>
                <a:ext uri="{FF2B5EF4-FFF2-40B4-BE49-F238E27FC236}">
                  <a16:creationId xmlns:a16="http://schemas.microsoft.com/office/drawing/2014/main" id="{AA3C2184-67CB-8C45-D31A-5CA4D0A6A418}"/>
                </a:ext>
              </a:extLst>
            </p:cNvPr>
            <p:cNvSpPr>
              <a:spLocks noChangeArrowheads="1"/>
            </p:cNvSpPr>
            <p:nvPr/>
          </p:nvSpPr>
          <p:spPr bwMode="auto">
            <a:xfrm>
              <a:off x="5253" y="6707"/>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26658" name="Rectangle 84">
              <a:extLst>
                <a:ext uri="{FF2B5EF4-FFF2-40B4-BE49-F238E27FC236}">
                  <a16:creationId xmlns:a16="http://schemas.microsoft.com/office/drawing/2014/main" id="{2AAED504-70CD-8478-8E2B-3C0015903447}"/>
                </a:ext>
              </a:extLst>
            </p:cNvPr>
            <p:cNvSpPr>
              <a:spLocks noChangeArrowheads="1"/>
            </p:cNvSpPr>
            <p:nvPr/>
          </p:nvSpPr>
          <p:spPr bwMode="auto">
            <a:xfrm>
              <a:off x="5817" y="6707"/>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26659" name="Rectangle 85">
              <a:extLst>
                <a:ext uri="{FF2B5EF4-FFF2-40B4-BE49-F238E27FC236}">
                  <a16:creationId xmlns:a16="http://schemas.microsoft.com/office/drawing/2014/main" id="{8FB0E9F4-BC27-5F71-B06C-4A68744E6E55}"/>
                </a:ext>
              </a:extLst>
            </p:cNvPr>
            <p:cNvSpPr>
              <a:spLocks noChangeArrowheads="1"/>
            </p:cNvSpPr>
            <p:nvPr/>
          </p:nvSpPr>
          <p:spPr bwMode="auto">
            <a:xfrm>
              <a:off x="6380" y="6707"/>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7</a:t>
              </a:r>
              <a:endParaRPr lang="en-US" altLang="en-US"/>
            </a:p>
          </p:txBody>
        </p:sp>
        <p:sp>
          <p:nvSpPr>
            <p:cNvPr id="26660" name="Rectangle 86">
              <a:extLst>
                <a:ext uri="{FF2B5EF4-FFF2-40B4-BE49-F238E27FC236}">
                  <a16:creationId xmlns:a16="http://schemas.microsoft.com/office/drawing/2014/main" id="{DB8F3DEF-D500-65B2-0E35-085EF85CE16F}"/>
                </a:ext>
              </a:extLst>
            </p:cNvPr>
            <p:cNvSpPr>
              <a:spLocks noChangeArrowheads="1"/>
            </p:cNvSpPr>
            <p:nvPr/>
          </p:nvSpPr>
          <p:spPr bwMode="auto">
            <a:xfrm>
              <a:off x="6943" y="6707"/>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26661" name="Rectangle 87">
              <a:extLst>
                <a:ext uri="{FF2B5EF4-FFF2-40B4-BE49-F238E27FC236}">
                  <a16:creationId xmlns:a16="http://schemas.microsoft.com/office/drawing/2014/main" id="{C538891B-3C7D-2370-F550-7038F96AC258}"/>
                </a:ext>
              </a:extLst>
            </p:cNvPr>
            <p:cNvSpPr>
              <a:spLocks noChangeArrowheads="1"/>
            </p:cNvSpPr>
            <p:nvPr/>
          </p:nvSpPr>
          <p:spPr bwMode="auto">
            <a:xfrm>
              <a:off x="7506" y="6707"/>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26662" name="Rectangle 88">
              <a:extLst>
                <a:ext uri="{FF2B5EF4-FFF2-40B4-BE49-F238E27FC236}">
                  <a16:creationId xmlns:a16="http://schemas.microsoft.com/office/drawing/2014/main" id="{CC016A33-94FE-34B9-396E-3C2DC36DFE40}"/>
                </a:ext>
              </a:extLst>
            </p:cNvPr>
            <p:cNvSpPr>
              <a:spLocks noChangeArrowheads="1"/>
            </p:cNvSpPr>
            <p:nvPr/>
          </p:nvSpPr>
          <p:spPr bwMode="auto">
            <a:xfrm>
              <a:off x="8069" y="6707"/>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26663" name="Rectangle 89">
              <a:extLst>
                <a:ext uri="{FF2B5EF4-FFF2-40B4-BE49-F238E27FC236}">
                  <a16:creationId xmlns:a16="http://schemas.microsoft.com/office/drawing/2014/main" id="{315E96D7-5408-5FA3-6A15-6EB3121F3B77}"/>
                </a:ext>
              </a:extLst>
            </p:cNvPr>
            <p:cNvSpPr>
              <a:spLocks noChangeArrowheads="1"/>
            </p:cNvSpPr>
            <p:nvPr/>
          </p:nvSpPr>
          <p:spPr bwMode="auto">
            <a:xfrm>
              <a:off x="8632" y="6707"/>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26664" name="Rectangle 90">
              <a:extLst>
                <a:ext uri="{FF2B5EF4-FFF2-40B4-BE49-F238E27FC236}">
                  <a16:creationId xmlns:a16="http://schemas.microsoft.com/office/drawing/2014/main" id="{2F016674-10D6-F5B5-E758-34B48A188FBE}"/>
                </a:ext>
              </a:extLst>
            </p:cNvPr>
            <p:cNvSpPr>
              <a:spLocks noChangeArrowheads="1"/>
            </p:cNvSpPr>
            <p:nvPr/>
          </p:nvSpPr>
          <p:spPr bwMode="auto">
            <a:xfrm>
              <a:off x="3470" y="6707"/>
              <a:ext cx="584"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7</a:t>
              </a:r>
              <a:endParaRPr lang="en-US" altLang="en-US" sz="2000">
                <a:solidFill>
                  <a:srgbClr val="0000FF"/>
                </a:solidFill>
              </a:endParaRPr>
            </a:p>
          </p:txBody>
        </p:sp>
        <p:sp>
          <p:nvSpPr>
            <p:cNvPr id="26665" name="Rectangle 91">
              <a:extLst>
                <a:ext uri="{FF2B5EF4-FFF2-40B4-BE49-F238E27FC236}">
                  <a16:creationId xmlns:a16="http://schemas.microsoft.com/office/drawing/2014/main" id="{B8DE90D3-4400-CEF0-6F74-DA733175D314}"/>
                </a:ext>
              </a:extLst>
            </p:cNvPr>
            <p:cNvSpPr>
              <a:spLocks noChangeArrowheads="1"/>
            </p:cNvSpPr>
            <p:nvPr/>
          </p:nvSpPr>
          <p:spPr bwMode="auto">
            <a:xfrm>
              <a:off x="4127" y="7256"/>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26666" name="Rectangle 92">
              <a:extLst>
                <a:ext uri="{FF2B5EF4-FFF2-40B4-BE49-F238E27FC236}">
                  <a16:creationId xmlns:a16="http://schemas.microsoft.com/office/drawing/2014/main" id="{EA79F7B9-7764-AEB7-1E0B-D9DB1D36EA3D}"/>
                </a:ext>
              </a:extLst>
            </p:cNvPr>
            <p:cNvSpPr>
              <a:spLocks noChangeArrowheads="1"/>
            </p:cNvSpPr>
            <p:nvPr/>
          </p:nvSpPr>
          <p:spPr bwMode="auto">
            <a:xfrm>
              <a:off x="4691" y="7256"/>
              <a:ext cx="614"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26667" name="Rectangle 93">
              <a:extLst>
                <a:ext uri="{FF2B5EF4-FFF2-40B4-BE49-F238E27FC236}">
                  <a16:creationId xmlns:a16="http://schemas.microsoft.com/office/drawing/2014/main" id="{680FEC8E-5AAF-712A-724D-B90A65BFF12B}"/>
                </a:ext>
              </a:extLst>
            </p:cNvPr>
            <p:cNvSpPr>
              <a:spLocks noChangeArrowheads="1"/>
            </p:cNvSpPr>
            <p:nvPr/>
          </p:nvSpPr>
          <p:spPr bwMode="auto">
            <a:xfrm>
              <a:off x="5253" y="7256"/>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26668" name="Rectangle 94">
              <a:extLst>
                <a:ext uri="{FF2B5EF4-FFF2-40B4-BE49-F238E27FC236}">
                  <a16:creationId xmlns:a16="http://schemas.microsoft.com/office/drawing/2014/main" id="{86F00CFF-F90D-9056-A90E-EB6409FFE43E}"/>
                </a:ext>
              </a:extLst>
            </p:cNvPr>
            <p:cNvSpPr>
              <a:spLocks noChangeArrowheads="1"/>
            </p:cNvSpPr>
            <p:nvPr/>
          </p:nvSpPr>
          <p:spPr bwMode="auto">
            <a:xfrm>
              <a:off x="5817" y="7256"/>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26669" name="Rectangle 95">
              <a:extLst>
                <a:ext uri="{FF2B5EF4-FFF2-40B4-BE49-F238E27FC236}">
                  <a16:creationId xmlns:a16="http://schemas.microsoft.com/office/drawing/2014/main" id="{3BA86001-50FD-5447-9BE0-535B2D90BE2E}"/>
                </a:ext>
              </a:extLst>
            </p:cNvPr>
            <p:cNvSpPr>
              <a:spLocks noChangeArrowheads="1"/>
            </p:cNvSpPr>
            <p:nvPr/>
          </p:nvSpPr>
          <p:spPr bwMode="auto">
            <a:xfrm>
              <a:off x="6380" y="7256"/>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6</a:t>
              </a:r>
              <a:endParaRPr lang="en-US" altLang="en-US"/>
            </a:p>
          </p:txBody>
        </p:sp>
        <p:sp>
          <p:nvSpPr>
            <p:cNvPr id="26670" name="Rectangle 96">
              <a:extLst>
                <a:ext uri="{FF2B5EF4-FFF2-40B4-BE49-F238E27FC236}">
                  <a16:creationId xmlns:a16="http://schemas.microsoft.com/office/drawing/2014/main" id="{62D0F2E0-F633-742C-46E4-9F632A4BEA0B}"/>
                </a:ext>
              </a:extLst>
            </p:cNvPr>
            <p:cNvSpPr>
              <a:spLocks noChangeArrowheads="1"/>
            </p:cNvSpPr>
            <p:nvPr/>
          </p:nvSpPr>
          <p:spPr bwMode="auto">
            <a:xfrm>
              <a:off x="6943" y="7256"/>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26671" name="Rectangle 97">
              <a:extLst>
                <a:ext uri="{FF2B5EF4-FFF2-40B4-BE49-F238E27FC236}">
                  <a16:creationId xmlns:a16="http://schemas.microsoft.com/office/drawing/2014/main" id="{0901C166-F6D0-95DB-1ECD-53E741C500EC}"/>
                </a:ext>
              </a:extLst>
            </p:cNvPr>
            <p:cNvSpPr>
              <a:spLocks noChangeArrowheads="1"/>
            </p:cNvSpPr>
            <p:nvPr/>
          </p:nvSpPr>
          <p:spPr bwMode="auto">
            <a:xfrm>
              <a:off x="7506" y="7256"/>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26672" name="Rectangle 98">
              <a:extLst>
                <a:ext uri="{FF2B5EF4-FFF2-40B4-BE49-F238E27FC236}">
                  <a16:creationId xmlns:a16="http://schemas.microsoft.com/office/drawing/2014/main" id="{0A2356FD-437A-40C0-258B-174D1DC0D6CB}"/>
                </a:ext>
              </a:extLst>
            </p:cNvPr>
            <p:cNvSpPr>
              <a:spLocks noChangeArrowheads="1"/>
            </p:cNvSpPr>
            <p:nvPr/>
          </p:nvSpPr>
          <p:spPr bwMode="auto">
            <a:xfrm>
              <a:off x="8069" y="7256"/>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26673" name="Rectangle 99">
              <a:extLst>
                <a:ext uri="{FF2B5EF4-FFF2-40B4-BE49-F238E27FC236}">
                  <a16:creationId xmlns:a16="http://schemas.microsoft.com/office/drawing/2014/main" id="{40E8982F-2284-FC73-4A8C-5067AF54AD52}"/>
                </a:ext>
              </a:extLst>
            </p:cNvPr>
            <p:cNvSpPr>
              <a:spLocks noChangeArrowheads="1"/>
            </p:cNvSpPr>
            <p:nvPr/>
          </p:nvSpPr>
          <p:spPr bwMode="auto">
            <a:xfrm>
              <a:off x="8632" y="7256"/>
              <a:ext cx="615" cy="550"/>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26674" name="Rectangle 100">
              <a:extLst>
                <a:ext uri="{FF2B5EF4-FFF2-40B4-BE49-F238E27FC236}">
                  <a16:creationId xmlns:a16="http://schemas.microsoft.com/office/drawing/2014/main" id="{86CAAE8F-523E-64A6-6979-272591484E20}"/>
                </a:ext>
              </a:extLst>
            </p:cNvPr>
            <p:cNvSpPr>
              <a:spLocks noChangeArrowheads="1"/>
            </p:cNvSpPr>
            <p:nvPr/>
          </p:nvSpPr>
          <p:spPr bwMode="auto">
            <a:xfrm>
              <a:off x="3470" y="7256"/>
              <a:ext cx="584" cy="550"/>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8</a:t>
              </a:r>
              <a:endParaRPr lang="en-US" altLang="en-US" sz="2000">
                <a:solidFill>
                  <a:srgbClr val="0000FF"/>
                </a:solidFill>
              </a:endParaRPr>
            </a:p>
          </p:txBody>
        </p:sp>
        <p:sp>
          <p:nvSpPr>
            <p:cNvPr id="26675" name="Rectangle 101">
              <a:extLst>
                <a:ext uri="{FF2B5EF4-FFF2-40B4-BE49-F238E27FC236}">
                  <a16:creationId xmlns:a16="http://schemas.microsoft.com/office/drawing/2014/main" id="{578B8B11-445A-CF40-AC88-E75852A67245}"/>
                </a:ext>
              </a:extLst>
            </p:cNvPr>
            <p:cNvSpPr>
              <a:spLocks noChangeArrowheads="1"/>
            </p:cNvSpPr>
            <p:nvPr/>
          </p:nvSpPr>
          <p:spPr bwMode="auto">
            <a:xfrm>
              <a:off x="4127"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1</a:t>
              </a:r>
              <a:endParaRPr lang="en-US" altLang="en-US"/>
            </a:p>
          </p:txBody>
        </p:sp>
        <p:sp>
          <p:nvSpPr>
            <p:cNvPr id="26676" name="Rectangle 102">
              <a:extLst>
                <a:ext uri="{FF2B5EF4-FFF2-40B4-BE49-F238E27FC236}">
                  <a16:creationId xmlns:a16="http://schemas.microsoft.com/office/drawing/2014/main" id="{AA350932-2349-45BC-CED3-643F152AE062}"/>
                </a:ext>
              </a:extLst>
            </p:cNvPr>
            <p:cNvSpPr>
              <a:spLocks noChangeArrowheads="1"/>
            </p:cNvSpPr>
            <p:nvPr/>
          </p:nvSpPr>
          <p:spPr bwMode="auto">
            <a:xfrm>
              <a:off x="4691" y="7806"/>
              <a:ext cx="614"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26677" name="Rectangle 103">
              <a:extLst>
                <a:ext uri="{FF2B5EF4-FFF2-40B4-BE49-F238E27FC236}">
                  <a16:creationId xmlns:a16="http://schemas.microsoft.com/office/drawing/2014/main" id="{04BD87BF-8A41-73BA-D717-5ED916DCA2E2}"/>
                </a:ext>
              </a:extLst>
            </p:cNvPr>
            <p:cNvSpPr>
              <a:spLocks noChangeArrowheads="1"/>
            </p:cNvSpPr>
            <p:nvPr/>
          </p:nvSpPr>
          <p:spPr bwMode="auto">
            <a:xfrm>
              <a:off x="5253"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26678" name="Rectangle 104">
              <a:extLst>
                <a:ext uri="{FF2B5EF4-FFF2-40B4-BE49-F238E27FC236}">
                  <a16:creationId xmlns:a16="http://schemas.microsoft.com/office/drawing/2014/main" id="{F5C20618-F57A-FA93-6D49-D43D6C33B654}"/>
                </a:ext>
              </a:extLst>
            </p:cNvPr>
            <p:cNvSpPr>
              <a:spLocks noChangeArrowheads="1"/>
            </p:cNvSpPr>
            <p:nvPr/>
          </p:nvSpPr>
          <p:spPr bwMode="auto">
            <a:xfrm>
              <a:off x="5817"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26679" name="Rectangle 105">
              <a:extLst>
                <a:ext uri="{FF2B5EF4-FFF2-40B4-BE49-F238E27FC236}">
                  <a16:creationId xmlns:a16="http://schemas.microsoft.com/office/drawing/2014/main" id="{8D52A6EB-6115-75D7-61EB-DFF89B11E107}"/>
                </a:ext>
              </a:extLst>
            </p:cNvPr>
            <p:cNvSpPr>
              <a:spLocks noChangeArrowheads="1"/>
            </p:cNvSpPr>
            <p:nvPr/>
          </p:nvSpPr>
          <p:spPr bwMode="auto">
            <a:xfrm>
              <a:off x="6380"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5</a:t>
              </a:r>
              <a:endParaRPr lang="en-US" altLang="en-US"/>
            </a:p>
          </p:txBody>
        </p:sp>
        <p:sp>
          <p:nvSpPr>
            <p:cNvPr id="26680" name="Rectangle 106">
              <a:extLst>
                <a:ext uri="{FF2B5EF4-FFF2-40B4-BE49-F238E27FC236}">
                  <a16:creationId xmlns:a16="http://schemas.microsoft.com/office/drawing/2014/main" id="{2B51B6EA-B3BD-B65A-7B02-8B96FCBF0885}"/>
                </a:ext>
              </a:extLst>
            </p:cNvPr>
            <p:cNvSpPr>
              <a:spLocks noChangeArrowheads="1"/>
            </p:cNvSpPr>
            <p:nvPr/>
          </p:nvSpPr>
          <p:spPr bwMode="auto">
            <a:xfrm>
              <a:off x="6943"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4</a:t>
              </a:r>
              <a:endParaRPr lang="en-US" altLang="en-US"/>
            </a:p>
          </p:txBody>
        </p:sp>
        <p:sp>
          <p:nvSpPr>
            <p:cNvPr id="26681" name="Rectangle 107">
              <a:extLst>
                <a:ext uri="{FF2B5EF4-FFF2-40B4-BE49-F238E27FC236}">
                  <a16:creationId xmlns:a16="http://schemas.microsoft.com/office/drawing/2014/main" id="{B016129A-3162-362A-18E6-FEFE80378B05}"/>
                </a:ext>
              </a:extLst>
            </p:cNvPr>
            <p:cNvSpPr>
              <a:spLocks noChangeArrowheads="1"/>
            </p:cNvSpPr>
            <p:nvPr/>
          </p:nvSpPr>
          <p:spPr bwMode="auto">
            <a:xfrm>
              <a:off x="7506"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3</a:t>
              </a:r>
              <a:endParaRPr lang="en-US" altLang="en-US"/>
            </a:p>
          </p:txBody>
        </p:sp>
        <p:sp>
          <p:nvSpPr>
            <p:cNvPr id="26682" name="Rectangle 108">
              <a:extLst>
                <a:ext uri="{FF2B5EF4-FFF2-40B4-BE49-F238E27FC236}">
                  <a16:creationId xmlns:a16="http://schemas.microsoft.com/office/drawing/2014/main" id="{9BED5D31-8248-D008-D0BA-2C8D5B966ED7}"/>
                </a:ext>
              </a:extLst>
            </p:cNvPr>
            <p:cNvSpPr>
              <a:spLocks noChangeArrowheads="1"/>
            </p:cNvSpPr>
            <p:nvPr/>
          </p:nvSpPr>
          <p:spPr bwMode="auto">
            <a:xfrm>
              <a:off x="8069"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2</a:t>
              </a:r>
              <a:endParaRPr lang="en-US" altLang="en-US"/>
            </a:p>
          </p:txBody>
        </p:sp>
        <p:sp>
          <p:nvSpPr>
            <p:cNvPr id="26683" name="Rectangle 109">
              <a:extLst>
                <a:ext uri="{FF2B5EF4-FFF2-40B4-BE49-F238E27FC236}">
                  <a16:creationId xmlns:a16="http://schemas.microsoft.com/office/drawing/2014/main" id="{097F00AA-14EF-9120-6EF4-0BAE78AAC323}"/>
                </a:ext>
              </a:extLst>
            </p:cNvPr>
            <p:cNvSpPr>
              <a:spLocks noChangeArrowheads="1"/>
            </p:cNvSpPr>
            <p:nvPr/>
          </p:nvSpPr>
          <p:spPr bwMode="auto">
            <a:xfrm>
              <a:off x="8632" y="7806"/>
              <a:ext cx="615" cy="549"/>
            </a:xfrm>
            <a:prstGeom prst="rect">
              <a:avLst/>
            </a:prstGeom>
            <a:solidFill>
              <a:srgbClr val="FFFFFF"/>
            </a:solidFill>
            <a:ln w="19050">
              <a:solidFill>
                <a:srgbClr val="000000"/>
              </a:solid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1</a:t>
              </a:r>
              <a:endParaRPr lang="en-US" altLang="en-US"/>
            </a:p>
          </p:txBody>
        </p:sp>
        <p:sp>
          <p:nvSpPr>
            <p:cNvPr id="26684" name="Rectangle 110">
              <a:extLst>
                <a:ext uri="{FF2B5EF4-FFF2-40B4-BE49-F238E27FC236}">
                  <a16:creationId xmlns:a16="http://schemas.microsoft.com/office/drawing/2014/main" id="{44098599-1338-CDED-5B85-9FFCC1A42F81}"/>
                </a:ext>
              </a:extLst>
            </p:cNvPr>
            <p:cNvSpPr>
              <a:spLocks noChangeArrowheads="1"/>
            </p:cNvSpPr>
            <p:nvPr/>
          </p:nvSpPr>
          <p:spPr bwMode="auto">
            <a:xfrm>
              <a:off x="3470" y="7806"/>
              <a:ext cx="584" cy="549"/>
            </a:xfrm>
            <a:prstGeom prst="rect">
              <a:avLst/>
            </a:prstGeom>
            <a:noFill/>
            <a:ln w="19050">
              <a:noFill/>
              <a:miter lim="800000"/>
              <a:headEnd/>
              <a:tailEnd/>
            </a:ln>
          </p:spPr>
          <p:txBody>
            <a:bodyPr tIns="0" bIns="0" anchor="ctr"/>
            <a:lstStyle/>
            <a:p>
              <a:pPr algn="ctr" eaLnBrk="1" hangingPunct="1">
                <a:spcAft>
                  <a:spcPts val="1000"/>
                </a:spcAft>
              </a:pPr>
              <a:r>
                <a:rPr lang="en-GB" altLang="en-US" sz="2000">
                  <a:solidFill>
                    <a:srgbClr val="0000FF"/>
                  </a:solidFill>
                  <a:latin typeface="Arial" pitchFamily="34" charset="0"/>
                </a:rPr>
                <a:t>9</a:t>
              </a:r>
              <a:endParaRPr lang="en-US" altLang="en-US" sz="2000">
                <a:solidFill>
                  <a:srgbClr val="0000FF"/>
                </a:solidFill>
              </a:endParaRPr>
            </a:p>
          </p:txBody>
        </p:sp>
        <p:sp>
          <p:nvSpPr>
            <p:cNvPr id="26685" name="Rectangle 111">
              <a:extLst>
                <a:ext uri="{FF2B5EF4-FFF2-40B4-BE49-F238E27FC236}">
                  <a16:creationId xmlns:a16="http://schemas.microsoft.com/office/drawing/2014/main" id="{70B667BF-AFF3-D50D-AD65-22546EB81EFA}"/>
                </a:ext>
              </a:extLst>
            </p:cNvPr>
            <p:cNvSpPr>
              <a:spLocks noChangeArrowheads="1"/>
            </p:cNvSpPr>
            <p:nvPr/>
          </p:nvSpPr>
          <p:spPr bwMode="auto">
            <a:xfrm>
              <a:off x="5666" y="2325"/>
              <a:ext cx="1284" cy="549"/>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flour</a:t>
              </a:r>
              <a:endParaRPr lang="en-US" altLang="en-US"/>
            </a:p>
          </p:txBody>
        </p:sp>
        <p:sp>
          <p:nvSpPr>
            <p:cNvPr id="26686" name="Rectangle 112">
              <a:extLst>
                <a:ext uri="{FF2B5EF4-FFF2-40B4-BE49-F238E27FC236}">
                  <a16:creationId xmlns:a16="http://schemas.microsoft.com/office/drawing/2014/main" id="{7609E1D6-A500-92FE-2887-57B2CEDC974D}"/>
                </a:ext>
              </a:extLst>
            </p:cNvPr>
            <p:cNvSpPr>
              <a:spLocks noChangeArrowheads="1"/>
            </p:cNvSpPr>
            <p:nvPr/>
          </p:nvSpPr>
          <p:spPr bwMode="auto">
            <a:xfrm rot="-5400000">
              <a:off x="2386" y="5485"/>
              <a:ext cx="1571" cy="563"/>
            </a:xfrm>
            <a:prstGeom prst="rect">
              <a:avLst/>
            </a:prstGeom>
            <a:noFill/>
            <a:ln w="19050">
              <a:noFill/>
              <a:miter lim="800000"/>
              <a:headEnd/>
              <a:tailEnd/>
            </a:ln>
          </p:spPr>
          <p:txBody>
            <a:bodyPr tIns="0" bIns="0" anchor="ctr"/>
            <a:lstStyle/>
            <a:p>
              <a:pPr algn="ctr" eaLnBrk="1" hangingPunct="1">
                <a:spcAft>
                  <a:spcPts val="1000"/>
                </a:spcAft>
              </a:pPr>
              <a:r>
                <a:rPr lang="en-GB" altLang="en-US">
                  <a:solidFill>
                    <a:srgbClr val="000000"/>
                  </a:solidFill>
                  <a:latin typeface="Arial" pitchFamily="34" charset="0"/>
                </a:rPr>
                <a:t>sugar</a:t>
              </a:r>
              <a:endParaRPr lang="en-US"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dissolve">
                                      <p:cBhvr>
                                        <p:cTn id="7" dur="500"/>
                                        <p:tgtEl>
                                          <p:spTgt spid="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Date Placeholder 3"/>
          <p:cNvSpPr txBox="1">
            <a:spLocks noGrp="1"/>
          </p:cNvSpPr>
          <p:nvPr/>
        </p:nvSpPr>
        <p:spPr bwMode="auto">
          <a:xfrm>
            <a:off x="0" y="6400800"/>
            <a:ext cx="1905000" cy="457200"/>
          </a:xfrm>
          <a:prstGeom prst="rect">
            <a:avLst/>
          </a:prstGeom>
          <a:noFill/>
          <a:ln w="9525">
            <a:noFill/>
            <a:miter lim="800000"/>
            <a:headEnd/>
            <a:tailEnd/>
          </a:ln>
        </p:spPr>
        <p:txBody>
          <a:bodyPr anchor="b"/>
          <a:lstStyle/>
          <a:p>
            <a:pPr eaLnBrk="1" hangingPunct="1"/>
            <a:fld id="{128BD567-01AB-4B27-8950-3DB03FB096D1}" type="datetime1">
              <a:rPr lang="en-GB" altLang="en-US" sz="1200"/>
              <a:pPr eaLnBrk="1" hangingPunct="1"/>
              <a:t>17/02/2026</a:t>
            </a:fld>
            <a:endParaRPr lang="en-GB" altLang="en-US" sz="1200"/>
          </a:p>
        </p:txBody>
      </p:sp>
      <p:sp>
        <p:nvSpPr>
          <p:cNvPr id="26628" name="Slide Number Placeholder 5"/>
          <p:cNvSpPr txBox="1">
            <a:spLocks noGrp="1"/>
          </p:cNvSpPr>
          <p:nvPr/>
        </p:nvSpPr>
        <p:spPr bwMode="auto">
          <a:xfrm>
            <a:off x="7239000" y="6400800"/>
            <a:ext cx="1905000" cy="457200"/>
          </a:xfrm>
          <a:prstGeom prst="rect">
            <a:avLst/>
          </a:prstGeom>
          <a:noFill/>
          <a:ln w="9525">
            <a:noFill/>
            <a:miter lim="800000"/>
            <a:headEnd/>
            <a:tailEnd/>
          </a:ln>
        </p:spPr>
        <p:txBody>
          <a:bodyPr anchor="b"/>
          <a:lstStyle/>
          <a:p>
            <a:pPr algn="r" eaLnBrk="1" hangingPunct="1"/>
            <a:fld id="{0CB80C61-3213-40D2-A7FB-4DB591B37004}" type="slidenum">
              <a:rPr lang="en-GB" altLang="en-US" sz="1200"/>
              <a:pPr algn="r" eaLnBrk="1" hangingPunct="1"/>
              <a:t>25</a:t>
            </a:fld>
            <a:endParaRPr lang="en-GB" altLang="en-US" sz="1200"/>
          </a:p>
        </p:txBody>
      </p:sp>
      <p:sp>
        <p:nvSpPr>
          <p:cNvPr id="26629" name="Rectangle 2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30"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31"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32"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33"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34"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35"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36"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37"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38"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39" name="Rectangle 1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40"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41" name="Rectangle 9"/>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42"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643"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3" name="Rectangle 3"/>
          <p:cNvSpPr txBox="1">
            <a:spLocks noChangeArrowheads="1"/>
          </p:cNvSpPr>
          <p:nvPr/>
        </p:nvSpPr>
        <p:spPr bwMode="auto">
          <a:xfrm>
            <a:off x="928687" y="1124744"/>
            <a:ext cx="7747769" cy="857250"/>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GB" altLang="en-US" dirty="0"/>
              <a:t>Multiple point crossover is also possible, but the chance of </a:t>
            </a:r>
            <a:r>
              <a:rPr lang="en-GB" altLang="en-US" dirty="0">
                <a:solidFill>
                  <a:srgbClr val="FF0000"/>
                </a:solidFill>
              </a:rPr>
              <a:t>splitting building blocks </a:t>
            </a:r>
            <a:r>
              <a:rPr lang="en-GB" altLang="en-US" dirty="0"/>
              <a:t>increases</a:t>
            </a:r>
            <a:r>
              <a:rPr lang="en-US" altLang="en-US" dirty="0"/>
              <a:t>.</a:t>
            </a:r>
            <a:endParaRPr lang="en-GB" altLang="en-US" dirty="0">
              <a:cs typeface="Tahoma" pitchFamily="34" charset="0"/>
            </a:endParaRPr>
          </a:p>
        </p:txBody>
      </p:sp>
      <p:sp>
        <p:nvSpPr>
          <p:cNvPr id="26646" name="Rectangle 2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 name="Rectangle 3"/>
          <p:cNvSpPr txBox="1">
            <a:spLocks noChangeArrowheads="1"/>
          </p:cNvSpPr>
          <p:nvPr/>
        </p:nvSpPr>
        <p:spPr bwMode="auto">
          <a:xfrm>
            <a:off x="928687" y="2412037"/>
            <a:ext cx="7351725" cy="1485015"/>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dirty="0"/>
              <a:t>Crossover may interfere with the </a:t>
            </a:r>
            <a:r>
              <a:rPr lang="en-US" altLang="en-US" i="1" dirty="0"/>
              <a:t>exploitation</a:t>
            </a:r>
            <a:r>
              <a:rPr lang="en-US" altLang="en-US" dirty="0"/>
              <a:t> of a building block by breaking it up, but it also produces new blocks, which allow new regions to be tested (</a:t>
            </a:r>
            <a:r>
              <a:rPr lang="en-US" altLang="en-US" i="1" dirty="0"/>
              <a:t>exploration</a:t>
            </a:r>
            <a:r>
              <a:rPr lang="en-US" altLang="en-US" dirty="0"/>
              <a:t>).</a:t>
            </a:r>
            <a:endParaRPr lang="en-GB" altLang="en-US" dirty="0">
              <a:cs typeface="Tahoma" pitchFamily="34" charset="0"/>
            </a:endParaRPr>
          </a:p>
        </p:txBody>
      </p:sp>
      <p:sp>
        <p:nvSpPr>
          <p:cNvPr id="28" name="Rectangle 3"/>
          <p:cNvSpPr txBox="1">
            <a:spLocks noChangeArrowheads="1"/>
          </p:cNvSpPr>
          <p:nvPr/>
        </p:nvSpPr>
        <p:spPr bwMode="auto">
          <a:xfrm>
            <a:off x="952500" y="4494238"/>
            <a:ext cx="7378712" cy="928687"/>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dirty="0"/>
              <a:t>This way crossover determines a balance between </a:t>
            </a:r>
            <a:r>
              <a:rPr lang="en-US" altLang="en-US" i="1" dirty="0"/>
              <a:t>exploitation</a:t>
            </a:r>
            <a:r>
              <a:rPr lang="en-US" altLang="en-US" dirty="0"/>
              <a:t> and </a:t>
            </a:r>
            <a:r>
              <a:rPr lang="en-US" altLang="en-US" i="1" dirty="0"/>
              <a:t>exploration  </a:t>
            </a:r>
            <a:r>
              <a:rPr lang="en-US" altLang="en-US" dirty="0"/>
              <a:t>in the search.</a:t>
            </a:r>
            <a:endParaRPr lang="en-GB" altLang="en-US" dirty="0">
              <a:cs typeface="Tahoma" pitchFamily="34" charset="0"/>
            </a:endParaRPr>
          </a:p>
        </p:txBody>
      </p:sp>
    </p:spTree>
    <p:extLst>
      <p:ext uri="{BB962C8B-B14F-4D97-AF65-F5344CB8AC3E}">
        <p14:creationId xmlns:p14="http://schemas.microsoft.com/office/powerpoint/2010/main" val="24780791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dissolve">
                                      <p:cBhvr>
                                        <p:cTn id="7" dur="500"/>
                                        <p:tgtEl>
                                          <p:spTgt spid="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6">
                                            <p:txEl>
                                              <p:pRg st="0" end="0"/>
                                            </p:txEl>
                                          </p:spTgt>
                                        </p:tgtEl>
                                        <p:attrNameLst>
                                          <p:attrName>style.visibility</p:attrName>
                                        </p:attrNameLst>
                                      </p:cBhvr>
                                      <p:to>
                                        <p:strVal val="visible"/>
                                      </p:to>
                                    </p:set>
                                    <p:animEffect transition="in" filter="dissolve">
                                      <p:cBhvr>
                                        <p:cTn id="12" dur="500"/>
                                        <p:tgtEl>
                                          <p:spTgt spid="2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8">
                                            <p:txEl>
                                              <p:pRg st="0" end="0"/>
                                            </p:txEl>
                                          </p:spTgt>
                                        </p:tgtEl>
                                        <p:attrNameLst>
                                          <p:attrName>style.visibility</p:attrName>
                                        </p:attrNameLst>
                                      </p:cBhvr>
                                      <p:to>
                                        <p:strVal val="visible"/>
                                      </p:to>
                                    </p:set>
                                    <p:animEffect transition="in" filter="dissolve">
                                      <p:cBhvr>
                                        <p:cTn id="17" dur="500"/>
                                        <p:tgtEl>
                                          <p:spTgt spid="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autoUpdateAnimBg="0"/>
      <p:bldP spid="26" grpId="0" build="p" autoUpdateAnimBg="0"/>
      <p:bldP spid="28"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Date Placeholder 3"/>
          <p:cNvSpPr txBox="1">
            <a:spLocks noGrp="1"/>
          </p:cNvSpPr>
          <p:nvPr/>
        </p:nvSpPr>
        <p:spPr bwMode="auto">
          <a:xfrm>
            <a:off x="0" y="6400800"/>
            <a:ext cx="1905000" cy="457200"/>
          </a:xfrm>
          <a:prstGeom prst="rect">
            <a:avLst/>
          </a:prstGeom>
          <a:noFill/>
          <a:ln w="9525">
            <a:noFill/>
            <a:miter lim="800000"/>
            <a:headEnd/>
            <a:tailEnd/>
          </a:ln>
        </p:spPr>
        <p:txBody>
          <a:bodyPr anchor="b"/>
          <a:lstStyle/>
          <a:p>
            <a:pPr eaLnBrk="1" hangingPunct="1"/>
            <a:fld id="{91CB71EF-30F1-4C2B-9C70-77B444E2FA27}" type="datetime1">
              <a:rPr lang="en-GB" altLang="en-US" sz="1200"/>
              <a:pPr eaLnBrk="1" hangingPunct="1"/>
              <a:t>17/02/2026</a:t>
            </a:fld>
            <a:endParaRPr lang="en-GB" altLang="en-US" sz="1200"/>
          </a:p>
        </p:txBody>
      </p:sp>
      <p:sp>
        <p:nvSpPr>
          <p:cNvPr id="27652" name="Slide Number Placeholder 5"/>
          <p:cNvSpPr txBox="1">
            <a:spLocks noGrp="1"/>
          </p:cNvSpPr>
          <p:nvPr/>
        </p:nvSpPr>
        <p:spPr bwMode="auto">
          <a:xfrm>
            <a:off x="7239000" y="6400800"/>
            <a:ext cx="1905000" cy="457200"/>
          </a:xfrm>
          <a:prstGeom prst="rect">
            <a:avLst/>
          </a:prstGeom>
          <a:noFill/>
          <a:ln w="9525">
            <a:noFill/>
            <a:miter lim="800000"/>
            <a:headEnd/>
            <a:tailEnd/>
          </a:ln>
        </p:spPr>
        <p:txBody>
          <a:bodyPr anchor="b"/>
          <a:lstStyle/>
          <a:p>
            <a:pPr algn="r" eaLnBrk="1" hangingPunct="1"/>
            <a:fld id="{1B68ECE9-BF3F-4EA5-851C-4709029E8977}" type="slidenum">
              <a:rPr lang="en-GB" altLang="en-US" sz="1200"/>
              <a:pPr algn="r" eaLnBrk="1" hangingPunct="1"/>
              <a:t>26</a:t>
            </a:fld>
            <a:endParaRPr lang="en-GB" altLang="en-US" sz="1200"/>
          </a:p>
        </p:txBody>
      </p:sp>
      <p:sp>
        <p:nvSpPr>
          <p:cNvPr id="27653" name="Rectangle 2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7654"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7655"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7656"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7657"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7658"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7659"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7660"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7661"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7662"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7663" name="Rectangle 1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7664"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7665" name="Rectangle 9"/>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7666"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7667"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2" name="Rectangle 3"/>
          <p:cNvSpPr txBox="1">
            <a:spLocks noChangeArrowheads="1"/>
          </p:cNvSpPr>
          <p:nvPr/>
        </p:nvSpPr>
        <p:spPr bwMode="auto">
          <a:xfrm>
            <a:off x="519113" y="1055688"/>
            <a:ext cx="8358187" cy="1214437"/>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dirty="0"/>
              <a:t>Mutation is a secondary search operator, which is used as an insurance policy against the irreversible loss of genetic material (helps </a:t>
            </a:r>
            <a:r>
              <a:rPr lang="en-US" altLang="en-US" dirty="0">
                <a:solidFill>
                  <a:srgbClr val="0000FF"/>
                </a:solidFill>
              </a:rPr>
              <a:t>diversity and exploration</a:t>
            </a:r>
            <a:r>
              <a:rPr lang="en-US" altLang="en-US" dirty="0"/>
              <a:t>).</a:t>
            </a:r>
            <a:endParaRPr lang="en-GB" altLang="en-US" dirty="0">
              <a:cs typeface="Tahoma" pitchFamily="34" charset="0"/>
            </a:endParaRPr>
          </a:p>
        </p:txBody>
      </p:sp>
      <p:sp>
        <p:nvSpPr>
          <p:cNvPr id="23" name="Rectangle 3"/>
          <p:cNvSpPr txBox="1">
            <a:spLocks noChangeArrowheads="1"/>
          </p:cNvSpPr>
          <p:nvPr/>
        </p:nvSpPr>
        <p:spPr bwMode="auto">
          <a:xfrm>
            <a:off x="527050" y="3319463"/>
            <a:ext cx="8437438" cy="766762"/>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dirty="0"/>
              <a:t>Generally, it supports more the </a:t>
            </a:r>
            <a:r>
              <a:rPr lang="en-US" altLang="en-US" i="1" dirty="0">
                <a:solidFill>
                  <a:srgbClr val="0000FF"/>
                </a:solidFill>
              </a:rPr>
              <a:t>exploration</a:t>
            </a:r>
            <a:r>
              <a:rPr lang="en-US" altLang="en-US" dirty="0"/>
              <a:t>  by introducing randomness in the search. </a:t>
            </a:r>
            <a:endParaRPr lang="en-GB" altLang="en-US" dirty="0">
              <a:cs typeface="Tahoma" pitchFamily="34" charset="0"/>
            </a:endParaRPr>
          </a:p>
        </p:txBody>
      </p:sp>
      <p:sp>
        <p:nvSpPr>
          <p:cNvPr id="27670" name="Rectangle 2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7" name="Rectangle 2"/>
          <p:cNvSpPr txBox="1">
            <a:spLocks noChangeArrowheads="1"/>
          </p:cNvSpPr>
          <p:nvPr/>
        </p:nvSpPr>
        <p:spPr bwMode="auto">
          <a:xfrm>
            <a:off x="1060450" y="184150"/>
            <a:ext cx="2214563" cy="642938"/>
          </a:xfrm>
          <a:prstGeom prst="rect">
            <a:avLst/>
          </a:prstGeom>
          <a:noFill/>
          <a:ln w="9525">
            <a:noFill/>
            <a:miter lim="800000"/>
            <a:headEnd/>
            <a:tailEnd/>
          </a:ln>
        </p:spPr>
        <p:txBody>
          <a:bodyPr anchor="b"/>
          <a:lstStyle/>
          <a:p>
            <a:pPr algn="ctr" eaLnBrk="1" hangingPunct="1">
              <a:defRPr/>
            </a:pPr>
            <a:r>
              <a:rPr lang="en-US" sz="3200" b="1" dirty="0">
                <a:solidFill>
                  <a:srgbClr val="0000FF"/>
                </a:solidFill>
              </a:rPr>
              <a:t>Mutation</a:t>
            </a:r>
            <a:endParaRPr lang="en-GB" sz="3200" b="1" kern="0" dirty="0">
              <a:solidFill>
                <a:srgbClr val="0000FF"/>
              </a:solidFill>
              <a:latin typeface="+mj-lt"/>
              <a:ea typeface="+mj-ea"/>
              <a:cs typeface="+mj-cs"/>
            </a:endParaRPr>
          </a:p>
        </p:txBody>
      </p:sp>
      <p:sp>
        <p:nvSpPr>
          <p:cNvPr id="25" name="Rectangle 3"/>
          <p:cNvSpPr txBox="1">
            <a:spLocks noChangeArrowheads="1"/>
          </p:cNvSpPr>
          <p:nvPr/>
        </p:nvSpPr>
        <p:spPr bwMode="auto">
          <a:xfrm>
            <a:off x="519113" y="2370138"/>
            <a:ext cx="8215312" cy="785812"/>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a:t>Unary operator - it generates </a:t>
            </a:r>
            <a:r>
              <a:rPr lang="en-US" altLang="en-US">
                <a:solidFill>
                  <a:srgbClr val="0000FF"/>
                </a:solidFill>
              </a:rPr>
              <a:t>one offspring </a:t>
            </a:r>
            <a:r>
              <a:rPr lang="en-US" altLang="en-US"/>
              <a:t>by randomly changing the values of the genes (features).</a:t>
            </a:r>
            <a:endParaRPr lang="en-GB" altLang="en-US">
              <a:cs typeface="Tahoma" pitchFamily="34" charset="0"/>
            </a:endParaRPr>
          </a:p>
        </p:txBody>
      </p:sp>
      <p:sp>
        <p:nvSpPr>
          <p:cNvPr id="28" name="Rectangle 3"/>
          <p:cNvSpPr txBox="1">
            <a:spLocks noChangeArrowheads="1"/>
          </p:cNvSpPr>
          <p:nvPr/>
        </p:nvSpPr>
        <p:spPr bwMode="auto">
          <a:xfrm>
            <a:off x="527050" y="4162425"/>
            <a:ext cx="7294563" cy="2406650"/>
          </a:xfrm>
          <a:prstGeom prst="rect">
            <a:avLst/>
          </a:prstGeom>
          <a:noFill/>
          <a:ln w="9525">
            <a:noFill/>
            <a:miter lim="800000"/>
            <a:headEnd/>
            <a:tailEnd/>
          </a:ln>
        </p:spPr>
        <p:txBody>
          <a:bodyPr/>
          <a:lstStyle/>
          <a:p>
            <a:pPr indent="-360000" eaLnBrk="1" hangingPunct="1">
              <a:spcBef>
                <a:spcPct val="20000"/>
              </a:spcBef>
              <a:buClr>
                <a:schemeClr val="folHlink"/>
              </a:buClr>
              <a:buSzPct val="60000"/>
              <a:buFont typeface="Wingdings" pitchFamily="2" charset="2"/>
              <a:buChar char="n"/>
              <a:defRPr/>
            </a:pPr>
            <a:r>
              <a:rPr lang="en-US" dirty="0"/>
              <a:t>If a string  </a:t>
            </a:r>
            <a:r>
              <a:rPr lang="en-GB" sz="3200" b="1" dirty="0"/>
              <a:t>Z = 1</a:t>
            </a:r>
            <a:r>
              <a:rPr lang="en-GB" sz="3200" b="1" dirty="0">
                <a:solidFill>
                  <a:srgbClr val="0000FF"/>
                </a:solidFill>
              </a:rPr>
              <a:t>0</a:t>
            </a:r>
            <a:r>
              <a:rPr lang="en-GB" sz="3200" b="1" dirty="0"/>
              <a:t>010</a:t>
            </a:r>
            <a:r>
              <a:rPr lang="en-GB" sz="3200" b="1" dirty="0">
                <a:solidFill>
                  <a:srgbClr val="0000FF"/>
                </a:solidFill>
              </a:rPr>
              <a:t>1</a:t>
            </a:r>
            <a:r>
              <a:rPr lang="en-GB" sz="3200" b="1" dirty="0"/>
              <a:t>11  </a:t>
            </a:r>
          </a:p>
          <a:p>
            <a:pPr indent="-360000" eaLnBrk="1" hangingPunct="1">
              <a:spcBef>
                <a:spcPts val="0"/>
              </a:spcBef>
              <a:buClr>
                <a:schemeClr val="folHlink"/>
              </a:buClr>
              <a:buSzPct val="60000"/>
              <a:defRPr/>
            </a:pPr>
            <a:r>
              <a:rPr lang="en-GB" sz="3200" b="1" dirty="0"/>
              <a:t>	</a:t>
            </a:r>
            <a:r>
              <a:rPr lang="en-US" dirty="0"/>
              <a:t>is undertaking mutation at randomly selected 	positions 2 and 6 (with some probability), 	then the offspring could be </a:t>
            </a:r>
          </a:p>
          <a:p>
            <a:pPr marL="342900" indent="-342900" eaLnBrk="1" hangingPunct="1">
              <a:spcBef>
                <a:spcPct val="20000"/>
              </a:spcBef>
              <a:buClr>
                <a:schemeClr val="folHlink"/>
              </a:buClr>
              <a:buSzPct val="60000"/>
              <a:defRPr/>
            </a:pPr>
            <a:r>
              <a:rPr lang="en-US" dirty="0"/>
              <a:t>  			</a:t>
            </a:r>
            <a:r>
              <a:rPr lang="en-US" sz="3200" b="1" dirty="0"/>
              <a:t>O = 1</a:t>
            </a:r>
            <a:r>
              <a:rPr lang="en-US" sz="3200" b="1" dirty="0">
                <a:solidFill>
                  <a:srgbClr val="FF0000"/>
                </a:solidFill>
              </a:rPr>
              <a:t>1</a:t>
            </a:r>
            <a:r>
              <a:rPr lang="en-US" sz="3200" b="1" dirty="0"/>
              <a:t>010</a:t>
            </a:r>
            <a:r>
              <a:rPr lang="en-US" sz="3200" b="1" dirty="0">
                <a:solidFill>
                  <a:srgbClr val="FF0000"/>
                </a:solidFill>
              </a:rPr>
              <a:t>0</a:t>
            </a:r>
            <a:r>
              <a:rPr lang="en-US" sz="3200" b="1" dirty="0"/>
              <a:t>11 .</a:t>
            </a:r>
            <a:endParaRPr lang="en-GB" sz="3200" dirty="0">
              <a:cs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0-#ppt_w/2"/>
                                          </p:val>
                                        </p:tav>
                                        <p:tav tm="100000">
                                          <p:val>
                                            <p:strVal val="#ppt_x"/>
                                          </p:val>
                                        </p:tav>
                                      </p:tavLst>
                                    </p:anim>
                                    <p:anim calcmode="lin" valueType="num">
                                      <p:cBhvr additive="base">
                                        <p:cTn id="8"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22">
                                            <p:txEl>
                                              <p:pRg st="0" end="0"/>
                                            </p:txEl>
                                          </p:spTgt>
                                        </p:tgtEl>
                                        <p:attrNameLst>
                                          <p:attrName>style.visibility</p:attrName>
                                        </p:attrNameLst>
                                      </p:cBhvr>
                                      <p:to>
                                        <p:strVal val="visible"/>
                                      </p:to>
                                    </p:set>
                                    <p:animEffect transition="in" filter="dissolve">
                                      <p:cBhvr>
                                        <p:cTn id="13" dur="500"/>
                                        <p:tgtEl>
                                          <p:spTgt spid="22">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5">
                                            <p:txEl>
                                              <p:pRg st="0" end="0"/>
                                            </p:txEl>
                                          </p:spTgt>
                                        </p:tgtEl>
                                        <p:attrNameLst>
                                          <p:attrName>style.visibility</p:attrName>
                                        </p:attrNameLst>
                                      </p:cBhvr>
                                      <p:to>
                                        <p:strVal val="visible"/>
                                      </p:to>
                                    </p:set>
                                    <p:animEffect transition="in" filter="dissolve">
                                      <p:cBhvr>
                                        <p:cTn id="18" dur="500"/>
                                        <p:tgtEl>
                                          <p:spTgt spid="25">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3">
                                            <p:txEl>
                                              <p:pRg st="0" end="0"/>
                                            </p:txEl>
                                          </p:spTgt>
                                        </p:tgtEl>
                                        <p:attrNameLst>
                                          <p:attrName>style.visibility</p:attrName>
                                        </p:attrNameLst>
                                      </p:cBhvr>
                                      <p:to>
                                        <p:strVal val="visible"/>
                                      </p:to>
                                    </p:set>
                                    <p:animEffect transition="in" filter="dissolve">
                                      <p:cBhvr>
                                        <p:cTn id="23" dur="500"/>
                                        <p:tgtEl>
                                          <p:spTgt spid="23">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wipe(up)">
                                      <p:cBhvr>
                                        <p:cTn id="28"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uild="p" autoUpdateAnimBg="0"/>
      <p:bldP spid="23" grpId="0" build="p" autoUpdateAnimBg="0"/>
      <p:bldP spid="27" grpId="0" autoUpdateAnimBg="0"/>
      <p:bldP spid="25" grpId="0" build="p" autoUpdateAnimBg="0"/>
      <p:bldP spid="2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Date Placeholder 3"/>
          <p:cNvSpPr txBox="1">
            <a:spLocks noGrp="1"/>
          </p:cNvSpPr>
          <p:nvPr/>
        </p:nvSpPr>
        <p:spPr bwMode="auto">
          <a:xfrm>
            <a:off x="0" y="6400800"/>
            <a:ext cx="1905000" cy="457200"/>
          </a:xfrm>
          <a:prstGeom prst="rect">
            <a:avLst/>
          </a:prstGeom>
          <a:noFill/>
          <a:ln w="9525">
            <a:noFill/>
            <a:miter lim="800000"/>
            <a:headEnd/>
            <a:tailEnd/>
          </a:ln>
        </p:spPr>
        <p:txBody>
          <a:bodyPr anchor="b"/>
          <a:lstStyle/>
          <a:p>
            <a:pPr eaLnBrk="1" hangingPunct="1"/>
            <a:fld id="{1CDEB669-6EE4-4F17-A75A-8851417A339F}" type="datetime1">
              <a:rPr lang="en-GB" altLang="en-US" sz="1200"/>
              <a:pPr eaLnBrk="1" hangingPunct="1"/>
              <a:t>17/02/2026</a:t>
            </a:fld>
            <a:endParaRPr lang="en-GB" altLang="en-US" sz="1200"/>
          </a:p>
        </p:txBody>
      </p:sp>
      <p:sp>
        <p:nvSpPr>
          <p:cNvPr id="28676" name="Slide Number Placeholder 5"/>
          <p:cNvSpPr txBox="1">
            <a:spLocks noGrp="1"/>
          </p:cNvSpPr>
          <p:nvPr/>
        </p:nvSpPr>
        <p:spPr bwMode="auto">
          <a:xfrm>
            <a:off x="7239000" y="6400800"/>
            <a:ext cx="1905000" cy="457200"/>
          </a:xfrm>
          <a:prstGeom prst="rect">
            <a:avLst/>
          </a:prstGeom>
          <a:noFill/>
          <a:ln w="9525">
            <a:noFill/>
            <a:miter lim="800000"/>
            <a:headEnd/>
            <a:tailEnd/>
          </a:ln>
        </p:spPr>
        <p:txBody>
          <a:bodyPr anchor="b"/>
          <a:lstStyle/>
          <a:p>
            <a:pPr algn="r" eaLnBrk="1" hangingPunct="1"/>
            <a:fld id="{0786AC67-D12C-4030-8FF3-50C328C2D022}" type="slidenum">
              <a:rPr lang="en-GB" altLang="en-US" sz="1200"/>
              <a:pPr algn="r" eaLnBrk="1" hangingPunct="1"/>
              <a:t>27</a:t>
            </a:fld>
            <a:endParaRPr lang="en-GB" altLang="en-US" sz="1200"/>
          </a:p>
        </p:txBody>
      </p:sp>
      <p:sp>
        <p:nvSpPr>
          <p:cNvPr id="28677" name="Rectangle 2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8678"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8679"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8680"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8681"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8682"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8683"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8684"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8685"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8686"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8687" name="Rectangle 1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8688"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8689" name="Rectangle 9"/>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8690"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8691"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2" name="Rectangle 3"/>
          <p:cNvSpPr txBox="1">
            <a:spLocks noChangeArrowheads="1"/>
          </p:cNvSpPr>
          <p:nvPr/>
        </p:nvSpPr>
        <p:spPr bwMode="auto">
          <a:xfrm>
            <a:off x="500063" y="4143375"/>
            <a:ext cx="8358187" cy="857250"/>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GB" altLang="en-US">
                <a:solidFill>
                  <a:srgbClr val="0037A4"/>
                </a:solidFill>
              </a:rPr>
              <a:t>Good effect</a:t>
            </a:r>
            <a:r>
              <a:rPr lang="en-GB" altLang="en-US"/>
              <a:t>: - allows local minima to be escaped (the search ‘jumps’ to new sub-regions)</a:t>
            </a:r>
            <a:r>
              <a:rPr lang="en-US" altLang="en-US"/>
              <a:t>.</a:t>
            </a:r>
            <a:endParaRPr lang="en-GB" altLang="en-US">
              <a:cs typeface="Tahoma" pitchFamily="34" charset="0"/>
            </a:endParaRPr>
          </a:p>
        </p:txBody>
      </p:sp>
      <p:sp>
        <p:nvSpPr>
          <p:cNvPr id="23" name="Rectangle 3"/>
          <p:cNvSpPr txBox="1">
            <a:spLocks noChangeArrowheads="1"/>
          </p:cNvSpPr>
          <p:nvPr/>
        </p:nvSpPr>
        <p:spPr bwMode="auto">
          <a:xfrm>
            <a:off x="500062" y="4929188"/>
            <a:ext cx="8464425" cy="785812"/>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dirty="0"/>
              <a:t>It guarantees that the probability of searching a particular sub-region of the solution space is not a zero.</a:t>
            </a:r>
            <a:endParaRPr lang="en-GB" altLang="en-US" dirty="0">
              <a:cs typeface="Tahoma" pitchFamily="34" charset="0"/>
            </a:endParaRPr>
          </a:p>
        </p:txBody>
      </p:sp>
      <p:sp>
        <p:nvSpPr>
          <p:cNvPr id="28694" name="Rectangle 2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grpSp>
        <p:nvGrpSpPr>
          <p:cNvPr id="2" name="Group 33"/>
          <p:cNvGrpSpPr>
            <a:grpSpLocks/>
          </p:cNvGrpSpPr>
          <p:nvPr/>
        </p:nvGrpSpPr>
        <p:grpSpPr bwMode="auto">
          <a:xfrm>
            <a:off x="1428750" y="785813"/>
            <a:ext cx="3786188" cy="735012"/>
            <a:chOff x="1428750" y="785813"/>
            <a:chExt cx="3786308" cy="735196"/>
          </a:xfrm>
        </p:grpSpPr>
        <p:sp>
          <p:nvSpPr>
            <p:cNvPr id="28706" name="Text Box 26"/>
            <p:cNvSpPr txBox="1">
              <a:spLocks noChangeArrowheads="1"/>
            </p:cNvSpPr>
            <p:nvPr/>
          </p:nvSpPr>
          <p:spPr bwMode="auto">
            <a:xfrm>
              <a:off x="3357624" y="857244"/>
              <a:ext cx="1857434" cy="642881"/>
            </a:xfrm>
            <a:prstGeom prst="rect">
              <a:avLst/>
            </a:prstGeom>
            <a:solidFill>
              <a:srgbClr val="FFFF99"/>
            </a:solidFill>
            <a:ln w="12700">
              <a:solidFill>
                <a:schemeClr val="tx1"/>
              </a:solidFill>
              <a:miter lim="800000"/>
              <a:headEnd/>
              <a:tailEnd/>
            </a:ln>
          </p:spPr>
          <p:txBody>
            <a:bodyPr tIns="0" rIns="0" bIns="0"/>
            <a:lstStyle/>
            <a:p>
              <a:pPr eaLnBrk="1" hangingPunct="1">
                <a:spcAft>
                  <a:spcPts val="1000"/>
                </a:spcAft>
              </a:pPr>
              <a:r>
                <a:rPr lang="en-GB" altLang="en-US" sz="3600" b="1">
                  <a:latin typeface="Calibri" pitchFamily="34" charset="0"/>
                </a:rPr>
                <a:t> </a:t>
              </a:r>
              <a:r>
                <a:rPr lang="en-GB" altLang="en-US" sz="3600" b="1">
                  <a:solidFill>
                    <a:srgbClr val="0000FF"/>
                  </a:solidFill>
                  <a:latin typeface="Calibri" pitchFamily="34" charset="0"/>
                </a:rPr>
                <a:t>a</a:t>
              </a:r>
              <a:r>
                <a:rPr lang="en-GB" altLang="en-US" sz="3600" b="1">
                  <a:latin typeface="Calibri" pitchFamily="34" charset="0"/>
                </a:rPr>
                <a:t>bcd</a:t>
              </a:r>
              <a:r>
                <a:rPr lang="en-GB" altLang="en-US" sz="3600" b="1">
                  <a:solidFill>
                    <a:srgbClr val="0000FF"/>
                  </a:solidFill>
                  <a:latin typeface="Calibri" pitchFamily="34" charset="0"/>
                </a:rPr>
                <a:t>e</a:t>
              </a:r>
              <a:r>
                <a:rPr lang="en-GB" altLang="en-US" sz="3600" b="1">
                  <a:latin typeface="Calibri" pitchFamily="34" charset="0"/>
                </a:rPr>
                <a:t>fg</a:t>
              </a:r>
              <a:endParaRPr lang="en-US" altLang="en-US" sz="3600"/>
            </a:p>
          </p:txBody>
        </p:sp>
        <p:sp>
          <p:nvSpPr>
            <p:cNvPr id="21539" name="Text Box 32"/>
            <p:cNvSpPr txBox="1">
              <a:spLocks noChangeArrowheads="1"/>
            </p:cNvSpPr>
            <p:nvPr/>
          </p:nvSpPr>
          <p:spPr bwMode="auto">
            <a:xfrm>
              <a:off x="1428750" y="785813"/>
              <a:ext cx="1801870" cy="735196"/>
            </a:xfrm>
            <a:prstGeom prst="rect">
              <a:avLst/>
            </a:prstGeom>
            <a:noFill/>
            <a:ln w="9525">
              <a:noFill/>
              <a:miter lim="800000"/>
              <a:headEnd/>
              <a:tailEnd/>
            </a:ln>
          </p:spPr>
          <p:txBody>
            <a:bodyPr lIns="0" tIns="0" rIns="0" bIns="0"/>
            <a:lstStyle/>
            <a:p>
              <a:pPr eaLnBrk="1" hangingPunct="1">
                <a:defRPr/>
              </a:pPr>
              <a:r>
                <a:rPr lang="en-GB" dirty="0">
                  <a:latin typeface="+mn-lt"/>
                </a:rPr>
                <a:t>parent chromosome</a:t>
              </a:r>
            </a:p>
            <a:p>
              <a:pPr eaLnBrk="1" hangingPunct="1">
                <a:defRPr/>
              </a:pPr>
              <a:endParaRPr lang="en-US" dirty="0">
                <a:latin typeface="+mn-lt"/>
              </a:endParaRPr>
            </a:p>
          </p:txBody>
        </p:sp>
      </p:grpSp>
      <p:grpSp>
        <p:nvGrpSpPr>
          <p:cNvPr id="3" name="Group 35"/>
          <p:cNvGrpSpPr>
            <a:grpSpLocks/>
          </p:cNvGrpSpPr>
          <p:nvPr/>
        </p:nvGrpSpPr>
        <p:grpSpPr bwMode="auto">
          <a:xfrm>
            <a:off x="1322388" y="1428750"/>
            <a:ext cx="3892550" cy="2163763"/>
            <a:chOff x="1322339" y="1428736"/>
            <a:chExt cx="3892719" cy="2163777"/>
          </a:xfrm>
        </p:grpSpPr>
        <p:sp>
          <p:nvSpPr>
            <p:cNvPr id="28702" name="Text Box 28"/>
            <p:cNvSpPr txBox="1">
              <a:spLocks noChangeArrowheads="1"/>
            </p:cNvSpPr>
            <p:nvPr/>
          </p:nvSpPr>
          <p:spPr bwMode="auto">
            <a:xfrm>
              <a:off x="3357624" y="2857317"/>
              <a:ext cx="1857434" cy="642881"/>
            </a:xfrm>
            <a:prstGeom prst="rect">
              <a:avLst/>
            </a:prstGeom>
            <a:solidFill>
              <a:srgbClr val="00FFFF"/>
            </a:solidFill>
            <a:ln w="12700">
              <a:solidFill>
                <a:schemeClr val="tx1"/>
              </a:solidFill>
              <a:miter lim="800000"/>
              <a:headEnd/>
              <a:tailEnd/>
            </a:ln>
          </p:spPr>
          <p:txBody>
            <a:bodyPr lIns="0" tIns="0" bIns="0"/>
            <a:lstStyle/>
            <a:p>
              <a:pPr eaLnBrk="1" hangingPunct="1">
                <a:spcAft>
                  <a:spcPts val="1000"/>
                </a:spcAft>
              </a:pPr>
              <a:r>
                <a:rPr lang="en-GB" altLang="en-US" sz="2800" b="1">
                  <a:latin typeface="Calibri" pitchFamily="34" charset="0"/>
                </a:rPr>
                <a:t>  </a:t>
              </a:r>
              <a:r>
                <a:rPr lang="en-GB" altLang="en-US" sz="3600" b="1">
                  <a:solidFill>
                    <a:srgbClr val="C00000"/>
                  </a:solidFill>
                  <a:latin typeface="Calibri" pitchFamily="34" charset="0"/>
                </a:rPr>
                <a:t>e</a:t>
              </a:r>
              <a:r>
                <a:rPr lang="en-GB" altLang="en-US" sz="3600" b="1">
                  <a:latin typeface="Calibri" pitchFamily="34" charset="0"/>
                </a:rPr>
                <a:t>bcd</a:t>
              </a:r>
              <a:r>
                <a:rPr lang="en-GB" altLang="en-US" sz="3600" b="1">
                  <a:solidFill>
                    <a:srgbClr val="C00000"/>
                  </a:solidFill>
                  <a:latin typeface="Calibri" pitchFamily="34" charset="0"/>
                </a:rPr>
                <a:t>a</a:t>
              </a:r>
              <a:r>
                <a:rPr lang="en-GB" altLang="en-US" sz="3600" b="1">
                  <a:latin typeface="Calibri" pitchFamily="34" charset="0"/>
                </a:rPr>
                <a:t>fg</a:t>
              </a:r>
              <a:endParaRPr lang="en-US" altLang="en-US" sz="3600"/>
            </a:p>
          </p:txBody>
        </p:sp>
        <p:sp>
          <p:nvSpPr>
            <p:cNvPr id="28703" name="Line 30"/>
            <p:cNvSpPr>
              <a:spLocks noChangeShapeType="1"/>
            </p:cNvSpPr>
            <p:nvPr/>
          </p:nvSpPr>
          <p:spPr bwMode="auto">
            <a:xfrm flipH="1">
              <a:off x="3597488" y="1428736"/>
              <a:ext cx="45720" cy="1571485"/>
            </a:xfrm>
            <a:prstGeom prst="line">
              <a:avLst/>
            </a:prstGeom>
            <a:noFill/>
            <a:ln w="19050">
              <a:solidFill>
                <a:srgbClr val="000000"/>
              </a:solidFill>
              <a:round/>
              <a:headEnd/>
              <a:tailEnd type="triangle" w="med" len="med"/>
            </a:ln>
          </p:spPr>
          <p:txBody>
            <a:bodyPr/>
            <a:lstStyle/>
            <a:p>
              <a:endParaRPr lang="en-GB"/>
            </a:p>
          </p:txBody>
        </p:sp>
        <p:sp>
          <p:nvSpPr>
            <p:cNvPr id="21536" name="Text Box 33"/>
            <p:cNvSpPr txBox="1">
              <a:spLocks noChangeArrowheads="1"/>
            </p:cNvSpPr>
            <p:nvPr/>
          </p:nvSpPr>
          <p:spPr bwMode="auto">
            <a:xfrm>
              <a:off x="1322339" y="2857495"/>
              <a:ext cx="1871743" cy="735018"/>
            </a:xfrm>
            <a:prstGeom prst="rect">
              <a:avLst/>
            </a:prstGeom>
            <a:noFill/>
            <a:ln w="9525">
              <a:noFill/>
              <a:miter lim="800000"/>
              <a:headEnd/>
              <a:tailEnd/>
            </a:ln>
          </p:spPr>
          <p:txBody>
            <a:bodyPr lIns="0" tIns="0" rIns="0" bIns="0"/>
            <a:lstStyle/>
            <a:p>
              <a:pPr eaLnBrk="1" hangingPunct="1">
                <a:defRPr/>
              </a:pPr>
              <a:r>
                <a:rPr lang="en-GB" dirty="0">
                  <a:latin typeface="+mn-lt"/>
                </a:rPr>
                <a:t>child chromosome</a:t>
              </a:r>
              <a:endParaRPr lang="en-US" dirty="0">
                <a:latin typeface="+mn-lt"/>
              </a:endParaRPr>
            </a:p>
          </p:txBody>
        </p:sp>
        <p:sp>
          <p:nvSpPr>
            <p:cNvPr id="28705" name="Line 35"/>
            <p:cNvSpPr>
              <a:spLocks noChangeShapeType="1"/>
            </p:cNvSpPr>
            <p:nvPr/>
          </p:nvSpPr>
          <p:spPr bwMode="auto">
            <a:xfrm flipH="1">
              <a:off x="4546281" y="1428736"/>
              <a:ext cx="45719" cy="1500013"/>
            </a:xfrm>
            <a:prstGeom prst="line">
              <a:avLst/>
            </a:prstGeom>
            <a:noFill/>
            <a:ln w="19050">
              <a:solidFill>
                <a:srgbClr val="000000"/>
              </a:solidFill>
              <a:round/>
              <a:headEnd/>
              <a:tailEnd type="triangle" w="med" len="med"/>
            </a:ln>
          </p:spPr>
          <p:txBody>
            <a:bodyPr/>
            <a:lstStyle/>
            <a:p>
              <a:endParaRPr lang="en-GB"/>
            </a:p>
          </p:txBody>
        </p:sp>
      </p:grpSp>
      <p:grpSp>
        <p:nvGrpSpPr>
          <p:cNvPr id="4" name="Group 34"/>
          <p:cNvGrpSpPr>
            <a:grpSpLocks/>
          </p:cNvGrpSpPr>
          <p:nvPr/>
        </p:nvGrpSpPr>
        <p:grpSpPr bwMode="auto">
          <a:xfrm>
            <a:off x="5143500" y="1643063"/>
            <a:ext cx="3041650" cy="1285875"/>
            <a:chOff x="5143619" y="1642987"/>
            <a:chExt cx="3041531" cy="1286593"/>
          </a:xfrm>
        </p:grpSpPr>
        <p:sp>
          <p:nvSpPr>
            <p:cNvPr id="21532" name="Text Box 34"/>
            <p:cNvSpPr txBox="1">
              <a:spLocks noChangeArrowheads="1"/>
            </p:cNvSpPr>
            <p:nvPr/>
          </p:nvSpPr>
          <p:spPr bwMode="auto">
            <a:xfrm>
              <a:off x="5786532" y="1642987"/>
              <a:ext cx="2398618" cy="1286593"/>
            </a:xfrm>
            <a:prstGeom prst="rect">
              <a:avLst/>
            </a:prstGeom>
            <a:noFill/>
            <a:ln w="9525">
              <a:noFill/>
              <a:miter lim="800000"/>
              <a:headEnd/>
              <a:tailEnd/>
            </a:ln>
          </p:spPr>
          <p:txBody>
            <a:bodyPr lIns="0" tIns="0" rIns="0" bIns="0"/>
            <a:lstStyle/>
            <a:p>
              <a:pPr eaLnBrk="1" hangingPunct="1">
                <a:spcAft>
                  <a:spcPts val="1000"/>
                </a:spcAft>
                <a:defRPr/>
              </a:pPr>
              <a:r>
                <a:rPr lang="en-GB" dirty="0">
                  <a:latin typeface="+mn-lt"/>
                </a:rPr>
                <a:t>mutate 2 random symbols from set a, b, d, e</a:t>
              </a:r>
              <a:endParaRPr lang="en-US" dirty="0">
                <a:latin typeface="+mn-lt"/>
              </a:endParaRPr>
            </a:p>
          </p:txBody>
        </p:sp>
        <p:sp>
          <p:nvSpPr>
            <p:cNvPr id="28701" name="AutoShape 36"/>
            <p:cNvSpPr>
              <a:spLocks noChangeArrowheads="1"/>
            </p:cNvSpPr>
            <p:nvPr/>
          </p:nvSpPr>
          <p:spPr bwMode="auto">
            <a:xfrm>
              <a:off x="5143619" y="1714418"/>
              <a:ext cx="586352" cy="971509"/>
            </a:xfrm>
            <a:prstGeom prst="downArrow">
              <a:avLst>
                <a:gd name="adj1" fmla="val 50000"/>
                <a:gd name="adj2" fmla="val 34257"/>
              </a:avLst>
            </a:prstGeom>
            <a:solidFill>
              <a:srgbClr val="C0C0C0"/>
            </a:solidFill>
            <a:ln w="9525">
              <a:solidFill>
                <a:srgbClr val="000000"/>
              </a:solidFill>
              <a:miter lim="800000"/>
              <a:headEnd/>
              <a:tailEnd/>
            </a:ln>
          </p:spPr>
          <p:txBody>
            <a:bodyPr/>
            <a:lstStyle/>
            <a:p>
              <a:pPr eaLnBrk="1" hangingPunct="1"/>
              <a:endParaRPr lang="en-US" altLang="en-US"/>
            </a:p>
          </p:txBody>
        </p:sp>
      </p:grpSp>
      <p:sp>
        <p:nvSpPr>
          <p:cNvPr id="21528" name="Rectangle 37"/>
          <p:cNvSpPr>
            <a:spLocks noChangeArrowheads="1"/>
          </p:cNvSpPr>
          <p:nvPr/>
        </p:nvSpPr>
        <p:spPr bwMode="auto">
          <a:xfrm>
            <a:off x="2071688" y="3714750"/>
            <a:ext cx="4500562" cy="461963"/>
          </a:xfrm>
          <a:prstGeom prst="rect">
            <a:avLst/>
          </a:prstGeom>
          <a:noFill/>
          <a:ln w="9525">
            <a:noFill/>
            <a:miter lim="800000"/>
            <a:headEnd/>
            <a:tailEnd/>
          </a:ln>
        </p:spPr>
        <p:txBody>
          <a:bodyPr anchor="ctr">
            <a:spAutoFit/>
          </a:bodyPr>
          <a:lstStyle/>
          <a:p>
            <a:pPr algn="ctr">
              <a:tabLst>
                <a:tab pos="228600" algn="l"/>
                <a:tab pos="514350" algn="l"/>
              </a:tabLst>
              <a:defRPr/>
            </a:pPr>
            <a:r>
              <a:rPr lang="en-GB" dirty="0">
                <a:latin typeface="+mn-lt"/>
                <a:ea typeface="Times New Roman" pitchFamily="18" charset="0"/>
                <a:cs typeface="Arial" charset="0"/>
              </a:rPr>
              <a:t>Fig. 10. The mutation operator.</a:t>
            </a:r>
          </a:p>
        </p:txBody>
      </p:sp>
      <p:sp>
        <p:nvSpPr>
          <p:cNvPr id="40" name="Rectangle 3"/>
          <p:cNvSpPr txBox="1">
            <a:spLocks noChangeArrowheads="1"/>
          </p:cNvSpPr>
          <p:nvPr/>
        </p:nvSpPr>
        <p:spPr bwMode="auto">
          <a:xfrm>
            <a:off x="428624" y="5786438"/>
            <a:ext cx="8319839" cy="785812"/>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dirty="0">
                <a:solidFill>
                  <a:srgbClr val="0037A4"/>
                </a:solidFill>
              </a:rPr>
              <a:t>Bad effect</a:t>
            </a:r>
            <a:r>
              <a:rPr lang="en-US" altLang="en-US" dirty="0"/>
              <a:t>: - splits useful building blocks, but fitness selection will eliminate the poorly fit offspring.</a:t>
            </a:r>
            <a:endParaRPr lang="en-GB" altLang="en-US" dirty="0">
              <a:cs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1528"/>
                                        </p:tgtEl>
                                        <p:attrNameLst>
                                          <p:attrName>style.visibility</p:attrName>
                                        </p:attrNameLst>
                                      </p:cBhvr>
                                      <p:to>
                                        <p:strVal val="visible"/>
                                      </p:to>
                                    </p:set>
                                    <p:animEffect transition="in" filter="blinds(horizontal)">
                                      <p:cBhvr>
                                        <p:cTn id="22" dur="500"/>
                                        <p:tgtEl>
                                          <p:spTgt spid="2152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2">
                                            <p:txEl>
                                              <p:pRg st="0" end="0"/>
                                            </p:txEl>
                                          </p:spTgt>
                                        </p:tgtEl>
                                        <p:attrNameLst>
                                          <p:attrName>style.visibility</p:attrName>
                                        </p:attrNameLst>
                                      </p:cBhvr>
                                      <p:to>
                                        <p:strVal val="visible"/>
                                      </p:to>
                                    </p:set>
                                    <p:animEffect transition="in" filter="dissolve">
                                      <p:cBhvr>
                                        <p:cTn id="27" dur="500"/>
                                        <p:tgtEl>
                                          <p:spTgt spid="22">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3">
                                            <p:txEl>
                                              <p:pRg st="0" end="0"/>
                                            </p:txEl>
                                          </p:spTgt>
                                        </p:tgtEl>
                                        <p:attrNameLst>
                                          <p:attrName>style.visibility</p:attrName>
                                        </p:attrNameLst>
                                      </p:cBhvr>
                                      <p:to>
                                        <p:strVal val="visible"/>
                                      </p:to>
                                    </p:set>
                                    <p:animEffect transition="in" filter="dissolve">
                                      <p:cBhvr>
                                        <p:cTn id="32" dur="500"/>
                                        <p:tgtEl>
                                          <p:spTgt spid="23">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0">
                                            <p:txEl>
                                              <p:pRg st="0" end="0"/>
                                            </p:txEl>
                                          </p:spTgt>
                                        </p:tgtEl>
                                        <p:attrNameLst>
                                          <p:attrName>style.visibility</p:attrName>
                                        </p:attrNameLst>
                                      </p:cBhvr>
                                      <p:to>
                                        <p:strVal val="visible"/>
                                      </p:to>
                                    </p:set>
                                    <p:animEffect transition="in" filter="dissolve">
                                      <p:cBhvr>
                                        <p:cTn id="37" dur="500"/>
                                        <p:tgtEl>
                                          <p:spTgt spid="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uild="p" autoUpdateAnimBg="0"/>
      <p:bldP spid="23" grpId="0" build="p" autoUpdateAnimBg="0"/>
      <p:bldP spid="21528" grpId="0"/>
      <p:bldP spid="40"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Date Placeholder 3"/>
          <p:cNvSpPr txBox="1">
            <a:spLocks noGrp="1"/>
          </p:cNvSpPr>
          <p:nvPr/>
        </p:nvSpPr>
        <p:spPr bwMode="auto">
          <a:xfrm>
            <a:off x="0" y="6400800"/>
            <a:ext cx="1905000" cy="457200"/>
          </a:xfrm>
          <a:prstGeom prst="rect">
            <a:avLst/>
          </a:prstGeom>
          <a:noFill/>
          <a:ln w="9525">
            <a:noFill/>
            <a:miter lim="800000"/>
            <a:headEnd/>
            <a:tailEnd/>
          </a:ln>
        </p:spPr>
        <p:txBody>
          <a:bodyPr anchor="b"/>
          <a:lstStyle/>
          <a:p>
            <a:pPr eaLnBrk="1" hangingPunct="1"/>
            <a:fld id="{FE084068-6168-427C-8DF1-06EF9114920E}" type="datetime1">
              <a:rPr lang="en-GB" altLang="en-US" sz="1200"/>
              <a:pPr eaLnBrk="1" hangingPunct="1"/>
              <a:t>17/02/2026</a:t>
            </a:fld>
            <a:endParaRPr lang="en-GB" altLang="en-US" sz="1200"/>
          </a:p>
        </p:txBody>
      </p:sp>
      <p:sp>
        <p:nvSpPr>
          <p:cNvPr id="29700" name="Slide Number Placeholder 5"/>
          <p:cNvSpPr txBox="1">
            <a:spLocks noGrp="1"/>
          </p:cNvSpPr>
          <p:nvPr/>
        </p:nvSpPr>
        <p:spPr bwMode="auto">
          <a:xfrm>
            <a:off x="7239000" y="6400800"/>
            <a:ext cx="1905000" cy="457200"/>
          </a:xfrm>
          <a:prstGeom prst="rect">
            <a:avLst/>
          </a:prstGeom>
          <a:noFill/>
          <a:ln w="9525">
            <a:noFill/>
            <a:miter lim="800000"/>
            <a:headEnd/>
            <a:tailEnd/>
          </a:ln>
        </p:spPr>
        <p:txBody>
          <a:bodyPr anchor="b"/>
          <a:lstStyle/>
          <a:p>
            <a:pPr algn="r" eaLnBrk="1" hangingPunct="1"/>
            <a:fld id="{B3487536-13C3-46EC-B77C-607CEF417482}" type="slidenum">
              <a:rPr lang="en-GB" altLang="en-US" sz="1200"/>
              <a:pPr algn="r" eaLnBrk="1" hangingPunct="1"/>
              <a:t>28</a:t>
            </a:fld>
            <a:endParaRPr lang="en-GB" altLang="en-US" sz="1200"/>
          </a:p>
        </p:txBody>
      </p:sp>
      <p:sp>
        <p:nvSpPr>
          <p:cNvPr id="29701" name="Rectangle 2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9702"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9703"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9704"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9705"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9706"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9707"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9708"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9709"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9710"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9711" name="Rectangle 1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9712"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9713" name="Rectangle 9"/>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9714"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9715"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2" name="Rectangle 3"/>
          <p:cNvSpPr txBox="1">
            <a:spLocks noChangeArrowheads="1"/>
          </p:cNvSpPr>
          <p:nvPr/>
        </p:nvSpPr>
        <p:spPr bwMode="auto">
          <a:xfrm>
            <a:off x="571500" y="1071563"/>
            <a:ext cx="7858125" cy="1714500"/>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US" altLang="en-US"/>
              <a:t>When individuals are represented as chromosomes, mutation can be implemented in the following way: </a:t>
            </a:r>
          </a:p>
          <a:p>
            <a:pPr marL="800100" lvl="1" indent="-342900" eaLnBrk="1" hangingPunct="1">
              <a:spcBef>
                <a:spcPct val="20000"/>
              </a:spcBef>
              <a:buClr>
                <a:schemeClr val="folHlink"/>
              </a:buClr>
              <a:buSzPct val="60000"/>
              <a:buFont typeface="Wingdings" pitchFamily="2" charset="2"/>
              <a:buChar char="Ø"/>
            </a:pPr>
            <a:r>
              <a:rPr lang="en-US" altLang="en-US"/>
              <a:t>firstly, fix a mutation rate </a:t>
            </a:r>
            <a:r>
              <a:rPr lang="en-US" altLang="en-US" b="1" i="1">
                <a:solidFill>
                  <a:srgbClr val="0000FF"/>
                </a:solidFill>
              </a:rPr>
              <a:t>p</a:t>
            </a:r>
            <a:r>
              <a:rPr lang="en-US" altLang="en-US"/>
              <a:t>, then;</a:t>
            </a:r>
          </a:p>
          <a:p>
            <a:pPr marL="800100" lvl="1" indent="-342900" eaLnBrk="1" hangingPunct="1">
              <a:spcBef>
                <a:spcPct val="20000"/>
              </a:spcBef>
              <a:buClr>
                <a:schemeClr val="folHlink"/>
              </a:buClr>
              <a:buSzPct val="60000"/>
              <a:buFont typeface="Wingdings" pitchFamily="2" charset="2"/>
              <a:buChar char="Ø"/>
            </a:pPr>
            <a:r>
              <a:rPr lang="en-US" altLang="en-US"/>
              <a:t>change the value of each gene with probability </a:t>
            </a:r>
            <a:r>
              <a:rPr lang="en-US" altLang="en-US" b="1" i="1">
                <a:solidFill>
                  <a:srgbClr val="0000FF"/>
                </a:solidFill>
              </a:rPr>
              <a:t>p</a:t>
            </a:r>
            <a:r>
              <a:rPr lang="en-US" altLang="en-US"/>
              <a:t>.</a:t>
            </a:r>
            <a:endParaRPr lang="en-GB" altLang="en-US">
              <a:cs typeface="Tahoma" pitchFamily="34" charset="0"/>
            </a:endParaRPr>
          </a:p>
        </p:txBody>
      </p:sp>
      <p:sp>
        <p:nvSpPr>
          <p:cNvPr id="23" name="Rectangle 3"/>
          <p:cNvSpPr txBox="1">
            <a:spLocks noChangeArrowheads="1"/>
          </p:cNvSpPr>
          <p:nvPr/>
        </p:nvSpPr>
        <p:spPr bwMode="auto">
          <a:xfrm>
            <a:off x="500063" y="3071813"/>
            <a:ext cx="8215312" cy="1714500"/>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defRPr/>
            </a:pPr>
            <a:r>
              <a:rPr lang="en-US" dirty="0"/>
              <a:t>Mutation is often applied to each bit with probability </a:t>
            </a:r>
          </a:p>
          <a:p>
            <a:pPr eaLnBrk="1" hangingPunct="1">
              <a:defRPr/>
            </a:pPr>
            <a:r>
              <a:rPr lang="en-US" b="1" i="1" dirty="0"/>
              <a:t>	</a:t>
            </a:r>
            <a:r>
              <a:rPr lang="en-US" b="1" i="1" dirty="0">
                <a:solidFill>
                  <a:srgbClr val="0000FF"/>
                </a:solidFill>
              </a:rPr>
              <a:t>p</a:t>
            </a:r>
            <a:r>
              <a:rPr lang="en-US" dirty="0">
                <a:solidFill>
                  <a:srgbClr val="0000FF"/>
                </a:solidFill>
              </a:rPr>
              <a:t> =1/(</a:t>
            </a:r>
            <a:r>
              <a:rPr lang="en-US" i="1" dirty="0">
                <a:solidFill>
                  <a:srgbClr val="0000FF"/>
                </a:solidFill>
              </a:rPr>
              <a:t>total number of bits</a:t>
            </a:r>
            <a:r>
              <a:rPr lang="en-US" dirty="0">
                <a:solidFill>
                  <a:srgbClr val="0000FF"/>
                </a:solidFill>
              </a:rPr>
              <a:t>), </a:t>
            </a:r>
            <a:endParaRPr lang="en-GB" dirty="0">
              <a:solidFill>
                <a:srgbClr val="0000FF"/>
              </a:solidFill>
            </a:endParaRPr>
          </a:p>
          <a:p>
            <a:pPr eaLnBrk="1" hangingPunct="1">
              <a:defRPr/>
            </a:pPr>
            <a:r>
              <a:rPr lang="en-US" dirty="0"/>
              <a:t>   e.g., for 10 chromosomes (individuals), each of 8 bits:      	</a:t>
            </a:r>
            <a:r>
              <a:rPr lang="en-US" b="1" i="1" dirty="0">
                <a:solidFill>
                  <a:srgbClr val="0000FF"/>
                </a:solidFill>
              </a:rPr>
              <a:t>p</a:t>
            </a:r>
            <a:r>
              <a:rPr lang="en-US" dirty="0"/>
              <a:t> = 1/(10*8)=0.0125 per bit.</a:t>
            </a:r>
          </a:p>
          <a:p>
            <a:pPr marL="342900" indent="-342900" eaLnBrk="1" hangingPunct="1">
              <a:spcBef>
                <a:spcPct val="20000"/>
              </a:spcBef>
              <a:buClr>
                <a:schemeClr val="folHlink"/>
              </a:buClr>
              <a:buSzPct val="60000"/>
              <a:buFont typeface="Wingdings" pitchFamily="2" charset="2"/>
              <a:buChar char="n"/>
              <a:defRPr/>
            </a:pPr>
            <a:endParaRPr lang="en-GB" dirty="0">
              <a:cs typeface="Tahoma" pitchFamily="34" charset="0"/>
            </a:endParaRPr>
          </a:p>
        </p:txBody>
      </p:sp>
      <p:sp>
        <p:nvSpPr>
          <p:cNvPr id="29718" name="Rectangle 2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6" name="Rectangle 3"/>
          <p:cNvSpPr txBox="1">
            <a:spLocks noChangeArrowheads="1"/>
          </p:cNvSpPr>
          <p:nvPr/>
        </p:nvSpPr>
        <p:spPr bwMode="auto">
          <a:xfrm>
            <a:off x="285750" y="4929188"/>
            <a:ext cx="8594725" cy="1214437"/>
          </a:xfrm>
          <a:prstGeom prst="rect">
            <a:avLst/>
          </a:prstGeom>
          <a:noFill/>
          <a:ln w="9525">
            <a:noFill/>
            <a:miter lim="800000"/>
            <a:headEnd/>
            <a:tailEnd/>
          </a:ln>
        </p:spPr>
        <p:txBody>
          <a:bodyPr/>
          <a:lstStyle/>
          <a:p>
            <a:pPr marL="800100" lvl="1" indent="-342900" eaLnBrk="1" hangingPunct="1">
              <a:spcBef>
                <a:spcPct val="20000"/>
              </a:spcBef>
              <a:buClr>
                <a:schemeClr val="folHlink"/>
              </a:buClr>
              <a:buSzPct val="60000"/>
              <a:buFont typeface="Wingdings" pitchFamily="2" charset="2"/>
              <a:buChar char="v"/>
            </a:pPr>
            <a:r>
              <a:rPr lang="en-US" altLang="en-US" dirty="0"/>
              <a:t>What is the probability of a chromosome containing 2 genes (each of 4 bits), not to be changed by mutation,  in a population of 20 chromosomes? </a:t>
            </a:r>
            <a:r>
              <a:rPr lang="en-US" altLang="en-US" sz="800" dirty="0">
                <a:solidFill>
                  <a:schemeClr val="bg2">
                    <a:lumMod val="10000"/>
                    <a:lumOff val="90000"/>
                  </a:schemeClr>
                </a:solidFill>
              </a:rPr>
              <a:t>(1 – 1/(2*4*20))= 1-0.00625= 0.99375</a:t>
            </a:r>
            <a:endParaRPr lang="en-GB" altLang="en-US" sz="800" dirty="0">
              <a:solidFill>
                <a:schemeClr val="bg2">
                  <a:lumMod val="10000"/>
                  <a:lumOff val="90000"/>
                </a:schemeClr>
              </a:solidFill>
            </a:endParaRPr>
          </a:p>
        </p:txBody>
      </p:sp>
      <p:sp>
        <p:nvSpPr>
          <p:cNvPr id="24" name="Rectangle 3"/>
          <p:cNvSpPr txBox="1">
            <a:spLocks noChangeArrowheads="1"/>
          </p:cNvSpPr>
          <p:nvPr/>
        </p:nvSpPr>
        <p:spPr bwMode="auto">
          <a:xfrm>
            <a:off x="1143000" y="214313"/>
            <a:ext cx="1916832" cy="571500"/>
          </a:xfrm>
          <a:prstGeom prst="rect">
            <a:avLst/>
          </a:prstGeom>
          <a:solidFill>
            <a:schemeClr val="bg1"/>
          </a:solidFill>
          <a:ln w="9525">
            <a:noFill/>
            <a:miter lim="800000"/>
            <a:headEnd/>
            <a:tailEnd/>
          </a:ln>
        </p:spPr>
        <p:txBody>
          <a:bodyPr/>
          <a:lstStyle/>
          <a:p>
            <a:pPr marL="342900" indent="-342900" eaLnBrk="1" hangingPunct="1">
              <a:spcBef>
                <a:spcPct val="20000"/>
              </a:spcBef>
              <a:buClr>
                <a:schemeClr val="folHlink"/>
              </a:buClr>
              <a:buSzPct val="60000"/>
            </a:pPr>
            <a:r>
              <a:rPr lang="en-US" altLang="en-US" sz="2800" b="1" u="sng" dirty="0"/>
              <a:t>Example</a:t>
            </a:r>
            <a:r>
              <a:rPr lang="en-US" altLang="en-US" sz="2800" b="1" u="sng" dirty="0">
                <a:solidFill>
                  <a:srgbClr val="FFC000"/>
                </a:solidFill>
              </a:rPr>
              <a:t> </a:t>
            </a:r>
            <a:endParaRPr lang="en-GB" altLang="en-US" sz="2800" u="sng" dirty="0">
              <a:solidFill>
                <a:srgbClr val="FFC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dissolve">
                                      <p:cBhvr>
                                        <p:cTn id="7" dur="500"/>
                                        <p:tgtEl>
                                          <p:spTgt spid="2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2">
                                            <p:txEl>
                                              <p:pRg st="0" end="0"/>
                                            </p:txEl>
                                          </p:spTgt>
                                        </p:tgtEl>
                                        <p:attrNameLst>
                                          <p:attrName>style.visibility</p:attrName>
                                        </p:attrNameLst>
                                      </p:cBhvr>
                                      <p:to>
                                        <p:strVal val="visible"/>
                                      </p:to>
                                    </p:set>
                                    <p:animEffect transition="in" filter="dissolve">
                                      <p:cBhvr>
                                        <p:cTn id="12" dur="500"/>
                                        <p:tgtEl>
                                          <p:spTgt spid="22">
                                            <p:txEl>
                                              <p:pRg st="0" end="0"/>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22">
                                            <p:txEl>
                                              <p:pRg st="1" end="1"/>
                                            </p:txEl>
                                          </p:spTgt>
                                        </p:tgtEl>
                                        <p:attrNameLst>
                                          <p:attrName>style.visibility</p:attrName>
                                        </p:attrNameLst>
                                      </p:cBhvr>
                                      <p:to>
                                        <p:strVal val="visible"/>
                                      </p:to>
                                    </p:set>
                                    <p:animEffect transition="in" filter="dissolve">
                                      <p:cBhvr>
                                        <p:cTn id="15" dur="500"/>
                                        <p:tgtEl>
                                          <p:spTgt spid="22">
                                            <p:txEl>
                                              <p:pRg st="1" end="1"/>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2">
                                            <p:txEl>
                                              <p:pRg st="2" end="2"/>
                                            </p:txEl>
                                          </p:spTgt>
                                        </p:tgtEl>
                                        <p:attrNameLst>
                                          <p:attrName>style.visibility</p:attrName>
                                        </p:attrNameLst>
                                      </p:cBhvr>
                                      <p:to>
                                        <p:strVal val="visible"/>
                                      </p:to>
                                    </p:set>
                                    <p:animEffect transition="in" filter="dissolve">
                                      <p:cBhvr>
                                        <p:cTn id="18" dur="500"/>
                                        <p:tgtEl>
                                          <p:spTgt spid="22">
                                            <p:txEl>
                                              <p:pRg st="2" end="2"/>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3">
                                            <p:txEl>
                                              <p:pRg st="0" end="0"/>
                                            </p:txEl>
                                          </p:spTgt>
                                        </p:tgtEl>
                                        <p:attrNameLst>
                                          <p:attrName>style.visibility</p:attrName>
                                        </p:attrNameLst>
                                      </p:cBhvr>
                                      <p:to>
                                        <p:strVal val="visible"/>
                                      </p:to>
                                    </p:set>
                                    <p:animEffect transition="in" filter="dissolve">
                                      <p:cBhvr>
                                        <p:cTn id="23" dur="500"/>
                                        <p:tgtEl>
                                          <p:spTgt spid="23">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23">
                                            <p:txEl>
                                              <p:pRg st="1" end="1"/>
                                            </p:txEl>
                                          </p:spTgt>
                                        </p:tgtEl>
                                        <p:attrNameLst>
                                          <p:attrName>style.visibility</p:attrName>
                                        </p:attrNameLst>
                                      </p:cBhvr>
                                      <p:to>
                                        <p:strVal val="visible"/>
                                      </p:to>
                                    </p:set>
                                    <p:animEffect transition="in" filter="dissolve">
                                      <p:cBhvr>
                                        <p:cTn id="28" dur="500"/>
                                        <p:tgtEl>
                                          <p:spTgt spid="23">
                                            <p:txEl>
                                              <p:pRg st="1" end="1"/>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23">
                                            <p:txEl>
                                              <p:pRg st="2" end="2"/>
                                            </p:txEl>
                                          </p:spTgt>
                                        </p:tgtEl>
                                        <p:attrNameLst>
                                          <p:attrName>style.visibility</p:attrName>
                                        </p:attrNameLst>
                                      </p:cBhvr>
                                      <p:to>
                                        <p:strVal val="visible"/>
                                      </p:to>
                                    </p:set>
                                    <p:animEffect transition="in" filter="dissolve">
                                      <p:cBhvr>
                                        <p:cTn id="33" dur="500"/>
                                        <p:tgtEl>
                                          <p:spTgt spid="23">
                                            <p:txEl>
                                              <p:pRg st="2" end="2"/>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26">
                                            <p:txEl>
                                              <p:pRg st="0" end="0"/>
                                            </p:txEl>
                                          </p:spTgt>
                                        </p:tgtEl>
                                        <p:attrNameLst>
                                          <p:attrName>style.visibility</p:attrName>
                                        </p:attrNameLst>
                                      </p:cBhvr>
                                      <p:to>
                                        <p:strVal val="visible"/>
                                      </p:to>
                                    </p:set>
                                    <p:animEffect transition="in" filter="dissolve">
                                      <p:cBhvr>
                                        <p:cTn id="38"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uild="p" autoUpdateAnimBg="0"/>
      <p:bldP spid="23" grpId="0" build="p" autoUpdateAnimBg="0"/>
      <p:bldP spid="26" grpId="0" build="p" autoUpdateAnimBg="0"/>
      <p:bldP spid="24"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8" name="Date Placeholder 3"/>
          <p:cNvSpPr>
            <a:spLocks noGrp="1"/>
          </p:cNvSpPr>
          <p:nvPr>
            <p:ph type="dt" sz="quarter" idx="10"/>
          </p:nvPr>
        </p:nvSpPr>
        <p:spPr>
          <a:noFill/>
        </p:spPr>
        <p:txBody>
          <a:bodyPr/>
          <a:lstStyle/>
          <a:p>
            <a:fld id="{73C794D1-4E40-468C-9800-0158AF40756F}" type="datetime1">
              <a:rPr lang="en-GB" altLang="en-US" smtClean="0"/>
              <a:pPr/>
              <a:t>17/02/2026</a:t>
            </a:fld>
            <a:endParaRPr lang="en-GB" altLang="en-US"/>
          </a:p>
        </p:txBody>
      </p:sp>
      <p:sp>
        <p:nvSpPr>
          <p:cNvPr id="1030" name="Slide Number Placeholder 5"/>
          <p:cNvSpPr>
            <a:spLocks noGrp="1"/>
          </p:cNvSpPr>
          <p:nvPr>
            <p:ph type="sldNum" sz="quarter" idx="12"/>
          </p:nvPr>
        </p:nvSpPr>
        <p:spPr>
          <a:noFill/>
        </p:spPr>
        <p:txBody>
          <a:bodyPr/>
          <a:lstStyle/>
          <a:p>
            <a:fld id="{393289EA-F2BD-4BB3-BA51-7BDA3064A52B}" type="slidenum">
              <a:rPr lang="en-GB" altLang="en-US" smtClean="0"/>
              <a:pPr/>
              <a:t>29</a:t>
            </a:fld>
            <a:endParaRPr lang="en-GB" altLang="en-US"/>
          </a:p>
        </p:txBody>
      </p:sp>
      <p:sp>
        <p:nvSpPr>
          <p:cNvPr id="9221" name="Rectangle 2"/>
          <p:cNvSpPr>
            <a:spLocks noGrp="1" noChangeArrowheads="1"/>
          </p:cNvSpPr>
          <p:nvPr>
            <p:ph type="title"/>
          </p:nvPr>
        </p:nvSpPr>
        <p:spPr>
          <a:xfrm>
            <a:off x="923742" y="104776"/>
            <a:ext cx="8143875" cy="1168400"/>
          </a:xfrm>
        </p:spPr>
        <p:txBody>
          <a:bodyPr/>
          <a:lstStyle/>
          <a:p>
            <a:pPr algn="ctr"/>
            <a:r>
              <a:rPr lang="en-US" altLang="en-US" sz="2800" dirty="0"/>
              <a:t> Example: Fitness proportional selection (FPS)</a:t>
            </a:r>
            <a:endParaRPr lang="en-GB" altLang="en-US" sz="2800" u="sng" baseline="30000" dirty="0"/>
          </a:p>
        </p:txBody>
      </p:sp>
      <p:sp>
        <p:nvSpPr>
          <p:cNvPr id="1032"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033" name="Rectangle 1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11" name="Rectangle 3"/>
          <p:cNvSpPr>
            <a:spLocks noChangeArrowheads="1"/>
          </p:cNvSpPr>
          <p:nvPr/>
        </p:nvSpPr>
        <p:spPr bwMode="auto">
          <a:xfrm>
            <a:off x="714375" y="1643063"/>
            <a:ext cx="7429500" cy="642937"/>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pPr>
            <a:r>
              <a:rPr lang="en-GB" altLang="en-US" sz="2800" i="1" dirty="0">
                <a:solidFill>
                  <a:srgbClr val="0000FF"/>
                </a:solidFill>
              </a:rPr>
              <a:t>Review of some basic statistics</a:t>
            </a:r>
            <a:endParaRPr lang="en-GB" altLang="en-US" sz="2800" dirty="0">
              <a:solidFill>
                <a:srgbClr val="0000FF"/>
              </a:solidFill>
            </a:endParaRPr>
          </a:p>
        </p:txBody>
      </p:sp>
      <p:sp>
        <p:nvSpPr>
          <p:cNvPr id="112" name="Rectangle 3"/>
          <p:cNvSpPr>
            <a:spLocks noChangeArrowheads="1"/>
          </p:cNvSpPr>
          <p:nvPr/>
        </p:nvSpPr>
        <p:spPr bwMode="auto">
          <a:xfrm>
            <a:off x="857250" y="2214563"/>
            <a:ext cx="6673850" cy="857250"/>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v"/>
              <a:defRPr/>
            </a:pPr>
            <a:r>
              <a:rPr lang="en-GB" dirty="0">
                <a:latin typeface="+mn-lt"/>
                <a:ea typeface="Times New Roman"/>
              </a:rPr>
              <a:t>If we have a set of </a:t>
            </a:r>
            <a:r>
              <a:rPr lang="en-GB" i="1" dirty="0">
                <a:latin typeface="+mn-lt"/>
                <a:ea typeface="Times New Roman"/>
              </a:rPr>
              <a:t>n</a:t>
            </a:r>
            <a:r>
              <a:rPr lang="en-GB" dirty="0">
                <a:latin typeface="+mn-lt"/>
                <a:ea typeface="Times New Roman"/>
              </a:rPr>
              <a:t> numbers, for example,  </a:t>
            </a:r>
            <a:r>
              <a:rPr lang="en-GB" b="1" dirty="0">
                <a:solidFill>
                  <a:srgbClr val="0000FF"/>
                </a:solidFill>
                <a:latin typeface="+mn-lt"/>
                <a:ea typeface="Times New Roman"/>
              </a:rPr>
              <a:t>x</a:t>
            </a:r>
            <a:r>
              <a:rPr lang="en-GB" dirty="0">
                <a:solidFill>
                  <a:srgbClr val="0000FF"/>
                </a:solidFill>
                <a:latin typeface="+mn-lt"/>
                <a:ea typeface="Times New Roman"/>
              </a:rPr>
              <a:t> = </a:t>
            </a:r>
            <a:r>
              <a:rPr lang="en-US" b="1" dirty="0">
                <a:solidFill>
                  <a:srgbClr val="0000FF"/>
                </a:solidFill>
                <a:latin typeface="+mn-lt"/>
                <a:ea typeface="Times New Roman"/>
              </a:rPr>
              <a:t>2, 9, 1, 5, 3</a:t>
            </a:r>
            <a:r>
              <a:rPr lang="en-US" dirty="0">
                <a:latin typeface="+mn-lt"/>
                <a:ea typeface="Times New Roman"/>
              </a:rPr>
              <a:t>,</a:t>
            </a:r>
            <a:r>
              <a:rPr lang="en-US" b="1" dirty="0">
                <a:latin typeface="+mn-lt"/>
                <a:ea typeface="Times New Roman"/>
              </a:rPr>
              <a:t> </a:t>
            </a:r>
            <a:r>
              <a:rPr lang="en-GB" dirty="0">
                <a:latin typeface="+mn-lt"/>
                <a:ea typeface="Times New Roman"/>
              </a:rPr>
              <a:t>(sample size</a:t>
            </a:r>
            <a:r>
              <a:rPr lang="en-GB" i="1" dirty="0">
                <a:latin typeface="+mn-lt"/>
                <a:ea typeface="Times New Roman"/>
              </a:rPr>
              <a:t> </a:t>
            </a:r>
            <a:r>
              <a:rPr lang="en-GB" b="1" i="1" dirty="0">
                <a:solidFill>
                  <a:srgbClr val="0000FF"/>
                </a:solidFill>
                <a:latin typeface="+mn-lt"/>
                <a:ea typeface="Times New Roman"/>
              </a:rPr>
              <a:t>n=5</a:t>
            </a:r>
            <a:r>
              <a:rPr lang="en-GB" dirty="0">
                <a:latin typeface="+mn-lt"/>
                <a:ea typeface="Times New Roman"/>
              </a:rPr>
              <a:t>) </a:t>
            </a:r>
            <a:r>
              <a:rPr lang="en-US" dirty="0">
                <a:latin typeface="+mn-lt"/>
                <a:ea typeface="Times New Roman"/>
              </a:rPr>
              <a:t>then:</a:t>
            </a:r>
            <a:endParaRPr lang="en-GB" dirty="0">
              <a:latin typeface="+mn-lt"/>
            </a:endParaRPr>
          </a:p>
        </p:txBody>
      </p:sp>
      <p:sp>
        <p:nvSpPr>
          <p:cNvPr id="1036" name="Rectangle 11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grpSp>
        <p:nvGrpSpPr>
          <p:cNvPr id="2" name="Group 13"/>
          <p:cNvGrpSpPr>
            <a:grpSpLocks/>
          </p:cNvGrpSpPr>
          <p:nvPr/>
        </p:nvGrpSpPr>
        <p:grpSpPr bwMode="auto">
          <a:xfrm>
            <a:off x="1285875" y="3071813"/>
            <a:ext cx="7345363" cy="1503362"/>
            <a:chOff x="1285875" y="2857497"/>
            <a:chExt cx="7344966" cy="1503366"/>
          </a:xfrm>
        </p:grpSpPr>
        <p:sp>
          <p:nvSpPr>
            <p:cNvPr id="113" name="Rectangle 112"/>
            <p:cNvSpPr/>
            <p:nvPr/>
          </p:nvSpPr>
          <p:spPr>
            <a:xfrm>
              <a:off x="1285875" y="3571874"/>
              <a:ext cx="3351032" cy="461963"/>
            </a:xfrm>
            <a:prstGeom prst="rect">
              <a:avLst/>
            </a:prstGeom>
          </p:spPr>
          <p:txBody>
            <a:bodyPr>
              <a:spAutoFit/>
            </a:bodyPr>
            <a:lstStyle/>
            <a:p>
              <a:pPr eaLnBrk="1" hangingPunct="1">
                <a:defRPr/>
              </a:pPr>
              <a:r>
                <a:rPr lang="en-US" i="1" u="sng" dirty="0">
                  <a:solidFill>
                    <a:srgbClr val="333399"/>
                  </a:solidFill>
                  <a:latin typeface="+mn-lt"/>
                  <a:ea typeface="Times New Roman"/>
                </a:rPr>
                <a:t>The</a:t>
              </a:r>
              <a:r>
                <a:rPr lang="en-US" u="sng" dirty="0">
                  <a:solidFill>
                    <a:srgbClr val="333399"/>
                  </a:solidFill>
                  <a:latin typeface="+mn-lt"/>
                  <a:ea typeface="Times New Roman"/>
                </a:rPr>
                <a:t> </a:t>
              </a:r>
              <a:r>
                <a:rPr lang="en-US" i="1" u="sng" dirty="0">
                  <a:solidFill>
                    <a:srgbClr val="333399"/>
                  </a:solidFill>
                  <a:latin typeface="+mn-lt"/>
                  <a:ea typeface="Times New Roman"/>
                </a:rPr>
                <a:t>Mean</a:t>
              </a:r>
              <a:r>
                <a:rPr lang="en-US" u="sng" dirty="0">
                  <a:latin typeface="+mn-lt"/>
                  <a:ea typeface="Times New Roman"/>
                </a:rPr>
                <a:t> (</a:t>
              </a:r>
              <a:r>
                <a:rPr lang="en-US" i="1" u="sng" dirty="0">
                  <a:solidFill>
                    <a:srgbClr val="000080"/>
                  </a:solidFill>
                  <a:latin typeface="+mn-lt"/>
                  <a:ea typeface="Times New Roman"/>
                </a:rPr>
                <a:t>average</a:t>
              </a:r>
              <a:r>
                <a:rPr lang="en-US" u="sng" dirty="0">
                  <a:latin typeface="+mn-lt"/>
                  <a:ea typeface="Times New Roman"/>
                </a:rPr>
                <a:t>)</a:t>
              </a:r>
              <a:r>
                <a:rPr lang="en-US" dirty="0">
                  <a:latin typeface="+mn-lt"/>
                  <a:ea typeface="Times New Roman"/>
                </a:rPr>
                <a:t> is: </a:t>
              </a:r>
              <a:endParaRPr lang="en-GB" dirty="0">
                <a:latin typeface="+mn-lt"/>
              </a:endParaRPr>
            </a:p>
          </p:txBody>
        </p:sp>
        <p:graphicFrame>
          <p:nvGraphicFramePr>
            <p:cNvPr id="1027" name="Object 111"/>
            <p:cNvGraphicFramePr>
              <a:graphicFrameLocks noChangeAspect="1"/>
            </p:cNvGraphicFramePr>
            <p:nvPr/>
          </p:nvGraphicFramePr>
          <p:xfrm>
            <a:off x="5214942" y="2857497"/>
            <a:ext cx="3415899" cy="1503366"/>
          </p:xfrm>
          <a:graphic>
            <a:graphicData uri="http://schemas.openxmlformats.org/presentationml/2006/ole">
              <mc:AlternateContent xmlns:mc="http://schemas.openxmlformats.org/markup-compatibility/2006">
                <mc:Choice xmlns:v="urn:schemas-microsoft-com:vml" Requires="v">
                  <p:oleObj name="Equation" r:id="rId2" imgW="1701800" imgH="812800" progId="Equation.DSMT4">
                    <p:embed/>
                  </p:oleObj>
                </mc:Choice>
                <mc:Fallback>
                  <p:oleObj name="Equation" r:id="rId2" imgW="1701800" imgH="812800" progId="Equation.DSMT4">
                    <p:embed/>
                    <p:pic>
                      <p:nvPicPr>
                        <p:cNvPr id="0" name="Object 1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4942" y="2857497"/>
                          <a:ext cx="3415899" cy="15033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17" name="Rectangle 3"/>
          <p:cNvSpPr>
            <a:spLocks noChangeArrowheads="1"/>
          </p:cNvSpPr>
          <p:nvPr/>
        </p:nvSpPr>
        <p:spPr bwMode="auto">
          <a:xfrm>
            <a:off x="928688" y="4643438"/>
            <a:ext cx="7896225" cy="1500187"/>
          </a:xfrm>
          <a:prstGeom prst="rect">
            <a:avLst/>
          </a:prstGeom>
          <a:noFill/>
          <a:ln w="9525">
            <a:noFill/>
            <a:miter lim="800000"/>
            <a:headEnd/>
            <a:tailEnd/>
          </a:ln>
        </p:spPr>
        <p:txBody>
          <a:bodyPr/>
          <a:lstStyle/>
          <a:p>
            <a:pPr eaLnBrk="1" hangingPunct="1">
              <a:defRPr/>
            </a:pPr>
            <a:r>
              <a:rPr lang="en-GB" dirty="0">
                <a:latin typeface="+mn-lt"/>
                <a:cs typeface="Times New Roman" pitchFamily="18" charset="0"/>
              </a:rPr>
              <a:t>Don’t confuse it with a </a:t>
            </a:r>
            <a:r>
              <a:rPr lang="en-GB" i="1" dirty="0">
                <a:solidFill>
                  <a:srgbClr val="0000FF"/>
                </a:solidFill>
                <a:latin typeface="+mn-lt"/>
                <a:cs typeface="Times New Roman" pitchFamily="18" charset="0"/>
              </a:rPr>
              <a:t>median</a:t>
            </a:r>
            <a:r>
              <a:rPr lang="en-GB" dirty="0">
                <a:latin typeface="+mn-lt"/>
                <a:cs typeface="Times New Roman" pitchFamily="18" charset="0"/>
              </a:rPr>
              <a:t>, which is </a:t>
            </a:r>
            <a:r>
              <a:rPr lang="en-GB" b="1" i="1" dirty="0">
                <a:solidFill>
                  <a:srgbClr val="0033CC"/>
                </a:solidFill>
                <a:latin typeface="+mn-lt"/>
                <a:cs typeface="Times New Roman" pitchFamily="18" charset="0"/>
              </a:rPr>
              <a:t>3  </a:t>
            </a:r>
            <a:r>
              <a:rPr lang="en-GB" dirty="0">
                <a:latin typeface="+mn-lt"/>
                <a:cs typeface="Times New Roman" pitchFamily="18" charset="0"/>
              </a:rPr>
              <a:t>in this case.</a:t>
            </a:r>
          </a:p>
          <a:p>
            <a:pPr eaLnBrk="1" hangingPunct="1">
              <a:defRPr/>
            </a:pPr>
            <a:r>
              <a:rPr lang="en-GB" dirty="0">
                <a:latin typeface="+mn-lt"/>
                <a:cs typeface="Times New Roman" pitchFamily="18" charset="0"/>
              </a:rPr>
              <a:t>In </a:t>
            </a:r>
            <a:r>
              <a:rPr lang="en-GB" dirty="0" err="1">
                <a:latin typeface="+mn-lt"/>
                <a:cs typeface="Times New Roman" pitchFamily="18" charset="0"/>
              </a:rPr>
              <a:t>Matlab</a:t>
            </a:r>
            <a:r>
              <a:rPr lang="en-GB" dirty="0">
                <a:latin typeface="+mn-lt"/>
                <a:cs typeface="Times New Roman" pitchFamily="18" charset="0"/>
              </a:rPr>
              <a:t>, if you assign  </a:t>
            </a:r>
            <a:r>
              <a:rPr lang="en-GB" b="1" i="1" dirty="0">
                <a:solidFill>
                  <a:srgbClr val="0000FF"/>
                </a:solidFill>
                <a:latin typeface="+mn-lt"/>
                <a:cs typeface="Times New Roman" pitchFamily="18" charset="0"/>
              </a:rPr>
              <a:t>x=[2, 9, 1, 5, 3]</a:t>
            </a:r>
            <a:r>
              <a:rPr lang="en-GB" b="1" dirty="0">
                <a:solidFill>
                  <a:srgbClr val="0000FF"/>
                </a:solidFill>
                <a:latin typeface="+mn-lt"/>
                <a:cs typeface="Times New Roman" pitchFamily="18" charset="0"/>
              </a:rPr>
              <a:t> </a:t>
            </a:r>
            <a:r>
              <a:rPr lang="en-GB" dirty="0">
                <a:latin typeface="+mn-lt"/>
                <a:cs typeface="Times New Roman" pitchFamily="18" charset="0"/>
              </a:rPr>
              <a:t>and then call the mean function with </a:t>
            </a:r>
            <a:r>
              <a:rPr lang="en-GB" i="1" dirty="0">
                <a:solidFill>
                  <a:srgbClr val="FF0000"/>
                </a:solidFill>
                <a:latin typeface="+mn-lt"/>
                <a:cs typeface="Times New Roman" pitchFamily="18" charset="0"/>
              </a:rPr>
              <a:t>mean(x)</a:t>
            </a:r>
            <a:r>
              <a:rPr lang="en-GB" dirty="0">
                <a:latin typeface="+mn-lt"/>
                <a:cs typeface="Times New Roman" pitchFamily="18" charset="0"/>
              </a:rPr>
              <a:t>, you should get the same result.</a:t>
            </a:r>
          </a:p>
        </p:txBody>
      </p:sp>
      <p:graphicFrame>
        <p:nvGraphicFramePr>
          <p:cNvPr id="1026" name="Object 16"/>
          <p:cNvGraphicFramePr>
            <a:graphicFrameLocks noChangeAspect="1"/>
          </p:cNvGraphicFramePr>
          <p:nvPr>
            <p:extLst>
              <p:ext uri="{D42A27DB-BD31-4B8C-83A1-F6EECF244321}">
                <p14:modId xmlns:p14="http://schemas.microsoft.com/office/powerpoint/2010/main" val="4230560360"/>
              </p:ext>
            </p:extLst>
          </p:nvPr>
        </p:nvGraphicFramePr>
        <p:xfrm>
          <a:off x="923742" y="0"/>
          <a:ext cx="576262" cy="793750"/>
        </p:xfrm>
        <a:graphic>
          <a:graphicData uri="http://schemas.openxmlformats.org/presentationml/2006/ole">
            <mc:AlternateContent xmlns:mc="http://schemas.openxmlformats.org/markup-compatibility/2006">
              <mc:Choice xmlns:v="urn:schemas-microsoft-com:vml" Requires="v">
                <p:oleObj r:id="rId4" imgW="2525917" imgH="3407121" progId="">
                  <p:embed/>
                </p:oleObj>
              </mc:Choice>
              <mc:Fallback>
                <p:oleObj r:id="rId4" imgW="2525917" imgH="3407121" progId="">
                  <p:embed/>
                  <p:pic>
                    <p:nvPicPr>
                      <p:cNvPr id="0"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3742" y="0"/>
                        <a:ext cx="576262" cy="793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21"/>
                                        </p:tgtEl>
                                        <p:attrNameLst>
                                          <p:attrName>style.visibility</p:attrName>
                                        </p:attrNameLst>
                                      </p:cBhvr>
                                      <p:to>
                                        <p:strVal val="visible"/>
                                      </p:to>
                                    </p:set>
                                    <p:anim calcmode="lin" valueType="num">
                                      <p:cBhvr additive="base">
                                        <p:cTn id="7" dur="500" fill="hold"/>
                                        <p:tgtEl>
                                          <p:spTgt spid="9221"/>
                                        </p:tgtEl>
                                        <p:attrNameLst>
                                          <p:attrName>ppt_x</p:attrName>
                                        </p:attrNameLst>
                                      </p:cBhvr>
                                      <p:tavLst>
                                        <p:tav tm="0">
                                          <p:val>
                                            <p:strVal val="0-#ppt_w/2"/>
                                          </p:val>
                                        </p:tav>
                                        <p:tav tm="100000">
                                          <p:val>
                                            <p:strVal val="#ppt_x"/>
                                          </p:val>
                                        </p:tav>
                                      </p:tavLst>
                                    </p:anim>
                                    <p:anim calcmode="lin" valueType="num">
                                      <p:cBhvr additive="base">
                                        <p:cTn id="8" dur="500" fill="hold"/>
                                        <p:tgtEl>
                                          <p:spTgt spid="922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11"/>
                                        </p:tgtEl>
                                        <p:attrNameLst>
                                          <p:attrName>style.visibility</p:attrName>
                                        </p:attrNameLst>
                                      </p:cBhvr>
                                      <p:to>
                                        <p:strVal val="visible"/>
                                      </p:to>
                                    </p:set>
                                    <p:animEffect transition="in" filter="blinds(horizontal)">
                                      <p:cBhvr>
                                        <p:cTn id="13" dur="500"/>
                                        <p:tgtEl>
                                          <p:spTgt spid="11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12"/>
                                        </p:tgtEl>
                                        <p:attrNameLst>
                                          <p:attrName>style.visibility</p:attrName>
                                        </p:attrNameLst>
                                      </p:cBhvr>
                                      <p:to>
                                        <p:strVal val="visible"/>
                                      </p:to>
                                    </p:set>
                                    <p:animEffect transition="in" filter="blinds(horizontal)">
                                      <p:cBhvr>
                                        <p:cTn id="18" dur="500"/>
                                        <p:tgtEl>
                                          <p:spTgt spid="11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17"/>
                                        </p:tgtEl>
                                        <p:attrNameLst>
                                          <p:attrName>style.visibility</p:attrName>
                                        </p:attrNameLst>
                                      </p:cBhvr>
                                      <p:to>
                                        <p:strVal val="visible"/>
                                      </p:to>
                                    </p:set>
                                    <p:animEffect transition="in" filter="blinds(horizontal)">
                                      <p:cBhvr>
                                        <p:cTn id="28"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autoUpdateAnimBg="0"/>
      <p:bldP spid="111" grpId="0" autoUpdateAnimBg="0"/>
      <p:bldP spid="112" grpId="0" autoUpdateAnimBg="0"/>
      <p:bldP spid="117"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Date Placeholder 3"/>
          <p:cNvSpPr>
            <a:spLocks noGrp="1"/>
          </p:cNvSpPr>
          <p:nvPr>
            <p:ph type="dt" sz="quarter" idx="10"/>
          </p:nvPr>
        </p:nvSpPr>
        <p:spPr>
          <a:noFill/>
        </p:spPr>
        <p:txBody>
          <a:bodyPr/>
          <a:lstStyle/>
          <a:p>
            <a:fld id="{4C0FA2C6-C3D7-47AF-8E24-5E7C83DC73B5}" type="datetime1">
              <a:rPr lang="en-GB" altLang="en-US" smtClean="0"/>
              <a:pPr/>
              <a:t>17/02/2026</a:t>
            </a:fld>
            <a:endParaRPr lang="en-GB" altLang="en-US"/>
          </a:p>
        </p:txBody>
      </p:sp>
      <p:sp>
        <p:nvSpPr>
          <p:cNvPr id="2054" name="Slide Number Placeholder 5"/>
          <p:cNvSpPr>
            <a:spLocks noGrp="1"/>
          </p:cNvSpPr>
          <p:nvPr>
            <p:ph type="sldNum" sz="quarter" idx="12"/>
          </p:nvPr>
        </p:nvSpPr>
        <p:spPr>
          <a:noFill/>
        </p:spPr>
        <p:txBody>
          <a:bodyPr/>
          <a:lstStyle/>
          <a:p>
            <a:fld id="{BF6ACEFE-79CC-4B00-9794-A9797E2923FA}" type="slidenum">
              <a:rPr lang="en-GB" altLang="en-US" smtClean="0"/>
              <a:pPr/>
              <a:t>30</a:t>
            </a:fld>
            <a:endParaRPr lang="en-GB" altLang="en-US"/>
          </a:p>
        </p:txBody>
      </p:sp>
      <p:sp>
        <p:nvSpPr>
          <p:cNvPr id="2055"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2056" name="Rectangle 1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4347" name="Rectangle 3"/>
          <p:cNvSpPr>
            <a:spLocks noChangeArrowheads="1"/>
          </p:cNvSpPr>
          <p:nvPr/>
        </p:nvSpPr>
        <p:spPr bwMode="auto">
          <a:xfrm>
            <a:off x="428625" y="857250"/>
            <a:ext cx="8286750" cy="1143000"/>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v"/>
              <a:defRPr/>
            </a:pPr>
            <a:r>
              <a:rPr lang="en-GB" i="1" u="sng" dirty="0">
                <a:solidFill>
                  <a:srgbClr val="333399"/>
                </a:solidFill>
                <a:latin typeface="+mn-lt"/>
                <a:ea typeface="Times New Roman"/>
              </a:rPr>
              <a:t>The</a:t>
            </a:r>
            <a:r>
              <a:rPr lang="en-GB" u="sng" dirty="0">
                <a:solidFill>
                  <a:srgbClr val="333399"/>
                </a:solidFill>
                <a:latin typeface="+mn-lt"/>
                <a:ea typeface="Times New Roman"/>
              </a:rPr>
              <a:t> </a:t>
            </a:r>
            <a:r>
              <a:rPr lang="en-GB" i="1" u="sng" dirty="0">
                <a:solidFill>
                  <a:srgbClr val="333399"/>
                </a:solidFill>
                <a:latin typeface="+mn-lt"/>
                <a:ea typeface="Times New Roman"/>
              </a:rPr>
              <a:t>Standard deviation</a:t>
            </a:r>
            <a:r>
              <a:rPr lang="en-GB" dirty="0">
                <a:latin typeface="+mn-lt"/>
                <a:ea typeface="Times New Roman"/>
              </a:rPr>
              <a:t>  is a measure of the variation of the set, or how close to the mean are all members of the set  (same unit measures):</a:t>
            </a:r>
          </a:p>
        </p:txBody>
      </p:sp>
      <p:sp>
        <p:nvSpPr>
          <p:cNvPr id="2058" name="Rectangle 19"/>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grpSp>
        <p:nvGrpSpPr>
          <p:cNvPr id="2" name="Group 14"/>
          <p:cNvGrpSpPr>
            <a:grpSpLocks/>
          </p:cNvGrpSpPr>
          <p:nvPr/>
        </p:nvGrpSpPr>
        <p:grpSpPr bwMode="auto">
          <a:xfrm>
            <a:off x="501141" y="1943375"/>
            <a:ext cx="8634413" cy="1785937"/>
            <a:chOff x="295034" y="2071678"/>
            <a:chExt cx="8634654" cy="1785947"/>
          </a:xfrm>
        </p:grpSpPr>
        <p:sp>
          <p:nvSpPr>
            <p:cNvPr id="18" name="Rectangle 3"/>
            <p:cNvSpPr>
              <a:spLocks noChangeArrowheads="1"/>
            </p:cNvSpPr>
            <p:nvPr/>
          </p:nvSpPr>
          <p:spPr bwMode="auto">
            <a:xfrm>
              <a:off x="5046555" y="2285991"/>
              <a:ext cx="3883133" cy="1325570"/>
            </a:xfrm>
            <a:prstGeom prst="rect">
              <a:avLst/>
            </a:prstGeom>
            <a:noFill/>
            <a:ln w="9525">
              <a:noFill/>
              <a:miter lim="800000"/>
              <a:headEnd/>
              <a:tailEnd/>
            </a:ln>
          </p:spPr>
          <p:txBody>
            <a:bodyPr/>
            <a:lstStyle/>
            <a:p>
              <a:pPr marL="342900" eaLnBrk="1" hangingPunct="1">
                <a:spcBef>
                  <a:spcPct val="20000"/>
                </a:spcBef>
                <a:buClr>
                  <a:schemeClr val="folHlink"/>
                </a:buClr>
                <a:buSzPct val="60000"/>
                <a:defRPr/>
              </a:pPr>
              <a:r>
                <a:rPr lang="en-US" dirty="0">
                  <a:latin typeface="+mn-lt"/>
                  <a:ea typeface="Times New Roman"/>
                </a:rPr>
                <a:t>Again, should get the same result if </a:t>
              </a:r>
              <a:r>
                <a:rPr lang="en-US" dirty="0">
                  <a:ea typeface="Times New Roman"/>
                </a:rPr>
                <a:t>you use </a:t>
              </a:r>
              <a:r>
                <a:rPr lang="en-US" dirty="0" err="1">
                  <a:ea typeface="Times New Roman"/>
                </a:rPr>
                <a:t>Matlab</a:t>
              </a:r>
              <a:r>
                <a:rPr lang="en-US" dirty="0">
                  <a:ea typeface="Times New Roman"/>
                </a:rPr>
                <a:t> </a:t>
              </a:r>
              <a:r>
                <a:rPr lang="en-US" i="1" dirty="0">
                  <a:solidFill>
                    <a:srgbClr val="FF0000"/>
                  </a:solidFill>
                  <a:ea typeface="Times New Roman"/>
                </a:rPr>
                <a:t>std(x)</a:t>
              </a:r>
              <a:r>
                <a:rPr lang="en-US" dirty="0">
                  <a:ea typeface="Times New Roman"/>
                </a:rPr>
                <a:t>  function</a:t>
              </a:r>
              <a:r>
                <a:rPr lang="en-US" dirty="0">
                  <a:latin typeface="+mn-lt"/>
                  <a:ea typeface="Times New Roman"/>
                </a:rPr>
                <a:t>.</a:t>
              </a:r>
              <a:endParaRPr lang="en-GB" dirty="0">
                <a:latin typeface="+mn-lt"/>
                <a:ea typeface="Times New Roman"/>
              </a:endParaRPr>
            </a:p>
          </p:txBody>
        </p:sp>
        <p:graphicFrame>
          <p:nvGraphicFramePr>
            <p:cNvPr id="2051" name="Object 18"/>
            <p:cNvGraphicFramePr>
              <a:graphicFrameLocks noChangeAspect="1"/>
            </p:cNvGraphicFramePr>
            <p:nvPr/>
          </p:nvGraphicFramePr>
          <p:xfrm>
            <a:off x="295034" y="2071678"/>
            <a:ext cx="4684954" cy="1785947"/>
          </p:xfrm>
          <a:graphic>
            <a:graphicData uri="http://schemas.openxmlformats.org/presentationml/2006/ole">
              <mc:AlternateContent xmlns:mc="http://schemas.openxmlformats.org/markup-compatibility/2006">
                <mc:Choice xmlns:v="urn:schemas-microsoft-com:vml" Requires="v">
                  <p:oleObj name="Equation" r:id="rId2" imgW="2324100" imgH="889000" progId="Equation.DSMT4">
                    <p:embed/>
                  </p:oleObj>
                </mc:Choice>
                <mc:Fallback>
                  <p:oleObj name="Equation" r:id="rId2" imgW="2324100" imgH="889000" progId="Equation.DSMT4">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034" y="2071678"/>
                          <a:ext cx="4684954" cy="17859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0" name="Rectangle 3"/>
          <p:cNvSpPr>
            <a:spLocks noChangeArrowheads="1"/>
          </p:cNvSpPr>
          <p:nvPr/>
        </p:nvSpPr>
        <p:spPr bwMode="auto">
          <a:xfrm>
            <a:off x="579269" y="3810183"/>
            <a:ext cx="8286750" cy="642938"/>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v"/>
              <a:defRPr/>
            </a:pPr>
            <a:r>
              <a:rPr lang="en-US" u="sng" dirty="0">
                <a:solidFill>
                  <a:srgbClr val="000080"/>
                </a:solidFill>
                <a:latin typeface="+mn-lt"/>
                <a:ea typeface="Times New Roman"/>
              </a:rPr>
              <a:t>The Variance</a:t>
            </a:r>
            <a:r>
              <a:rPr lang="en-US" dirty="0">
                <a:solidFill>
                  <a:srgbClr val="000080"/>
                </a:solidFill>
                <a:latin typeface="+mn-lt"/>
                <a:ea typeface="Times New Roman"/>
              </a:rPr>
              <a:t> </a:t>
            </a:r>
            <a:r>
              <a:rPr lang="en-US" dirty="0">
                <a:latin typeface="+mn-lt"/>
                <a:ea typeface="Times New Roman"/>
              </a:rPr>
              <a:t>is the squared standard deviation:</a:t>
            </a:r>
            <a:endParaRPr lang="en-GB" dirty="0">
              <a:latin typeface="+mn-lt"/>
              <a:ea typeface="Times New Roman"/>
            </a:endParaRPr>
          </a:p>
        </p:txBody>
      </p:sp>
      <p:sp>
        <p:nvSpPr>
          <p:cNvPr id="2061" name="Rectangle 21"/>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grpSp>
        <p:nvGrpSpPr>
          <p:cNvPr id="3" name="Group 15"/>
          <p:cNvGrpSpPr>
            <a:grpSpLocks/>
          </p:cNvGrpSpPr>
          <p:nvPr/>
        </p:nvGrpSpPr>
        <p:grpSpPr bwMode="auto">
          <a:xfrm>
            <a:off x="642937" y="4333145"/>
            <a:ext cx="7858125" cy="1492250"/>
            <a:chOff x="928687" y="4857750"/>
            <a:chExt cx="7858126" cy="1492290"/>
          </a:xfrm>
        </p:grpSpPr>
        <p:graphicFrame>
          <p:nvGraphicFramePr>
            <p:cNvPr id="2050" name="Object 20"/>
            <p:cNvGraphicFramePr>
              <a:graphicFrameLocks noChangeAspect="1"/>
            </p:cNvGraphicFramePr>
            <p:nvPr/>
          </p:nvGraphicFramePr>
          <p:xfrm>
            <a:off x="928687" y="4857750"/>
            <a:ext cx="3079629" cy="1492290"/>
          </p:xfrm>
          <a:graphic>
            <a:graphicData uri="http://schemas.openxmlformats.org/presentationml/2006/ole">
              <mc:AlternateContent xmlns:mc="http://schemas.openxmlformats.org/markup-compatibility/2006">
                <mc:Choice xmlns:v="urn:schemas-microsoft-com:vml" Requires="v">
                  <p:oleObj name="Equation" r:id="rId4" imgW="1257300" imgH="609600" progId="Equation.DSMT4">
                    <p:embed/>
                  </p:oleObj>
                </mc:Choice>
                <mc:Fallback>
                  <p:oleObj name="Equation" r:id="rId4" imgW="1257300" imgH="609600" progId="Equation.DSMT4">
                    <p:embed/>
                    <p:pic>
                      <p:nvPicPr>
                        <p:cNvPr id="0" name="Object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8687" y="4857750"/>
                          <a:ext cx="3079629" cy="14922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ectangle 3"/>
            <p:cNvSpPr>
              <a:spLocks noChangeArrowheads="1"/>
            </p:cNvSpPr>
            <p:nvPr/>
          </p:nvSpPr>
          <p:spPr bwMode="auto">
            <a:xfrm>
              <a:off x="4929188" y="5286386"/>
              <a:ext cx="3857625" cy="785834"/>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defRPr/>
              </a:pPr>
              <a:r>
                <a:rPr lang="en-US" dirty="0"/>
                <a:t>In </a:t>
              </a:r>
              <a:r>
                <a:rPr lang="en-US" dirty="0" err="1"/>
                <a:t>Matlab</a:t>
              </a:r>
              <a:r>
                <a:rPr lang="en-US" dirty="0"/>
                <a:t>: </a:t>
              </a:r>
              <a:r>
                <a:rPr lang="en-US" i="1" dirty="0" err="1">
                  <a:solidFill>
                    <a:srgbClr val="FF0000"/>
                  </a:solidFill>
                </a:rPr>
                <a:t>var</a:t>
              </a:r>
              <a:r>
                <a:rPr lang="en-US" i="1" dirty="0">
                  <a:solidFill>
                    <a:srgbClr val="FF0000"/>
                  </a:solidFill>
                </a:rPr>
                <a:t>(x)</a:t>
              </a:r>
              <a:r>
                <a:rPr lang="en-US" dirty="0">
                  <a:solidFill>
                    <a:srgbClr val="FF0000"/>
                  </a:solidFill>
                </a:rPr>
                <a:t> </a:t>
              </a:r>
              <a:r>
                <a:rPr lang="en-US" dirty="0"/>
                <a:t>.</a:t>
              </a:r>
              <a:endParaRPr lang="en-GB" dirty="0">
                <a:latin typeface="+mn-lt"/>
                <a:ea typeface="Times New Roman"/>
              </a:endParaRPr>
            </a:p>
          </p:txBody>
        </p:sp>
      </p:grpSp>
      <p:sp>
        <p:nvSpPr>
          <p:cNvPr id="4" name="Rectangle 3"/>
          <p:cNvSpPr/>
          <p:nvPr/>
        </p:nvSpPr>
        <p:spPr>
          <a:xfrm>
            <a:off x="971599" y="5856232"/>
            <a:ext cx="7881623" cy="830997"/>
          </a:xfrm>
          <a:prstGeom prst="rect">
            <a:avLst/>
          </a:prstGeom>
        </p:spPr>
        <p:txBody>
          <a:bodyPr wrap="square">
            <a:spAutoFit/>
          </a:bodyPr>
          <a:lstStyle/>
          <a:p>
            <a:r>
              <a:rPr lang="en-GB" dirty="0"/>
              <a:t>it weights the outliers more heavily than the data near the mean (squared unit measures).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47"/>
                                        </p:tgtEl>
                                        <p:attrNameLst>
                                          <p:attrName>style.visibility</p:attrName>
                                        </p:attrNameLst>
                                      </p:cBhvr>
                                      <p:to>
                                        <p:strVal val="visible"/>
                                      </p:to>
                                    </p:set>
                                    <p:animEffect transition="in" filter="blinds(horizontal)">
                                      <p:cBhvr>
                                        <p:cTn id="7" dur="500"/>
                                        <p:tgtEl>
                                          <p:spTgt spid="143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linds(horizontal)">
                                      <p:cBhvr>
                                        <p:cTn id="17" dur="500"/>
                                        <p:tgtEl>
                                          <p:spTgt spid="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7" grpId="0" autoUpdateAnimBg="0"/>
      <p:bldP spid="20" grpId="0" autoUpdateAnimBg="0"/>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Date Placeholder 3"/>
          <p:cNvSpPr txBox="1">
            <a:spLocks noGrp="1"/>
          </p:cNvSpPr>
          <p:nvPr/>
        </p:nvSpPr>
        <p:spPr bwMode="auto">
          <a:xfrm>
            <a:off x="0" y="6400800"/>
            <a:ext cx="1905000" cy="457200"/>
          </a:xfrm>
          <a:prstGeom prst="rect">
            <a:avLst/>
          </a:prstGeom>
          <a:noFill/>
          <a:ln w="9525">
            <a:noFill/>
            <a:miter lim="800000"/>
            <a:headEnd/>
            <a:tailEnd/>
          </a:ln>
        </p:spPr>
        <p:txBody>
          <a:bodyPr anchor="b"/>
          <a:lstStyle/>
          <a:p>
            <a:pPr eaLnBrk="1" hangingPunct="1"/>
            <a:fld id="{36BA5BD4-D4B6-4CC3-B5CF-1C5C30E67833}" type="datetime1">
              <a:rPr lang="en-GB" altLang="en-US" sz="1200"/>
              <a:pPr eaLnBrk="1" hangingPunct="1"/>
              <a:t>17/02/2026</a:t>
            </a:fld>
            <a:endParaRPr lang="en-GB" altLang="en-US" sz="1200"/>
          </a:p>
        </p:txBody>
      </p:sp>
      <p:sp>
        <p:nvSpPr>
          <p:cNvPr id="3077" name="Slide Number Placeholder 5"/>
          <p:cNvSpPr txBox="1">
            <a:spLocks noGrp="1"/>
          </p:cNvSpPr>
          <p:nvPr/>
        </p:nvSpPr>
        <p:spPr bwMode="auto">
          <a:xfrm>
            <a:off x="7239000" y="6400800"/>
            <a:ext cx="1905000" cy="457200"/>
          </a:xfrm>
          <a:prstGeom prst="rect">
            <a:avLst/>
          </a:prstGeom>
          <a:noFill/>
          <a:ln w="9525">
            <a:noFill/>
            <a:miter lim="800000"/>
            <a:headEnd/>
            <a:tailEnd/>
          </a:ln>
        </p:spPr>
        <p:txBody>
          <a:bodyPr anchor="b"/>
          <a:lstStyle/>
          <a:p>
            <a:pPr algn="r" eaLnBrk="1" hangingPunct="1"/>
            <a:fld id="{7757D402-621C-48CD-A425-D4BB93EAD560}" type="slidenum">
              <a:rPr lang="en-GB" altLang="en-US" sz="1200"/>
              <a:pPr algn="r" eaLnBrk="1" hangingPunct="1"/>
              <a:t>31</a:t>
            </a:fld>
            <a:endParaRPr lang="en-GB" altLang="en-US" sz="1200"/>
          </a:p>
        </p:txBody>
      </p:sp>
      <p:sp>
        <p:nvSpPr>
          <p:cNvPr id="3078"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3079"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en-US" altLang="en-US"/>
          </a:p>
        </p:txBody>
      </p:sp>
      <p:sp>
        <p:nvSpPr>
          <p:cNvPr id="13" name="Rectangle 3"/>
          <p:cNvSpPr>
            <a:spLocks noChangeArrowheads="1"/>
          </p:cNvSpPr>
          <p:nvPr/>
        </p:nvSpPr>
        <p:spPr bwMode="auto">
          <a:xfrm>
            <a:off x="263525" y="4926013"/>
            <a:ext cx="8700963" cy="1597025"/>
          </a:xfrm>
          <a:prstGeom prst="rect">
            <a:avLst/>
          </a:prstGeom>
          <a:noFill/>
          <a:ln w="9525">
            <a:noFill/>
            <a:miter lim="800000"/>
            <a:headEnd/>
            <a:tailEnd/>
          </a:ln>
        </p:spPr>
        <p:txBody>
          <a:bodyPr/>
          <a:lstStyle/>
          <a:p>
            <a:pPr marL="342900" indent="-342900" eaLnBrk="1" hangingPunct="1">
              <a:spcBef>
                <a:spcPct val="20000"/>
              </a:spcBef>
              <a:buClr>
                <a:schemeClr val="folHlink"/>
              </a:buClr>
              <a:buSzPct val="60000"/>
              <a:buFont typeface="Wingdings" pitchFamily="2" charset="2"/>
              <a:buChar char="n"/>
              <a:defRPr/>
            </a:pPr>
            <a:r>
              <a:rPr lang="en-US" dirty="0">
                <a:latin typeface="+mn-lt"/>
                <a:ea typeface="Times New Roman"/>
              </a:rPr>
              <a:t>In Table 1 (next lecture), each value of </a:t>
            </a:r>
            <a:r>
              <a:rPr lang="en-US" b="1" i="1" dirty="0">
                <a:solidFill>
                  <a:srgbClr val="0000FF"/>
                </a:solidFill>
                <a:latin typeface="+mn-lt"/>
                <a:ea typeface="Times New Roman"/>
              </a:rPr>
              <a:t>x</a:t>
            </a:r>
            <a:r>
              <a:rPr lang="en-US" dirty="0">
                <a:latin typeface="+mn-lt"/>
                <a:ea typeface="Times New Roman"/>
              </a:rPr>
              <a:t> is encoded with a string. </a:t>
            </a:r>
            <a:r>
              <a:rPr lang="en-US" dirty="0">
                <a:latin typeface="+mn-lt"/>
              </a:rPr>
              <a:t>The population is a set of individuals, where each individual represents the </a:t>
            </a:r>
            <a:r>
              <a:rPr lang="en-US" i="1" dirty="0">
                <a:solidFill>
                  <a:srgbClr val="0000FF"/>
                </a:solidFill>
                <a:latin typeface="+mn-lt"/>
              </a:rPr>
              <a:t>phenotype</a:t>
            </a:r>
            <a:r>
              <a:rPr lang="en-US" dirty="0">
                <a:solidFill>
                  <a:srgbClr val="0000FF"/>
                </a:solidFill>
                <a:latin typeface="+mn-lt"/>
              </a:rPr>
              <a:t> </a:t>
            </a:r>
            <a:r>
              <a:rPr lang="en-US" dirty="0">
                <a:latin typeface="+mn-lt"/>
              </a:rPr>
              <a:t>(the decoded parameter or parameters) and  the </a:t>
            </a:r>
            <a:r>
              <a:rPr lang="en-US" i="1" dirty="0">
                <a:solidFill>
                  <a:srgbClr val="0000FF"/>
                </a:solidFill>
                <a:latin typeface="+mn-lt"/>
              </a:rPr>
              <a:t>genotype</a:t>
            </a:r>
            <a:r>
              <a:rPr lang="en-US" dirty="0">
                <a:latin typeface="+mn-lt"/>
              </a:rPr>
              <a:t> (the binary string). </a:t>
            </a:r>
            <a:endParaRPr lang="en-GB" dirty="0">
              <a:latin typeface="+mn-lt"/>
            </a:endParaRPr>
          </a:p>
        </p:txBody>
      </p:sp>
      <p:sp>
        <p:nvSpPr>
          <p:cNvPr id="12" name="Rectangle 3"/>
          <p:cNvSpPr>
            <a:spLocks noChangeArrowheads="1"/>
          </p:cNvSpPr>
          <p:nvPr/>
        </p:nvSpPr>
        <p:spPr bwMode="auto">
          <a:xfrm>
            <a:off x="915924" y="181759"/>
            <a:ext cx="5190324" cy="598131"/>
          </a:xfrm>
          <a:prstGeom prst="rect">
            <a:avLst/>
          </a:prstGeom>
          <a:noFill/>
          <a:ln w="9525">
            <a:noFill/>
            <a:miter lim="800000"/>
            <a:headEnd/>
            <a:tailEnd/>
          </a:ln>
        </p:spPr>
        <p:txBody>
          <a:bodyPr/>
          <a:lstStyle/>
          <a:p>
            <a:pPr algn="ctr" eaLnBrk="1" hangingPunct="1">
              <a:buClr>
                <a:schemeClr val="folHlink"/>
              </a:buClr>
              <a:buSzPct val="100000"/>
              <a:buFont typeface="Wingdings" pitchFamily="2" charset="2"/>
              <a:buChar char="n"/>
            </a:pPr>
            <a:r>
              <a:rPr lang="en-US" altLang="en-US" sz="2800" b="1" dirty="0">
                <a:solidFill>
                  <a:srgbClr val="0000FF"/>
                </a:solidFill>
              </a:rPr>
              <a:t>  A  simple GA using </a:t>
            </a:r>
            <a:r>
              <a:rPr lang="en-US" altLang="en-US" sz="2800" b="1" i="1" dirty="0">
                <a:solidFill>
                  <a:srgbClr val="0000FF"/>
                </a:solidFill>
              </a:rPr>
              <a:t>FPS</a:t>
            </a:r>
            <a:endParaRPr lang="en-GB" altLang="en-US" sz="2800" dirty="0">
              <a:solidFill>
                <a:srgbClr val="0000FF"/>
              </a:solidFill>
            </a:endParaRPr>
          </a:p>
        </p:txBody>
      </p:sp>
      <p:grpSp>
        <p:nvGrpSpPr>
          <p:cNvPr id="2" name="Group 382"/>
          <p:cNvGrpSpPr>
            <a:grpSpLocks/>
          </p:cNvGrpSpPr>
          <p:nvPr/>
        </p:nvGrpSpPr>
        <p:grpSpPr bwMode="auto">
          <a:xfrm>
            <a:off x="4097338" y="1357313"/>
            <a:ext cx="4532312" cy="3495675"/>
            <a:chOff x="357161" y="1714473"/>
            <a:chExt cx="4200807" cy="3266954"/>
          </a:xfrm>
        </p:grpSpPr>
        <p:sp>
          <p:nvSpPr>
            <p:cNvPr id="3085" name="Rectangle 13"/>
            <p:cNvSpPr>
              <a:spLocks noChangeArrowheads="1"/>
            </p:cNvSpPr>
            <p:nvPr/>
          </p:nvSpPr>
          <p:spPr bwMode="auto">
            <a:xfrm>
              <a:off x="1308942" y="1745296"/>
              <a:ext cx="2857486" cy="2599829"/>
            </a:xfrm>
            <a:prstGeom prst="rect">
              <a:avLst/>
            </a:prstGeom>
            <a:solidFill>
              <a:srgbClr val="FFFFFF"/>
            </a:solidFill>
            <a:ln w="9525">
              <a:noFill/>
              <a:miter lim="800000"/>
              <a:headEnd/>
              <a:tailEnd/>
            </a:ln>
          </p:spPr>
          <p:txBody>
            <a:bodyPr/>
            <a:lstStyle/>
            <a:p>
              <a:pPr eaLnBrk="1" hangingPunct="1"/>
              <a:endParaRPr lang="en-US" altLang="en-US"/>
            </a:p>
          </p:txBody>
        </p:sp>
        <p:sp>
          <p:nvSpPr>
            <p:cNvPr id="3086" name="Rectangle 14"/>
            <p:cNvSpPr>
              <a:spLocks noChangeArrowheads="1"/>
            </p:cNvSpPr>
            <p:nvPr/>
          </p:nvSpPr>
          <p:spPr bwMode="auto">
            <a:xfrm>
              <a:off x="1308942" y="1745296"/>
              <a:ext cx="2857486" cy="2599829"/>
            </a:xfrm>
            <a:prstGeom prst="rect">
              <a:avLst/>
            </a:prstGeom>
            <a:noFill/>
            <a:ln w="0">
              <a:solidFill>
                <a:srgbClr val="FFFFFF"/>
              </a:solidFill>
              <a:miter lim="800000"/>
              <a:headEnd/>
              <a:tailEnd/>
            </a:ln>
          </p:spPr>
          <p:txBody>
            <a:bodyPr/>
            <a:lstStyle/>
            <a:p>
              <a:pPr eaLnBrk="1" hangingPunct="1"/>
              <a:endParaRPr lang="en-US" altLang="en-US"/>
            </a:p>
          </p:txBody>
        </p:sp>
        <p:sp>
          <p:nvSpPr>
            <p:cNvPr id="3087" name="Line 15"/>
            <p:cNvSpPr>
              <a:spLocks noChangeShapeType="1"/>
            </p:cNvSpPr>
            <p:nvPr/>
          </p:nvSpPr>
          <p:spPr bwMode="auto">
            <a:xfrm>
              <a:off x="1308942" y="1745296"/>
              <a:ext cx="2857486" cy="994"/>
            </a:xfrm>
            <a:prstGeom prst="line">
              <a:avLst/>
            </a:prstGeom>
            <a:noFill/>
            <a:ln w="0">
              <a:solidFill>
                <a:srgbClr val="000000"/>
              </a:solidFill>
              <a:round/>
              <a:headEnd/>
              <a:tailEnd/>
            </a:ln>
          </p:spPr>
          <p:txBody>
            <a:bodyPr/>
            <a:lstStyle/>
            <a:p>
              <a:endParaRPr lang="en-GB"/>
            </a:p>
          </p:txBody>
        </p:sp>
        <p:sp>
          <p:nvSpPr>
            <p:cNvPr id="3088" name="Line 16"/>
            <p:cNvSpPr>
              <a:spLocks noChangeShapeType="1"/>
            </p:cNvSpPr>
            <p:nvPr/>
          </p:nvSpPr>
          <p:spPr bwMode="auto">
            <a:xfrm>
              <a:off x="1308942" y="4345125"/>
              <a:ext cx="2857486" cy="1988"/>
            </a:xfrm>
            <a:prstGeom prst="line">
              <a:avLst/>
            </a:prstGeom>
            <a:noFill/>
            <a:ln w="0">
              <a:solidFill>
                <a:srgbClr val="000000"/>
              </a:solidFill>
              <a:round/>
              <a:headEnd/>
              <a:tailEnd/>
            </a:ln>
          </p:spPr>
          <p:txBody>
            <a:bodyPr/>
            <a:lstStyle/>
            <a:p>
              <a:endParaRPr lang="en-GB"/>
            </a:p>
          </p:txBody>
        </p:sp>
        <p:sp>
          <p:nvSpPr>
            <p:cNvPr id="3089" name="Line 17"/>
            <p:cNvSpPr>
              <a:spLocks noChangeShapeType="1"/>
            </p:cNvSpPr>
            <p:nvPr/>
          </p:nvSpPr>
          <p:spPr bwMode="auto">
            <a:xfrm flipV="1">
              <a:off x="4166428" y="1745296"/>
              <a:ext cx="1983" cy="2599829"/>
            </a:xfrm>
            <a:prstGeom prst="line">
              <a:avLst/>
            </a:prstGeom>
            <a:noFill/>
            <a:ln w="0">
              <a:solidFill>
                <a:srgbClr val="000000"/>
              </a:solidFill>
              <a:round/>
              <a:headEnd/>
              <a:tailEnd/>
            </a:ln>
          </p:spPr>
          <p:txBody>
            <a:bodyPr/>
            <a:lstStyle/>
            <a:p>
              <a:endParaRPr lang="en-GB"/>
            </a:p>
          </p:txBody>
        </p:sp>
        <p:sp>
          <p:nvSpPr>
            <p:cNvPr id="3090" name="Line 18"/>
            <p:cNvSpPr>
              <a:spLocks noChangeShapeType="1"/>
            </p:cNvSpPr>
            <p:nvPr/>
          </p:nvSpPr>
          <p:spPr bwMode="auto">
            <a:xfrm flipV="1">
              <a:off x="1308942" y="1745296"/>
              <a:ext cx="991" cy="2599829"/>
            </a:xfrm>
            <a:prstGeom prst="line">
              <a:avLst/>
            </a:prstGeom>
            <a:noFill/>
            <a:ln w="0">
              <a:solidFill>
                <a:srgbClr val="000000"/>
              </a:solidFill>
              <a:round/>
              <a:headEnd/>
              <a:tailEnd/>
            </a:ln>
          </p:spPr>
          <p:txBody>
            <a:bodyPr/>
            <a:lstStyle/>
            <a:p>
              <a:endParaRPr lang="en-GB"/>
            </a:p>
          </p:txBody>
        </p:sp>
        <p:sp>
          <p:nvSpPr>
            <p:cNvPr id="3091" name="Line 19"/>
            <p:cNvSpPr>
              <a:spLocks noChangeShapeType="1"/>
            </p:cNvSpPr>
            <p:nvPr/>
          </p:nvSpPr>
          <p:spPr bwMode="auto">
            <a:xfrm>
              <a:off x="1308942" y="4345125"/>
              <a:ext cx="2857486" cy="1988"/>
            </a:xfrm>
            <a:prstGeom prst="line">
              <a:avLst/>
            </a:prstGeom>
            <a:noFill/>
            <a:ln w="0">
              <a:solidFill>
                <a:srgbClr val="000000"/>
              </a:solidFill>
              <a:round/>
              <a:headEnd/>
              <a:tailEnd/>
            </a:ln>
          </p:spPr>
          <p:txBody>
            <a:bodyPr/>
            <a:lstStyle/>
            <a:p>
              <a:endParaRPr lang="en-GB"/>
            </a:p>
          </p:txBody>
        </p:sp>
        <p:sp>
          <p:nvSpPr>
            <p:cNvPr id="3092" name="Line 20"/>
            <p:cNvSpPr>
              <a:spLocks noChangeShapeType="1"/>
            </p:cNvSpPr>
            <p:nvPr/>
          </p:nvSpPr>
          <p:spPr bwMode="auto">
            <a:xfrm flipV="1">
              <a:off x="1308942" y="1745296"/>
              <a:ext cx="991" cy="2599829"/>
            </a:xfrm>
            <a:prstGeom prst="line">
              <a:avLst/>
            </a:prstGeom>
            <a:noFill/>
            <a:ln w="0">
              <a:solidFill>
                <a:srgbClr val="000000"/>
              </a:solidFill>
              <a:round/>
              <a:headEnd/>
              <a:tailEnd/>
            </a:ln>
          </p:spPr>
          <p:txBody>
            <a:bodyPr/>
            <a:lstStyle/>
            <a:p>
              <a:endParaRPr lang="en-GB"/>
            </a:p>
          </p:txBody>
        </p:sp>
        <p:sp>
          <p:nvSpPr>
            <p:cNvPr id="3093" name="Line 21"/>
            <p:cNvSpPr>
              <a:spLocks noChangeShapeType="1"/>
            </p:cNvSpPr>
            <p:nvPr/>
          </p:nvSpPr>
          <p:spPr bwMode="auto">
            <a:xfrm flipV="1">
              <a:off x="1308942" y="4315310"/>
              <a:ext cx="991" cy="29815"/>
            </a:xfrm>
            <a:prstGeom prst="line">
              <a:avLst/>
            </a:prstGeom>
            <a:noFill/>
            <a:ln w="0">
              <a:solidFill>
                <a:srgbClr val="000000"/>
              </a:solidFill>
              <a:round/>
              <a:headEnd/>
              <a:tailEnd/>
            </a:ln>
          </p:spPr>
          <p:txBody>
            <a:bodyPr/>
            <a:lstStyle/>
            <a:p>
              <a:endParaRPr lang="en-GB"/>
            </a:p>
          </p:txBody>
        </p:sp>
        <p:sp>
          <p:nvSpPr>
            <p:cNvPr id="3094" name="Line 22"/>
            <p:cNvSpPr>
              <a:spLocks noChangeShapeType="1"/>
            </p:cNvSpPr>
            <p:nvPr/>
          </p:nvSpPr>
          <p:spPr bwMode="auto">
            <a:xfrm>
              <a:off x="1308942" y="1745296"/>
              <a:ext cx="991" cy="29815"/>
            </a:xfrm>
            <a:prstGeom prst="line">
              <a:avLst/>
            </a:prstGeom>
            <a:noFill/>
            <a:ln w="0">
              <a:solidFill>
                <a:srgbClr val="000000"/>
              </a:solidFill>
              <a:round/>
              <a:headEnd/>
              <a:tailEnd/>
            </a:ln>
          </p:spPr>
          <p:txBody>
            <a:bodyPr/>
            <a:lstStyle/>
            <a:p>
              <a:endParaRPr lang="en-GB"/>
            </a:p>
          </p:txBody>
        </p:sp>
        <p:sp>
          <p:nvSpPr>
            <p:cNvPr id="3095" name="Rectangle 23"/>
            <p:cNvSpPr>
              <a:spLocks noChangeArrowheads="1"/>
            </p:cNvSpPr>
            <p:nvPr/>
          </p:nvSpPr>
          <p:spPr bwMode="auto">
            <a:xfrm>
              <a:off x="1288121" y="4375933"/>
              <a:ext cx="212045" cy="267513"/>
            </a:xfrm>
            <a:prstGeom prst="rect">
              <a:avLst/>
            </a:prstGeom>
            <a:noFill/>
            <a:ln w="9525">
              <a:noFill/>
              <a:miter lim="800000"/>
              <a:headEnd/>
              <a:tailEnd/>
            </a:ln>
          </p:spPr>
          <p:txBody>
            <a:bodyPr lIns="0" tIns="0" rIns="0" bIns="0"/>
            <a:lstStyle/>
            <a:p>
              <a:pPr eaLnBrk="1" hangingPunct="1">
                <a:spcAft>
                  <a:spcPts val="1000"/>
                </a:spcAft>
              </a:pPr>
              <a:r>
                <a:rPr lang="en-GB" altLang="en-US" sz="1600">
                  <a:solidFill>
                    <a:srgbClr val="000000"/>
                  </a:solidFill>
                  <a:latin typeface="Helvetica" charset="0"/>
                </a:rPr>
                <a:t>0</a:t>
              </a:r>
              <a:endParaRPr lang="en-US" altLang="en-US"/>
            </a:p>
          </p:txBody>
        </p:sp>
        <p:sp>
          <p:nvSpPr>
            <p:cNvPr id="3096" name="Line 24"/>
            <p:cNvSpPr>
              <a:spLocks noChangeShapeType="1"/>
            </p:cNvSpPr>
            <p:nvPr/>
          </p:nvSpPr>
          <p:spPr bwMode="auto">
            <a:xfrm flipV="1">
              <a:off x="1769987" y="4315310"/>
              <a:ext cx="991" cy="29815"/>
            </a:xfrm>
            <a:prstGeom prst="line">
              <a:avLst/>
            </a:prstGeom>
            <a:noFill/>
            <a:ln w="0">
              <a:solidFill>
                <a:srgbClr val="000000"/>
              </a:solidFill>
              <a:round/>
              <a:headEnd/>
              <a:tailEnd/>
            </a:ln>
          </p:spPr>
          <p:txBody>
            <a:bodyPr/>
            <a:lstStyle/>
            <a:p>
              <a:endParaRPr lang="en-GB"/>
            </a:p>
          </p:txBody>
        </p:sp>
        <p:sp>
          <p:nvSpPr>
            <p:cNvPr id="3097" name="Line 25"/>
            <p:cNvSpPr>
              <a:spLocks noChangeShapeType="1"/>
            </p:cNvSpPr>
            <p:nvPr/>
          </p:nvSpPr>
          <p:spPr bwMode="auto">
            <a:xfrm>
              <a:off x="1769987" y="1745296"/>
              <a:ext cx="991" cy="29815"/>
            </a:xfrm>
            <a:prstGeom prst="line">
              <a:avLst/>
            </a:prstGeom>
            <a:noFill/>
            <a:ln w="0">
              <a:solidFill>
                <a:srgbClr val="000000"/>
              </a:solidFill>
              <a:round/>
              <a:headEnd/>
              <a:tailEnd/>
            </a:ln>
          </p:spPr>
          <p:txBody>
            <a:bodyPr/>
            <a:lstStyle/>
            <a:p>
              <a:endParaRPr lang="en-GB"/>
            </a:p>
          </p:txBody>
        </p:sp>
        <p:sp>
          <p:nvSpPr>
            <p:cNvPr id="3098" name="Line 26"/>
            <p:cNvSpPr>
              <a:spLocks noChangeShapeType="1"/>
            </p:cNvSpPr>
            <p:nvPr/>
          </p:nvSpPr>
          <p:spPr bwMode="auto">
            <a:xfrm flipV="1">
              <a:off x="2232023" y="4315310"/>
              <a:ext cx="991" cy="29815"/>
            </a:xfrm>
            <a:prstGeom prst="line">
              <a:avLst/>
            </a:prstGeom>
            <a:noFill/>
            <a:ln w="0">
              <a:solidFill>
                <a:srgbClr val="000000"/>
              </a:solidFill>
              <a:round/>
              <a:headEnd/>
              <a:tailEnd/>
            </a:ln>
          </p:spPr>
          <p:txBody>
            <a:bodyPr/>
            <a:lstStyle/>
            <a:p>
              <a:endParaRPr lang="en-GB"/>
            </a:p>
          </p:txBody>
        </p:sp>
        <p:sp>
          <p:nvSpPr>
            <p:cNvPr id="3099" name="Line 27"/>
            <p:cNvSpPr>
              <a:spLocks noChangeShapeType="1"/>
            </p:cNvSpPr>
            <p:nvPr/>
          </p:nvSpPr>
          <p:spPr bwMode="auto">
            <a:xfrm>
              <a:off x="2232023" y="1745296"/>
              <a:ext cx="991" cy="29815"/>
            </a:xfrm>
            <a:prstGeom prst="line">
              <a:avLst/>
            </a:prstGeom>
            <a:noFill/>
            <a:ln w="0">
              <a:solidFill>
                <a:srgbClr val="000000"/>
              </a:solidFill>
              <a:round/>
              <a:headEnd/>
              <a:tailEnd/>
            </a:ln>
          </p:spPr>
          <p:txBody>
            <a:bodyPr/>
            <a:lstStyle/>
            <a:p>
              <a:endParaRPr lang="en-GB"/>
            </a:p>
          </p:txBody>
        </p:sp>
        <p:sp>
          <p:nvSpPr>
            <p:cNvPr id="3100" name="Rectangle 28"/>
            <p:cNvSpPr>
              <a:spLocks noChangeArrowheads="1"/>
            </p:cNvSpPr>
            <p:nvPr/>
          </p:nvSpPr>
          <p:spPr bwMode="auto">
            <a:xfrm>
              <a:off x="2022818" y="4405748"/>
              <a:ext cx="334604" cy="309136"/>
            </a:xfrm>
            <a:prstGeom prst="rect">
              <a:avLst/>
            </a:prstGeom>
            <a:noFill/>
            <a:ln w="9525">
              <a:noFill/>
              <a:miter lim="800000"/>
              <a:headEnd/>
              <a:tailEnd/>
            </a:ln>
          </p:spPr>
          <p:txBody>
            <a:bodyPr lIns="0" tIns="0" rIns="0" bIns="0"/>
            <a:lstStyle/>
            <a:p>
              <a:pPr eaLnBrk="1" hangingPunct="1">
                <a:spcAft>
                  <a:spcPts val="1000"/>
                </a:spcAft>
              </a:pPr>
              <a:r>
                <a:rPr lang="en-GB" altLang="en-US" sz="1600">
                  <a:solidFill>
                    <a:srgbClr val="000000"/>
                  </a:solidFill>
                  <a:latin typeface="Helvetica" charset="0"/>
                </a:rPr>
                <a:t>10</a:t>
              </a:r>
              <a:endParaRPr lang="en-US" altLang="en-US"/>
            </a:p>
          </p:txBody>
        </p:sp>
        <p:sp>
          <p:nvSpPr>
            <p:cNvPr id="3101" name="Line 29"/>
            <p:cNvSpPr>
              <a:spLocks noChangeShapeType="1"/>
            </p:cNvSpPr>
            <p:nvPr/>
          </p:nvSpPr>
          <p:spPr bwMode="auto">
            <a:xfrm flipV="1">
              <a:off x="2695051" y="4315310"/>
              <a:ext cx="991" cy="29815"/>
            </a:xfrm>
            <a:prstGeom prst="line">
              <a:avLst/>
            </a:prstGeom>
            <a:noFill/>
            <a:ln w="0">
              <a:solidFill>
                <a:srgbClr val="000000"/>
              </a:solidFill>
              <a:round/>
              <a:headEnd/>
              <a:tailEnd/>
            </a:ln>
          </p:spPr>
          <p:txBody>
            <a:bodyPr/>
            <a:lstStyle/>
            <a:p>
              <a:endParaRPr lang="en-GB"/>
            </a:p>
          </p:txBody>
        </p:sp>
        <p:sp>
          <p:nvSpPr>
            <p:cNvPr id="3102" name="Line 30"/>
            <p:cNvSpPr>
              <a:spLocks noChangeShapeType="1"/>
            </p:cNvSpPr>
            <p:nvPr/>
          </p:nvSpPr>
          <p:spPr bwMode="auto">
            <a:xfrm>
              <a:off x="2695051" y="1745296"/>
              <a:ext cx="991" cy="29815"/>
            </a:xfrm>
            <a:prstGeom prst="line">
              <a:avLst/>
            </a:prstGeom>
            <a:noFill/>
            <a:ln w="0">
              <a:solidFill>
                <a:srgbClr val="000000"/>
              </a:solidFill>
              <a:round/>
              <a:headEnd/>
              <a:tailEnd/>
            </a:ln>
          </p:spPr>
          <p:txBody>
            <a:bodyPr/>
            <a:lstStyle/>
            <a:p>
              <a:endParaRPr lang="en-GB"/>
            </a:p>
          </p:txBody>
        </p:sp>
        <p:sp>
          <p:nvSpPr>
            <p:cNvPr id="3103" name="Line 31"/>
            <p:cNvSpPr>
              <a:spLocks noChangeShapeType="1"/>
            </p:cNvSpPr>
            <p:nvPr/>
          </p:nvSpPr>
          <p:spPr bwMode="auto">
            <a:xfrm flipV="1">
              <a:off x="3149155" y="4315310"/>
              <a:ext cx="991" cy="29815"/>
            </a:xfrm>
            <a:prstGeom prst="line">
              <a:avLst/>
            </a:prstGeom>
            <a:noFill/>
            <a:ln w="0">
              <a:solidFill>
                <a:srgbClr val="000000"/>
              </a:solidFill>
              <a:round/>
              <a:headEnd/>
              <a:tailEnd/>
            </a:ln>
          </p:spPr>
          <p:txBody>
            <a:bodyPr/>
            <a:lstStyle/>
            <a:p>
              <a:endParaRPr lang="en-GB"/>
            </a:p>
          </p:txBody>
        </p:sp>
        <p:sp>
          <p:nvSpPr>
            <p:cNvPr id="3104" name="Line 32"/>
            <p:cNvSpPr>
              <a:spLocks noChangeShapeType="1"/>
            </p:cNvSpPr>
            <p:nvPr/>
          </p:nvSpPr>
          <p:spPr bwMode="auto">
            <a:xfrm>
              <a:off x="3149155" y="1745296"/>
              <a:ext cx="991" cy="29815"/>
            </a:xfrm>
            <a:prstGeom prst="line">
              <a:avLst/>
            </a:prstGeom>
            <a:noFill/>
            <a:ln w="0">
              <a:solidFill>
                <a:srgbClr val="000000"/>
              </a:solidFill>
              <a:round/>
              <a:headEnd/>
              <a:tailEnd/>
            </a:ln>
          </p:spPr>
          <p:txBody>
            <a:bodyPr/>
            <a:lstStyle/>
            <a:p>
              <a:endParaRPr lang="en-GB"/>
            </a:p>
          </p:txBody>
        </p:sp>
        <p:sp>
          <p:nvSpPr>
            <p:cNvPr id="3105" name="Rectangle 33"/>
            <p:cNvSpPr>
              <a:spLocks noChangeArrowheads="1"/>
            </p:cNvSpPr>
            <p:nvPr/>
          </p:nvSpPr>
          <p:spPr bwMode="auto">
            <a:xfrm>
              <a:off x="3103547" y="4375933"/>
              <a:ext cx="254007" cy="267513"/>
            </a:xfrm>
            <a:prstGeom prst="rect">
              <a:avLst/>
            </a:prstGeom>
            <a:noFill/>
            <a:ln w="9525">
              <a:noFill/>
              <a:miter lim="800000"/>
              <a:headEnd/>
              <a:tailEnd/>
            </a:ln>
          </p:spPr>
          <p:txBody>
            <a:bodyPr lIns="0" tIns="0" rIns="0" bIns="0"/>
            <a:lstStyle/>
            <a:p>
              <a:pPr eaLnBrk="1" hangingPunct="1">
                <a:spcAft>
                  <a:spcPts val="1000"/>
                </a:spcAft>
              </a:pPr>
              <a:r>
                <a:rPr lang="en-GB" altLang="en-US" sz="1600">
                  <a:solidFill>
                    <a:srgbClr val="000000"/>
                  </a:solidFill>
                  <a:latin typeface="Helvetica" charset="0"/>
                </a:rPr>
                <a:t>20</a:t>
              </a:r>
              <a:endParaRPr lang="en-US" altLang="en-US"/>
            </a:p>
          </p:txBody>
        </p:sp>
        <p:sp>
          <p:nvSpPr>
            <p:cNvPr id="3106" name="Line 34"/>
            <p:cNvSpPr>
              <a:spLocks noChangeShapeType="1"/>
            </p:cNvSpPr>
            <p:nvPr/>
          </p:nvSpPr>
          <p:spPr bwMode="auto">
            <a:xfrm flipV="1">
              <a:off x="3612183" y="4315310"/>
              <a:ext cx="991" cy="29815"/>
            </a:xfrm>
            <a:prstGeom prst="line">
              <a:avLst/>
            </a:prstGeom>
            <a:noFill/>
            <a:ln w="0">
              <a:solidFill>
                <a:srgbClr val="000000"/>
              </a:solidFill>
              <a:round/>
              <a:headEnd/>
              <a:tailEnd/>
            </a:ln>
          </p:spPr>
          <p:txBody>
            <a:bodyPr/>
            <a:lstStyle/>
            <a:p>
              <a:endParaRPr lang="en-GB"/>
            </a:p>
          </p:txBody>
        </p:sp>
        <p:sp>
          <p:nvSpPr>
            <p:cNvPr id="3107" name="Line 35"/>
            <p:cNvSpPr>
              <a:spLocks noChangeShapeType="1"/>
            </p:cNvSpPr>
            <p:nvPr/>
          </p:nvSpPr>
          <p:spPr bwMode="auto">
            <a:xfrm>
              <a:off x="3612183" y="1745296"/>
              <a:ext cx="991" cy="29815"/>
            </a:xfrm>
            <a:prstGeom prst="line">
              <a:avLst/>
            </a:prstGeom>
            <a:noFill/>
            <a:ln w="0">
              <a:solidFill>
                <a:srgbClr val="000000"/>
              </a:solidFill>
              <a:round/>
              <a:headEnd/>
              <a:tailEnd/>
            </a:ln>
          </p:spPr>
          <p:txBody>
            <a:bodyPr/>
            <a:lstStyle/>
            <a:p>
              <a:endParaRPr lang="en-GB"/>
            </a:p>
          </p:txBody>
        </p:sp>
        <p:sp>
          <p:nvSpPr>
            <p:cNvPr id="3108" name="Line 36"/>
            <p:cNvSpPr>
              <a:spLocks noChangeShapeType="1"/>
            </p:cNvSpPr>
            <p:nvPr/>
          </p:nvSpPr>
          <p:spPr bwMode="auto">
            <a:xfrm flipV="1">
              <a:off x="4074219" y="4315310"/>
              <a:ext cx="991" cy="29815"/>
            </a:xfrm>
            <a:prstGeom prst="line">
              <a:avLst/>
            </a:prstGeom>
            <a:noFill/>
            <a:ln w="0">
              <a:solidFill>
                <a:srgbClr val="000000"/>
              </a:solidFill>
              <a:round/>
              <a:headEnd/>
              <a:tailEnd/>
            </a:ln>
          </p:spPr>
          <p:txBody>
            <a:bodyPr/>
            <a:lstStyle/>
            <a:p>
              <a:endParaRPr lang="en-GB"/>
            </a:p>
          </p:txBody>
        </p:sp>
        <p:sp>
          <p:nvSpPr>
            <p:cNvPr id="3109" name="Line 37"/>
            <p:cNvSpPr>
              <a:spLocks noChangeShapeType="1"/>
            </p:cNvSpPr>
            <p:nvPr/>
          </p:nvSpPr>
          <p:spPr bwMode="auto">
            <a:xfrm>
              <a:off x="4074219" y="1745296"/>
              <a:ext cx="991" cy="29815"/>
            </a:xfrm>
            <a:prstGeom prst="line">
              <a:avLst/>
            </a:prstGeom>
            <a:noFill/>
            <a:ln w="0">
              <a:solidFill>
                <a:srgbClr val="000000"/>
              </a:solidFill>
              <a:round/>
              <a:headEnd/>
              <a:tailEnd/>
            </a:ln>
          </p:spPr>
          <p:txBody>
            <a:bodyPr/>
            <a:lstStyle/>
            <a:p>
              <a:endParaRPr lang="en-GB"/>
            </a:p>
          </p:txBody>
        </p:sp>
        <p:sp>
          <p:nvSpPr>
            <p:cNvPr id="3110" name="Rectangle 38"/>
            <p:cNvSpPr>
              <a:spLocks noChangeArrowheads="1"/>
            </p:cNvSpPr>
            <p:nvPr/>
          </p:nvSpPr>
          <p:spPr bwMode="auto">
            <a:xfrm>
              <a:off x="4000496" y="4375933"/>
              <a:ext cx="361257" cy="410389"/>
            </a:xfrm>
            <a:prstGeom prst="rect">
              <a:avLst/>
            </a:prstGeom>
            <a:noFill/>
            <a:ln w="9525">
              <a:noFill/>
              <a:miter lim="800000"/>
              <a:headEnd/>
              <a:tailEnd/>
            </a:ln>
          </p:spPr>
          <p:txBody>
            <a:bodyPr lIns="0" tIns="0" rIns="0" bIns="0"/>
            <a:lstStyle/>
            <a:p>
              <a:pPr eaLnBrk="1" hangingPunct="1">
                <a:spcAft>
                  <a:spcPts val="1000"/>
                </a:spcAft>
              </a:pPr>
              <a:r>
                <a:rPr lang="en-GB" altLang="en-US" sz="1600">
                  <a:solidFill>
                    <a:srgbClr val="000000"/>
                  </a:solidFill>
                  <a:latin typeface="Helvetica" charset="0"/>
                </a:rPr>
                <a:t>30</a:t>
              </a:r>
              <a:endParaRPr lang="en-US" altLang="en-US"/>
            </a:p>
          </p:txBody>
        </p:sp>
        <p:sp>
          <p:nvSpPr>
            <p:cNvPr id="3111" name="Line 39"/>
            <p:cNvSpPr>
              <a:spLocks noChangeShapeType="1"/>
            </p:cNvSpPr>
            <p:nvPr/>
          </p:nvSpPr>
          <p:spPr bwMode="auto">
            <a:xfrm>
              <a:off x="1308942" y="4345125"/>
              <a:ext cx="25779" cy="1988"/>
            </a:xfrm>
            <a:prstGeom prst="line">
              <a:avLst/>
            </a:prstGeom>
            <a:noFill/>
            <a:ln w="0">
              <a:solidFill>
                <a:srgbClr val="000000"/>
              </a:solidFill>
              <a:round/>
              <a:headEnd/>
              <a:tailEnd/>
            </a:ln>
          </p:spPr>
          <p:txBody>
            <a:bodyPr/>
            <a:lstStyle/>
            <a:p>
              <a:endParaRPr lang="en-GB"/>
            </a:p>
          </p:txBody>
        </p:sp>
        <p:sp>
          <p:nvSpPr>
            <p:cNvPr id="3112" name="Line 40"/>
            <p:cNvSpPr>
              <a:spLocks noChangeShapeType="1"/>
            </p:cNvSpPr>
            <p:nvPr/>
          </p:nvSpPr>
          <p:spPr bwMode="auto">
            <a:xfrm flipH="1">
              <a:off x="4140650" y="4345125"/>
              <a:ext cx="25779" cy="1988"/>
            </a:xfrm>
            <a:prstGeom prst="line">
              <a:avLst/>
            </a:prstGeom>
            <a:noFill/>
            <a:ln w="0">
              <a:solidFill>
                <a:srgbClr val="000000"/>
              </a:solidFill>
              <a:round/>
              <a:headEnd/>
              <a:tailEnd/>
            </a:ln>
          </p:spPr>
          <p:txBody>
            <a:bodyPr/>
            <a:lstStyle/>
            <a:p>
              <a:endParaRPr lang="en-GB"/>
            </a:p>
          </p:txBody>
        </p:sp>
        <p:sp>
          <p:nvSpPr>
            <p:cNvPr id="3113" name="Line 41"/>
            <p:cNvSpPr>
              <a:spLocks noChangeShapeType="1"/>
            </p:cNvSpPr>
            <p:nvPr/>
          </p:nvSpPr>
          <p:spPr bwMode="auto">
            <a:xfrm>
              <a:off x="1308942" y="4078782"/>
              <a:ext cx="25779" cy="994"/>
            </a:xfrm>
            <a:prstGeom prst="line">
              <a:avLst/>
            </a:prstGeom>
            <a:noFill/>
            <a:ln w="0">
              <a:solidFill>
                <a:srgbClr val="000000"/>
              </a:solidFill>
              <a:round/>
              <a:headEnd/>
              <a:tailEnd/>
            </a:ln>
          </p:spPr>
          <p:txBody>
            <a:bodyPr/>
            <a:lstStyle/>
            <a:p>
              <a:endParaRPr lang="en-GB"/>
            </a:p>
          </p:txBody>
        </p:sp>
        <p:sp>
          <p:nvSpPr>
            <p:cNvPr id="3114" name="Line 42"/>
            <p:cNvSpPr>
              <a:spLocks noChangeShapeType="1"/>
            </p:cNvSpPr>
            <p:nvPr/>
          </p:nvSpPr>
          <p:spPr bwMode="auto">
            <a:xfrm flipH="1">
              <a:off x="4140650" y="4078782"/>
              <a:ext cx="25779" cy="994"/>
            </a:xfrm>
            <a:prstGeom prst="line">
              <a:avLst/>
            </a:prstGeom>
            <a:noFill/>
            <a:ln w="0">
              <a:solidFill>
                <a:srgbClr val="000000"/>
              </a:solidFill>
              <a:round/>
              <a:headEnd/>
              <a:tailEnd/>
            </a:ln>
          </p:spPr>
          <p:txBody>
            <a:bodyPr/>
            <a:lstStyle/>
            <a:p>
              <a:endParaRPr lang="en-GB"/>
            </a:p>
          </p:txBody>
        </p:sp>
        <p:sp>
          <p:nvSpPr>
            <p:cNvPr id="3115" name="Rectangle 43"/>
            <p:cNvSpPr>
              <a:spLocks noChangeArrowheads="1"/>
            </p:cNvSpPr>
            <p:nvPr/>
          </p:nvSpPr>
          <p:spPr bwMode="auto">
            <a:xfrm>
              <a:off x="705122" y="3928715"/>
              <a:ext cx="500705" cy="286103"/>
            </a:xfrm>
            <a:prstGeom prst="rect">
              <a:avLst/>
            </a:prstGeom>
            <a:noFill/>
            <a:ln w="9525">
              <a:noFill/>
              <a:miter lim="800000"/>
              <a:headEnd/>
              <a:tailEnd/>
            </a:ln>
          </p:spPr>
          <p:txBody>
            <a:bodyPr lIns="0" tIns="0" rIns="0" bIns="0"/>
            <a:lstStyle/>
            <a:p>
              <a:pPr eaLnBrk="1" hangingPunct="1">
                <a:spcAft>
                  <a:spcPts val="1000"/>
                </a:spcAft>
              </a:pPr>
              <a:r>
                <a:rPr lang="en-GB" altLang="en-US" sz="1600">
                  <a:solidFill>
                    <a:srgbClr val="000000"/>
                  </a:solidFill>
                  <a:latin typeface="Helvetica" charset="0"/>
                </a:rPr>
                <a:t>100</a:t>
              </a:r>
              <a:endParaRPr lang="en-US" altLang="en-US"/>
            </a:p>
          </p:txBody>
        </p:sp>
        <p:sp>
          <p:nvSpPr>
            <p:cNvPr id="3116" name="Line 44"/>
            <p:cNvSpPr>
              <a:spLocks noChangeShapeType="1"/>
            </p:cNvSpPr>
            <p:nvPr/>
          </p:nvSpPr>
          <p:spPr bwMode="auto">
            <a:xfrm>
              <a:off x="1308942" y="3804488"/>
              <a:ext cx="25779" cy="994"/>
            </a:xfrm>
            <a:prstGeom prst="line">
              <a:avLst/>
            </a:prstGeom>
            <a:noFill/>
            <a:ln w="0">
              <a:solidFill>
                <a:srgbClr val="000000"/>
              </a:solidFill>
              <a:round/>
              <a:headEnd/>
              <a:tailEnd/>
            </a:ln>
          </p:spPr>
          <p:txBody>
            <a:bodyPr/>
            <a:lstStyle/>
            <a:p>
              <a:endParaRPr lang="en-GB"/>
            </a:p>
          </p:txBody>
        </p:sp>
        <p:sp>
          <p:nvSpPr>
            <p:cNvPr id="3117" name="Line 45"/>
            <p:cNvSpPr>
              <a:spLocks noChangeShapeType="1"/>
            </p:cNvSpPr>
            <p:nvPr/>
          </p:nvSpPr>
          <p:spPr bwMode="auto">
            <a:xfrm flipH="1">
              <a:off x="4140650" y="3804488"/>
              <a:ext cx="25779" cy="994"/>
            </a:xfrm>
            <a:prstGeom prst="line">
              <a:avLst/>
            </a:prstGeom>
            <a:noFill/>
            <a:ln w="0">
              <a:solidFill>
                <a:srgbClr val="000000"/>
              </a:solidFill>
              <a:round/>
              <a:headEnd/>
              <a:tailEnd/>
            </a:ln>
          </p:spPr>
          <p:txBody>
            <a:bodyPr/>
            <a:lstStyle/>
            <a:p>
              <a:endParaRPr lang="en-GB"/>
            </a:p>
          </p:txBody>
        </p:sp>
        <p:sp>
          <p:nvSpPr>
            <p:cNvPr id="3118" name="Line 46"/>
            <p:cNvSpPr>
              <a:spLocks noChangeShapeType="1"/>
            </p:cNvSpPr>
            <p:nvPr/>
          </p:nvSpPr>
          <p:spPr bwMode="auto">
            <a:xfrm>
              <a:off x="1308942" y="3537151"/>
              <a:ext cx="25779" cy="1988"/>
            </a:xfrm>
            <a:prstGeom prst="line">
              <a:avLst/>
            </a:prstGeom>
            <a:noFill/>
            <a:ln w="0">
              <a:solidFill>
                <a:srgbClr val="000000"/>
              </a:solidFill>
              <a:round/>
              <a:headEnd/>
              <a:tailEnd/>
            </a:ln>
          </p:spPr>
          <p:txBody>
            <a:bodyPr/>
            <a:lstStyle/>
            <a:p>
              <a:endParaRPr lang="en-GB"/>
            </a:p>
          </p:txBody>
        </p:sp>
        <p:sp>
          <p:nvSpPr>
            <p:cNvPr id="3119" name="Line 47"/>
            <p:cNvSpPr>
              <a:spLocks noChangeShapeType="1"/>
            </p:cNvSpPr>
            <p:nvPr/>
          </p:nvSpPr>
          <p:spPr bwMode="auto">
            <a:xfrm flipH="1">
              <a:off x="4140650" y="3537151"/>
              <a:ext cx="25779" cy="1988"/>
            </a:xfrm>
            <a:prstGeom prst="line">
              <a:avLst/>
            </a:prstGeom>
            <a:noFill/>
            <a:ln w="0">
              <a:solidFill>
                <a:srgbClr val="000000"/>
              </a:solidFill>
              <a:round/>
              <a:headEnd/>
              <a:tailEnd/>
            </a:ln>
          </p:spPr>
          <p:txBody>
            <a:bodyPr/>
            <a:lstStyle/>
            <a:p>
              <a:endParaRPr lang="en-GB"/>
            </a:p>
          </p:txBody>
        </p:sp>
        <p:sp>
          <p:nvSpPr>
            <p:cNvPr id="3120" name="Rectangle 48"/>
            <p:cNvSpPr>
              <a:spLocks noChangeArrowheads="1"/>
            </p:cNvSpPr>
            <p:nvPr/>
          </p:nvSpPr>
          <p:spPr bwMode="auto">
            <a:xfrm>
              <a:off x="697190" y="3404973"/>
              <a:ext cx="500705" cy="309779"/>
            </a:xfrm>
            <a:prstGeom prst="rect">
              <a:avLst/>
            </a:prstGeom>
            <a:noFill/>
            <a:ln w="9525">
              <a:noFill/>
              <a:miter lim="800000"/>
              <a:headEnd/>
              <a:tailEnd/>
            </a:ln>
          </p:spPr>
          <p:txBody>
            <a:bodyPr lIns="0" tIns="0" rIns="0" bIns="0"/>
            <a:lstStyle/>
            <a:p>
              <a:pPr eaLnBrk="1" hangingPunct="1">
                <a:spcAft>
                  <a:spcPts val="1000"/>
                </a:spcAft>
              </a:pPr>
              <a:r>
                <a:rPr lang="en-GB" altLang="en-US" sz="1600">
                  <a:solidFill>
                    <a:srgbClr val="000000"/>
                  </a:solidFill>
                  <a:latin typeface="Helvetica" charset="0"/>
                </a:rPr>
                <a:t>300</a:t>
              </a:r>
              <a:endParaRPr lang="en-US" altLang="en-US"/>
            </a:p>
          </p:txBody>
        </p:sp>
        <p:sp>
          <p:nvSpPr>
            <p:cNvPr id="3121" name="Line 49"/>
            <p:cNvSpPr>
              <a:spLocks noChangeShapeType="1"/>
            </p:cNvSpPr>
            <p:nvPr/>
          </p:nvSpPr>
          <p:spPr bwMode="auto">
            <a:xfrm>
              <a:off x="1308942" y="3262857"/>
              <a:ext cx="25779" cy="994"/>
            </a:xfrm>
            <a:prstGeom prst="line">
              <a:avLst/>
            </a:prstGeom>
            <a:noFill/>
            <a:ln w="0">
              <a:solidFill>
                <a:srgbClr val="000000"/>
              </a:solidFill>
              <a:round/>
              <a:headEnd/>
              <a:tailEnd/>
            </a:ln>
          </p:spPr>
          <p:txBody>
            <a:bodyPr/>
            <a:lstStyle/>
            <a:p>
              <a:endParaRPr lang="en-GB"/>
            </a:p>
          </p:txBody>
        </p:sp>
        <p:sp>
          <p:nvSpPr>
            <p:cNvPr id="3122" name="Line 50"/>
            <p:cNvSpPr>
              <a:spLocks noChangeShapeType="1"/>
            </p:cNvSpPr>
            <p:nvPr/>
          </p:nvSpPr>
          <p:spPr bwMode="auto">
            <a:xfrm flipH="1">
              <a:off x="4140650" y="3262857"/>
              <a:ext cx="25779" cy="994"/>
            </a:xfrm>
            <a:prstGeom prst="line">
              <a:avLst/>
            </a:prstGeom>
            <a:noFill/>
            <a:ln w="0">
              <a:solidFill>
                <a:srgbClr val="000000"/>
              </a:solidFill>
              <a:round/>
              <a:headEnd/>
              <a:tailEnd/>
            </a:ln>
          </p:spPr>
          <p:txBody>
            <a:bodyPr/>
            <a:lstStyle/>
            <a:p>
              <a:endParaRPr lang="en-GB"/>
            </a:p>
          </p:txBody>
        </p:sp>
        <p:sp>
          <p:nvSpPr>
            <p:cNvPr id="3123" name="Line 51"/>
            <p:cNvSpPr>
              <a:spLocks noChangeShapeType="1"/>
            </p:cNvSpPr>
            <p:nvPr/>
          </p:nvSpPr>
          <p:spPr bwMode="auto">
            <a:xfrm>
              <a:off x="1308942" y="2994526"/>
              <a:ext cx="25779" cy="1988"/>
            </a:xfrm>
            <a:prstGeom prst="line">
              <a:avLst/>
            </a:prstGeom>
            <a:noFill/>
            <a:ln w="0">
              <a:solidFill>
                <a:srgbClr val="000000"/>
              </a:solidFill>
              <a:round/>
              <a:headEnd/>
              <a:tailEnd/>
            </a:ln>
          </p:spPr>
          <p:txBody>
            <a:bodyPr/>
            <a:lstStyle/>
            <a:p>
              <a:endParaRPr lang="en-GB"/>
            </a:p>
          </p:txBody>
        </p:sp>
        <p:sp>
          <p:nvSpPr>
            <p:cNvPr id="3124" name="Line 52"/>
            <p:cNvSpPr>
              <a:spLocks noChangeShapeType="1"/>
            </p:cNvSpPr>
            <p:nvPr/>
          </p:nvSpPr>
          <p:spPr bwMode="auto">
            <a:xfrm flipH="1">
              <a:off x="4140650" y="2994526"/>
              <a:ext cx="25779" cy="1988"/>
            </a:xfrm>
            <a:prstGeom prst="line">
              <a:avLst/>
            </a:prstGeom>
            <a:noFill/>
            <a:ln w="0">
              <a:solidFill>
                <a:srgbClr val="000000"/>
              </a:solidFill>
              <a:round/>
              <a:headEnd/>
              <a:tailEnd/>
            </a:ln>
          </p:spPr>
          <p:txBody>
            <a:bodyPr/>
            <a:lstStyle/>
            <a:p>
              <a:endParaRPr lang="en-GB"/>
            </a:p>
          </p:txBody>
        </p:sp>
        <p:sp>
          <p:nvSpPr>
            <p:cNvPr id="3125" name="Rectangle 53"/>
            <p:cNvSpPr>
              <a:spLocks noChangeArrowheads="1"/>
            </p:cNvSpPr>
            <p:nvPr/>
          </p:nvSpPr>
          <p:spPr bwMode="auto">
            <a:xfrm>
              <a:off x="689258" y="2852410"/>
              <a:ext cx="500705" cy="362276"/>
            </a:xfrm>
            <a:prstGeom prst="rect">
              <a:avLst/>
            </a:prstGeom>
            <a:noFill/>
            <a:ln w="9525">
              <a:noFill/>
              <a:miter lim="800000"/>
              <a:headEnd/>
              <a:tailEnd/>
            </a:ln>
          </p:spPr>
          <p:txBody>
            <a:bodyPr lIns="0" tIns="0" rIns="0" bIns="0"/>
            <a:lstStyle/>
            <a:p>
              <a:pPr eaLnBrk="1" hangingPunct="1">
                <a:spcAft>
                  <a:spcPts val="1000"/>
                </a:spcAft>
              </a:pPr>
              <a:r>
                <a:rPr lang="en-GB" altLang="en-US" sz="1600">
                  <a:solidFill>
                    <a:srgbClr val="000000"/>
                  </a:solidFill>
                  <a:latin typeface="Helvetica" charset="0"/>
                </a:rPr>
                <a:t>500</a:t>
              </a:r>
              <a:endParaRPr lang="en-US" altLang="en-US"/>
            </a:p>
          </p:txBody>
        </p:sp>
        <p:sp>
          <p:nvSpPr>
            <p:cNvPr id="3126" name="Line 54"/>
            <p:cNvSpPr>
              <a:spLocks noChangeShapeType="1"/>
            </p:cNvSpPr>
            <p:nvPr/>
          </p:nvSpPr>
          <p:spPr bwMode="auto">
            <a:xfrm>
              <a:off x="1308942" y="2721226"/>
              <a:ext cx="25779" cy="1988"/>
            </a:xfrm>
            <a:prstGeom prst="line">
              <a:avLst/>
            </a:prstGeom>
            <a:noFill/>
            <a:ln w="0">
              <a:solidFill>
                <a:srgbClr val="000000"/>
              </a:solidFill>
              <a:round/>
              <a:headEnd/>
              <a:tailEnd/>
            </a:ln>
          </p:spPr>
          <p:txBody>
            <a:bodyPr/>
            <a:lstStyle/>
            <a:p>
              <a:endParaRPr lang="en-GB"/>
            </a:p>
          </p:txBody>
        </p:sp>
        <p:sp>
          <p:nvSpPr>
            <p:cNvPr id="3127" name="Line 55"/>
            <p:cNvSpPr>
              <a:spLocks noChangeShapeType="1"/>
            </p:cNvSpPr>
            <p:nvPr/>
          </p:nvSpPr>
          <p:spPr bwMode="auto">
            <a:xfrm flipH="1">
              <a:off x="4140650" y="2721226"/>
              <a:ext cx="25779" cy="1988"/>
            </a:xfrm>
            <a:prstGeom prst="line">
              <a:avLst/>
            </a:prstGeom>
            <a:noFill/>
            <a:ln w="0">
              <a:solidFill>
                <a:srgbClr val="000000"/>
              </a:solidFill>
              <a:round/>
              <a:headEnd/>
              <a:tailEnd/>
            </a:ln>
          </p:spPr>
          <p:txBody>
            <a:bodyPr/>
            <a:lstStyle/>
            <a:p>
              <a:endParaRPr lang="en-GB"/>
            </a:p>
          </p:txBody>
        </p:sp>
        <p:sp>
          <p:nvSpPr>
            <p:cNvPr id="3128" name="Line 56"/>
            <p:cNvSpPr>
              <a:spLocks noChangeShapeType="1"/>
            </p:cNvSpPr>
            <p:nvPr/>
          </p:nvSpPr>
          <p:spPr bwMode="auto">
            <a:xfrm>
              <a:off x="1308942" y="2453889"/>
              <a:ext cx="25779" cy="994"/>
            </a:xfrm>
            <a:prstGeom prst="line">
              <a:avLst/>
            </a:prstGeom>
            <a:noFill/>
            <a:ln w="0">
              <a:solidFill>
                <a:srgbClr val="000000"/>
              </a:solidFill>
              <a:round/>
              <a:headEnd/>
              <a:tailEnd/>
            </a:ln>
          </p:spPr>
          <p:txBody>
            <a:bodyPr/>
            <a:lstStyle/>
            <a:p>
              <a:endParaRPr lang="en-GB"/>
            </a:p>
          </p:txBody>
        </p:sp>
        <p:sp>
          <p:nvSpPr>
            <p:cNvPr id="3129" name="Line 57"/>
            <p:cNvSpPr>
              <a:spLocks noChangeShapeType="1"/>
            </p:cNvSpPr>
            <p:nvPr/>
          </p:nvSpPr>
          <p:spPr bwMode="auto">
            <a:xfrm flipH="1">
              <a:off x="4140650" y="2453889"/>
              <a:ext cx="25779" cy="994"/>
            </a:xfrm>
            <a:prstGeom prst="line">
              <a:avLst/>
            </a:prstGeom>
            <a:noFill/>
            <a:ln w="0">
              <a:solidFill>
                <a:srgbClr val="000000"/>
              </a:solidFill>
              <a:round/>
              <a:headEnd/>
              <a:tailEnd/>
            </a:ln>
          </p:spPr>
          <p:txBody>
            <a:bodyPr/>
            <a:lstStyle/>
            <a:p>
              <a:endParaRPr lang="en-GB"/>
            </a:p>
          </p:txBody>
        </p:sp>
        <p:sp>
          <p:nvSpPr>
            <p:cNvPr id="3130" name="Rectangle 58"/>
            <p:cNvSpPr>
              <a:spLocks noChangeArrowheads="1"/>
            </p:cNvSpPr>
            <p:nvPr/>
          </p:nvSpPr>
          <p:spPr bwMode="auto">
            <a:xfrm>
              <a:off x="675377" y="2298853"/>
              <a:ext cx="500705" cy="272891"/>
            </a:xfrm>
            <a:prstGeom prst="rect">
              <a:avLst/>
            </a:prstGeom>
            <a:noFill/>
            <a:ln w="9525">
              <a:noFill/>
              <a:miter lim="800000"/>
              <a:headEnd/>
              <a:tailEnd/>
            </a:ln>
          </p:spPr>
          <p:txBody>
            <a:bodyPr lIns="0" tIns="0" rIns="0" bIns="0"/>
            <a:lstStyle/>
            <a:p>
              <a:pPr eaLnBrk="1" hangingPunct="1">
                <a:spcAft>
                  <a:spcPts val="1000"/>
                </a:spcAft>
              </a:pPr>
              <a:r>
                <a:rPr lang="en-GB" altLang="en-US" sz="1600">
                  <a:solidFill>
                    <a:srgbClr val="000000"/>
                  </a:solidFill>
                  <a:latin typeface="Helvetica" charset="0"/>
                </a:rPr>
                <a:t>700</a:t>
              </a:r>
              <a:endParaRPr lang="en-US" altLang="en-US"/>
            </a:p>
          </p:txBody>
        </p:sp>
        <p:sp>
          <p:nvSpPr>
            <p:cNvPr id="3131" name="Line 59"/>
            <p:cNvSpPr>
              <a:spLocks noChangeShapeType="1"/>
            </p:cNvSpPr>
            <p:nvPr/>
          </p:nvSpPr>
          <p:spPr bwMode="auto">
            <a:xfrm>
              <a:off x="1308942" y="2180589"/>
              <a:ext cx="25779" cy="994"/>
            </a:xfrm>
            <a:prstGeom prst="line">
              <a:avLst/>
            </a:prstGeom>
            <a:noFill/>
            <a:ln w="0">
              <a:solidFill>
                <a:srgbClr val="000000"/>
              </a:solidFill>
              <a:round/>
              <a:headEnd/>
              <a:tailEnd/>
            </a:ln>
          </p:spPr>
          <p:txBody>
            <a:bodyPr/>
            <a:lstStyle/>
            <a:p>
              <a:endParaRPr lang="en-GB"/>
            </a:p>
          </p:txBody>
        </p:sp>
        <p:sp>
          <p:nvSpPr>
            <p:cNvPr id="3132" name="Line 60"/>
            <p:cNvSpPr>
              <a:spLocks noChangeShapeType="1"/>
            </p:cNvSpPr>
            <p:nvPr/>
          </p:nvSpPr>
          <p:spPr bwMode="auto">
            <a:xfrm flipH="1">
              <a:off x="4140650" y="2180589"/>
              <a:ext cx="25779" cy="994"/>
            </a:xfrm>
            <a:prstGeom prst="line">
              <a:avLst/>
            </a:prstGeom>
            <a:noFill/>
            <a:ln w="0">
              <a:solidFill>
                <a:srgbClr val="000000"/>
              </a:solidFill>
              <a:round/>
              <a:headEnd/>
              <a:tailEnd/>
            </a:ln>
          </p:spPr>
          <p:txBody>
            <a:bodyPr/>
            <a:lstStyle/>
            <a:p>
              <a:endParaRPr lang="en-GB"/>
            </a:p>
          </p:txBody>
        </p:sp>
        <p:sp>
          <p:nvSpPr>
            <p:cNvPr id="3133" name="Line 61"/>
            <p:cNvSpPr>
              <a:spLocks noChangeShapeType="1"/>
            </p:cNvSpPr>
            <p:nvPr/>
          </p:nvSpPr>
          <p:spPr bwMode="auto">
            <a:xfrm>
              <a:off x="1308942" y="1912258"/>
              <a:ext cx="25779" cy="994"/>
            </a:xfrm>
            <a:prstGeom prst="line">
              <a:avLst/>
            </a:prstGeom>
            <a:noFill/>
            <a:ln w="0">
              <a:solidFill>
                <a:srgbClr val="000000"/>
              </a:solidFill>
              <a:round/>
              <a:headEnd/>
              <a:tailEnd/>
            </a:ln>
          </p:spPr>
          <p:txBody>
            <a:bodyPr/>
            <a:lstStyle/>
            <a:p>
              <a:endParaRPr lang="en-GB"/>
            </a:p>
          </p:txBody>
        </p:sp>
        <p:sp>
          <p:nvSpPr>
            <p:cNvPr id="3134" name="Line 62"/>
            <p:cNvSpPr>
              <a:spLocks noChangeShapeType="1"/>
            </p:cNvSpPr>
            <p:nvPr/>
          </p:nvSpPr>
          <p:spPr bwMode="auto">
            <a:xfrm flipH="1">
              <a:off x="4140650" y="1912258"/>
              <a:ext cx="25779" cy="994"/>
            </a:xfrm>
            <a:prstGeom prst="line">
              <a:avLst/>
            </a:prstGeom>
            <a:noFill/>
            <a:ln w="0">
              <a:solidFill>
                <a:srgbClr val="000000"/>
              </a:solidFill>
              <a:round/>
              <a:headEnd/>
              <a:tailEnd/>
            </a:ln>
          </p:spPr>
          <p:txBody>
            <a:bodyPr/>
            <a:lstStyle/>
            <a:p>
              <a:endParaRPr lang="en-GB"/>
            </a:p>
          </p:txBody>
        </p:sp>
        <p:sp>
          <p:nvSpPr>
            <p:cNvPr id="3135" name="Rectangle 63"/>
            <p:cNvSpPr>
              <a:spLocks noChangeArrowheads="1"/>
            </p:cNvSpPr>
            <p:nvPr/>
          </p:nvSpPr>
          <p:spPr bwMode="auto">
            <a:xfrm>
              <a:off x="719003" y="1777099"/>
              <a:ext cx="500705" cy="294579"/>
            </a:xfrm>
            <a:prstGeom prst="rect">
              <a:avLst/>
            </a:prstGeom>
            <a:noFill/>
            <a:ln w="9525">
              <a:noFill/>
              <a:miter lim="800000"/>
              <a:headEnd/>
              <a:tailEnd/>
            </a:ln>
          </p:spPr>
          <p:txBody>
            <a:bodyPr lIns="0" tIns="0" rIns="0" bIns="0"/>
            <a:lstStyle/>
            <a:p>
              <a:pPr eaLnBrk="1" hangingPunct="1">
                <a:spcAft>
                  <a:spcPts val="1000"/>
                </a:spcAft>
              </a:pPr>
              <a:r>
                <a:rPr lang="en-GB" altLang="en-US" sz="1600">
                  <a:solidFill>
                    <a:srgbClr val="000000"/>
                  </a:solidFill>
                  <a:latin typeface="Helvetica" charset="0"/>
                </a:rPr>
                <a:t>900</a:t>
              </a:r>
              <a:endParaRPr lang="en-US" altLang="en-US"/>
            </a:p>
          </p:txBody>
        </p:sp>
        <p:sp>
          <p:nvSpPr>
            <p:cNvPr id="3136" name="Line 64"/>
            <p:cNvSpPr>
              <a:spLocks noChangeShapeType="1"/>
            </p:cNvSpPr>
            <p:nvPr/>
          </p:nvSpPr>
          <p:spPr bwMode="auto">
            <a:xfrm>
              <a:off x="1308942" y="1745296"/>
              <a:ext cx="2857486" cy="994"/>
            </a:xfrm>
            <a:prstGeom prst="line">
              <a:avLst/>
            </a:prstGeom>
            <a:noFill/>
            <a:ln w="0">
              <a:solidFill>
                <a:srgbClr val="000000"/>
              </a:solidFill>
              <a:round/>
              <a:headEnd/>
              <a:tailEnd/>
            </a:ln>
          </p:spPr>
          <p:txBody>
            <a:bodyPr/>
            <a:lstStyle/>
            <a:p>
              <a:endParaRPr lang="en-GB"/>
            </a:p>
          </p:txBody>
        </p:sp>
        <p:sp>
          <p:nvSpPr>
            <p:cNvPr id="3137" name="Line 65"/>
            <p:cNvSpPr>
              <a:spLocks noChangeShapeType="1"/>
            </p:cNvSpPr>
            <p:nvPr/>
          </p:nvSpPr>
          <p:spPr bwMode="auto">
            <a:xfrm>
              <a:off x="1308942" y="4345125"/>
              <a:ext cx="2857486" cy="1988"/>
            </a:xfrm>
            <a:prstGeom prst="line">
              <a:avLst/>
            </a:prstGeom>
            <a:noFill/>
            <a:ln w="0">
              <a:solidFill>
                <a:srgbClr val="000000"/>
              </a:solidFill>
              <a:round/>
              <a:headEnd/>
              <a:tailEnd/>
            </a:ln>
          </p:spPr>
          <p:txBody>
            <a:bodyPr/>
            <a:lstStyle/>
            <a:p>
              <a:endParaRPr lang="en-GB"/>
            </a:p>
          </p:txBody>
        </p:sp>
        <p:sp>
          <p:nvSpPr>
            <p:cNvPr id="3138" name="Line 66"/>
            <p:cNvSpPr>
              <a:spLocks noChangeShapeType="1"/>
            </p:cNvSpPr>
            <p:nvPr/>
          </p:nvSpPr>
          <p:spPr bwMode="auto">
            <a:xfrm flipV="1">
              <a:off x="4166428" y="1745296"/>
              <a:ext cx="1983" cy="2599829"/>
            </a:xfrm>
            <a:prstGeom prst="line">
              <a:avLst/>
            </a:prstGeom>
            <a:noFill/>
            <a:ln w="0">
              <a:solidFill>
                <a:srgbClr val="000000"/>
              </a:solidFill>
              <a:round/>
              <a:headEnd/>
              <a:tailEnd/>
            </a:ln>
          </p:spPr>
          <p:txBody>
            <a:bodyPr/>
            <a:lstStyle/>
            <a:p>
              <a:endParaRPr lang="en-GB"/>
            </a:p>
          </p:txBody>
        </p:sp>
        <p:sp>
          <p:nvSpPr>
            <p:cNvPr id="3139" name="Line 67"/>
            <p:cNvSpPr>
              <a:spLocks noChangeShapeType="1"/>
            </p:cNvSpPr>
            <p:nvPr/>
          </p:nvSpPr>
          <p:spPr bwMode="auto">
            <a:xfrm flipV="1">
              <a:off x="1308942" y="1745296"/>
              <a:ext cx="991" cy="2599829"/>
            </a:xfrm>
            <a:prstGeom prst="line">
              <a:avLst/>
            </a:prstGeom>
            <a:noFill/>
            <a:ln w="0">
              <a:solidFill>
                <a:srgbClr val="000000"/>
              </a:solidFill>
              <a:round/>
              <a:headEnd/>
              <a:tailEnd/>
            </a:ln>
          </p:spPr>
          <p:txBody>
            <a:bodyPr/>
            <a:lstStyle/>
            <a:p>
              <a:endParaRPr lang="en-GB"/>
            </a:p>
          </p:txBody>
        </p:sp>
        <p:sp>
          <p:nvSpPr>
            <p:cNvPr id="3140" name="Oval 68"/>
            <p:cNvSpPr>
              <a:spLocks noChangeArrowheads="1"/>
            </p:cNvSpPr>
            <p:nvPr/>
          </p:nvSpPr>
          <p:spPr bwMode="auto">
            <a:xfrm>
              <a:off x="1282172" y="431531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41" name="Oval 69"/>
            <p:cNvSpPr>
              <a:spLocks noChangeArrowheads="1"/>
            </p:cNvSpPr>
            <p:nvPr/>
          </p:nvSpPr>
          <p:spPr bwMode="auto">
            <a:xfrm>
              <a:off x="1288121" y="431531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42" name="Oval 70"/>
            <p:cNvSpPr>
              <a:spLocks noChangeArrowheads="1"/>
            </p:cNvSpPr>
            <p:nvPr/>
          </p:nvSpPr>
          <p:spPr bwMode="auto">
            <a:xfrm>
              <a:off x="1302002" y="431531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43" name="Oval 71"/>
            <p:cNvSpPr>
              <a:spLocks noChangeArrowheads="1"/>
            </p:cNvSpPr>
            <p:nvPr/>
          </p:nvSpPr>
          <p:spPr bwMode="auto">
            <a:xfrm>
              <a:off x="1308942" y="431531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44" name="Oval 72"/>
            <p:cNvSpPr>
              <a:spLocks noChangeArrowheads="1"/>
            </p:cNvSpPr>
            <p:nvPr/>
          </p:nvSpPr>
          <p:spPr bwMode="auto">
            <a:xfrm>
              <a:off x="1321831" y="431531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45" name="Oval 73"/>
            <p:cNvSpPr>
              <a:spLocks noChangeArrowheads="1"/>
            </p:cNvSpPr>
            <p:nvPr/>
          </p:nvSpPr>
          <p:spPr bwMode="auto">
            <a:xfrm>
              <a:off x="1327780" y="4315310"/>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146" name="Oval 74"/>
            <p:cNvSpPr>
              <a:spLocks noChangeArrowheads="1"/>
            </p:cNvSpPr>
            <p:nvPr/>
          </p:nvSpPr>
          <p:spPr bwMode="auto">
            <a:xfrm>
              <a:off x="1334721" y="4315310"/>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147" name="Oval 75"/>
            <p:cNvSpPr>
              <a:spLocks noChangeArrowheads="1"/>
            </p:cNvSpPr>
            <p:nvPr/>
          </p:nvSpPr>
          <p:spPr bwMode="auto">
            <a:xfrm>
              <a:off x="1347610" y="431531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48" name="Oval 76"/>
            <p:cNvSpPr>
              <a:spLocks noChangeArrowheads="1"/>
            </p:cNvSpPr>
            <p:nvPr/>
          </p:nvSpPr>
          <p:spPr bwMode="auto">
            <a:xfrm>
              <a:off x="1354551" y="431531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49" name="Oval 77"/>
            <p:cNvSpPr>
              <a:spLocks noChangeArrowheads="1"/>
            </p:cNvSpPr>
            <p:nvPr/>
          </p:nvSpPr>
          <p:spPr bwMode="auto">
            <a:xfrm>
              <a:off x="1367440" y="431531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50" name="Oval 78"/>
            <p:cNvSpPr>
              <a:spLocks noChangeArrowheads="1"/>
            </p:cNvSpPr>
            <p:nvPr/>
          </p:nvSpPr>
          <p:spPr bwMode="auto">
            <a:xfrm>
              <a:off x="1374381" y="431531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51" name="Oval 79"/>
            <p:cNvSpPr>
              <a:spLocks noChangeArrowheads="1"/>
            </p:cNvSpPr>
            <p:nvPr/>
          </p:nvSpPr>
          <p:spPr bwMode="auto">
            <a:xfrm>
              <a:off x="1381321" y="431531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52" name="Oval 80"/>
            <p:cNvSpPr>
              <a:spLocks noChangeArrowheads="1"/>
            </p:cNvSpPr>
            <p:nvPr/>
          </p:nvSpPr>
          <p:spPr bwMode="auto">
            <a:xfrm>
              <a:off x="1393219" y="4307360"/>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153" name="Oval 81"/>
            <p:cNvSpPr>
              <a:spLocks noChangeArrowheads="1"/>
            </p:cNvSpPr>
            <p:nvPr/>
          </p:nvSpPr>
          <p:spPr bwMode="auto">
            <a:xfrm>
              <a:off x="1400160" y="4307360"/>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154" name="Oval 82"/>
            <p:cNvSpPr>
              <a:spLocks noChangeArrowheads="1"/>
            </p:cNvSpPr>
            <p:nvPr/>
          </p:nvSpPr>
          <p:spPr bwMode="auto">
            <a:xfrm>
              <a:off x="1414040" y="4307360"/>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155" name="Oval 83"/>
            <p:cNvSpPr>
              <a:spLocks noChangeArrowheads="1"/>
            </p:cNvSpPr>
            <p:nvPr/>
          </p:nvSpPr>
          <p:spPr bwMode="auto">
            <a:xfrm>
              <a:off x="1419989" y="430736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56" name="Oval 84"/>
            <p:cNvSpPr>
              <a:spLocks noChangeArrowheads="1"/>
            </p:cNvSpPr>
            <p:nvPr/>
          </p:nvSpPr>
          <p:spPr bwMode="auto">
            <a:xfrm>
              <a:off x="1426930" y="430736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57" name="Oval 85"/>
            <p:cNvSpPr>
              <a:spLocks noChangeArrowheads="1"/>
            </p:cNvSpPr>
            <p:nvPr/>
          </p:nvSpPr>
          <p:spPr bwMode="auto">
            <a:xfrm>
              <a:off x="1440811" y="430736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58" name="Oval 86"/>
            <p:cNvSpPr>
              <a:spLocks noChangeArrowheads="1"/>
            </p:cNvSpPr>
            <p:nvPr/>
          </p:nvSpPr>
          <p:spPr bwMode="auto">
            <a:xfrm>
              <a:off x="1446760" y="430736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59" name="Oval 87"/>
            <p:cNvSpPr>
              <a:spLocks noChangeArrowheads="1"/>
            </p:cNvSpPr>
            <p:nvPr/>
          </p:nvSpPr>
          <p:spPr bwMode="auto">
            <a:xfrm>
              <a:off x="1460641" y="430736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60" name="Oval 88"/>
            <p:cNvSpPr>
              <a:spLocks noChangeArrowheads="1"/>
            </p:cNvSpPr>
            <p:nvPr/>
          </p:nvSpPr>
          <p:spPr bwMode="auto">
            <a:xfrm>
              <a:off x="1467581" y="430736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61" name="Oval 89"/>
            <p:cNvSpPr>
              <a:spLocks noChangeArrowheads="1"/>
            </p:cNvSpPr>
            <p:nvPr/>
          </p:nvSpPr>
          <p:spPr bwMode="auto">
            <a:xfrm>
              <a:off x="1472539" y="4299409"/>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162" name="Oval 90"/>
            <p:cNvSpPr>
              <a:spLocks noChangeArrowheads="1"/>
            </p:cNvSpPr>
            <p:nvPr/>
          </p:nvSpPr>
          <p:spPr bwMode="auto">
            <a:xfrm>
              <a:off x="1486420" y="4299409"/>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163" name="Oval 91"/>
            <p:cNvSpPr>
              <a:spLocks noChangeArrowheads="1"/>
            </p:cNvSpPr>
            <p:nvPr/>
          </p:nvSpPr>
          <p:spPr bwMode="auto">
            <a:xfrm>
              <a:off x="1493360" y="4299409"/>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164" name="Oval 92"/>
            <p:cNvSpPr>
              <a:spLocks noChangeArrowheads="1"/>
            </p:cNvSpPr>
            <p:nvPr/>
          </p:nvSpPr>
          <p:spPr bwMode="auto">
            <a:xfrm>
              <a:off x="1506249" y="4299409"/>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65" name="Oval 93"/>
            <p:cNvSpPr>
              <a:spLocks noChangeArrowheads="1"/>
            </p:cNvSpPr>
            <p:nvPr/>
          </p:nvSpPr>
          <p:spPr bwMode="auto">
            <a:xfrm>
              <a:off x="1513190" y="4299409"/>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66" name="Oval 94"/>
            <p:cNvSpPr>
              <a:spLocks noChangeArrowheads="1"/>
            </p:cNvSpPr>
            <p:nvPr/>
          </p:nvSpPr>
          <p:spPr bwMode="auto">
            <a:xfrm>
              <a:off x="1520130" y="4299409"/>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67" name="Oval 95"/>
            <p:cNvSpPr>
              <a:spLocks noChangeArrowheads="1"/>
            </p:cNvSpPr>
            <p:nvPr/>
          </p:nvSpPr>
          <p:spPr bwMode="auto">
            <a:xfrm>
              <a:off x="1533020" y="4292453"/>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68" name="Oval 96"/>
            <p:cNvSpPr>
              <a:spLocks noChangeArrowheads="1"/>
            </p:cNvSpPr>
            <p:nvPr/>
          </p:nvSpPr>
          <p:spPr bwMode="auto">
            <a:xfrm>
              <a:off x="1539960" y="4292453"/>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69" name="Oval 97"/>
            <p:cNvSpPr>
              <a:spLocks noChangeArrowheads="1"/>
            </p:cNvSpPr>
            <p:nvPr/>
          </p:nvSpPr>
          <p:spPr bwMode="auto">
            <a:xfrm>
              <a:off x="1551858" y="4292453"/>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170" name="Oval 98"/>
            <p:cNvSpPr>
              <a:spLocks noChangeArrowheads="1"/>
            </p:cNvSpPr>
            <p:nvPr/>
          </p:nvSpPr>
          <p:spPr bwMode="auto">
            <a:xfrm>
              <a:off x="1558799" y="4292453"/>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171" name="Oval 99"/>
            <p:cNvSpPr>
              <a:spLocks noChangeArrowheads="1"/>
            </p:cNvSpPr>
            <p:nvPr/>
          </p:nvSpPr>
          <p:spPr bwMode="auto">
            <a:xfrm>
              <a:off x="1565739" y="4292453"/>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72" name="Oval 100"/>
            <p:cNvSpPr>
              <a:spLocks noChangeArrowheads="1"/>
            </p:cNvSpPr>
            <p:nvPr/>
          </p:nvSpPr>
          <p:spPr bwMode="auto">
            <a:xfrm>
              <a:off x="1578628" y="4284502"/>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73" name="Oval 101"/>
            <p:cNvSpPr>
              <a:spLocks noChangeArrowheads="1"/>
            </p:cNvSpPr>
            <p:nvPr/>
          </p:nvSpPr>
          <p:spPr bwMode="auto">
            <a:xfrm>
              <a:off x="1585569" y="4284502"/>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74" name="Oval 102"/>
            <p:cNvSpPr>
              <a:spLocks noChangeArrowheads="1"/>
            </p:cNvSpPr>
            <p:nvPr/>
          </p:nvSpPr>
          <p:spPr bwMode="auto">
            <a:xfrm>
              <a:off x="1592509" y="4284502"/>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75" name="Oval 103"/>
            <p:cNvSpPr>
              <a:spLocks noChangeArrowheads="1"/>
            </p:cNvSpPr>
            <p:nvPr/>
          </p:nvSpPr>
          <p:spPr bwMode="auto">
            <a:xfrm>
              <a:off x="1605399" y="4284502"/>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76" name="Oval 104"/>
            <p:cNvSpPr>
              <a:spLocks noChangeArrowheads="1"/>
            </p:cNvSpPr>
            <p:nvPr/>
          </p:nvSpPr>
          <p:spPr bwMode="auto">
            <a:xfrm>
              <a:off x="1612339" y="4276551"/>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77" name="Oval 105"/>
            <p:cNvSpPr>
              <a:spLocks noChangeArrowheads="1"/>
            </p:cNvSpPr>
            <p:nvPr/>
          </p:nvSpPr>
          <p:spPr bwMode="auto">
            <a:xfrm>
              <a:off x="1625229" y="4276551"/>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178" name="Oval 106"/>
            <p:cNvSpPr>
              <a:spLocks noChangeArrowheads="1"/>
            </p:cNvSpPr>
            <p:nvPr/>
          </p:nvSpPr>
          <p:spPr bwMode="auto">
            <a:xfrm>
              <a:off x="1631178" y="4276551"/>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79" name="Oval 107"/>
            <p:cNvSpPr>
              <a:spLocks noChangeArrowheads="1"/>
            </p:cNvSpPr>
            <p:nvPr/>
          </p:nvSpPr>
          <p:spPr bwMode="auto">
            <a:xfrm>
              <a:off x="1638118" y="4276551"/>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80" name="Oval 108"/>
            <p:cNvSpPr>
              <a:spLocks noChangeArrowheads="1"/>
            </p:cNvSpPr>
            <p:nvPr/>
          </p:nvSpPr>
          <p:spPr bwMode="auto">
            <a:xfrm>
              <a:off x="1651999" y="4268601"/>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81" name="Oval 109"/>
            <p:cNvSpPr>
              <a:spLocks noChangeArrowheads="1"/>
            </p:cNvSpPr>
            <p:nvPr/>
          </p:nvSpPr>
          <p:spPr bwMode="auto">
            <a:xfrm>
              <a:off x="1657948" y="4268601"/>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82" name="Oval 110"/>
            <p:cNvSpPr>
              <a:spLocks noChangeArrowheads="1"/>
            </p:cNvSpPr>
            <p:nvPr/>
          </p:nvSpPr>
          <p:spPr bwMode="auto">
            <a:xfrm>
              <a:off x="1671829" y="4268601"/>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83" name="Oval 111"/>
            <p:cNvSpPr>
              <a:spLocks noChangeArrowheads="1"/>
            </p:cNvSpPr>
            <p:nvPr/>
          </p:nvSpPr>
          <p:spPr bwMode="auto">
            <a:xfrm>
              <a:off x="1678769" y="4261644"/>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184" name="Oval 112"/>
            <p:cNvSpPr>
              <a:spLocks noChangeArrowheads="1"/>
            </p:cNvSpPr>
            <p:nvPr/>
          </p:nvSpPr>
          <p:spPr bwMode="auto">
            <a:xfrm>
              <a:off x="1683727" y="4261644"/>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185" name="Oval 113"/>
            <p:cNvSpPr>
              <a:spLocks noChangeArrowheads="1"/>
            </p:cNvSpPr>
            <p:nvPr/>
          </p:nvSpPr>
          <p:spPr bwMode="auto">
            <a:xfrm>
              <a:off x="1697608" y="4261644"/>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186" name="Oval 114"/>
            <p:cNvSpPr>
              <a:spLocks noChangeArrowheads="1"/>
            </p:cNvSpPr>
            <p:nvPr/>
          </p:nvSpPr>
          <p:spPr bwMode="auto">
            <a:xfrm>
              <a:off x="1704548" y="4253694"/>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187" name="Oval 115"/>
            <p:cNvSpPr>
              <a:spLocks noChangeArrowheads="1"/>
            </p:cNvSpPr>
            <p:nvPr/>
          </p:nvSpPr>
          <p:spPr bwMode="auto">
            <a:xfrm>
              <a:off x="1717438" y="4253694"/>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188" name="Oval 116"/>
            <p:cNvSpPr>
              <a:spLocks noChangeArrowheads="1"/>
            </p:cNvSpPr>
            <p:nvPr/>
          </p:nvSpPr>
          <p:spPr bwMode="auto">
            <a:xfrm>
              <a:off x="1724378" y="4253694"/>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189" name="Oval 117"/>
            <p:cNvSpPr>
              <a:spLocks noChangeArrowheads="1"/>
            </p:cNvSpPr>
            <p:nvPr/>
          </p:nvSpPr>
          <p:spPr bwMode="auto">
            <a:xfrm>
              <a:off x="1731319" y="4245743"/>
              <a:ext cx="51558" cy="61617"/>
            </a:xfrm>
            <a:prstGeom prst="ellipse">
              <a:avLst/>
            </a:prstGeom>
            <a:noFill/>
            <a:ln w="0">
              <a:solidFill>
                <a:srgbClr val="0000FF"/>
              </a:solidFill>
              <a:round/>
              <a:headEnd/>
              <a:tailEnd/>
            </a:ln>
          </p:spPr>
          <p:txBody>
            <a:bodyPr/>
            <a:lstStyle/>
            <a:p>
              <a:pPr eaLnBrk="1" hangingPunct="1"/>
              <a:endParaRPr lang="en-US" altLang="en-US"/>
            </a:p>
          </p:txBody>
        </p:sp>
        <p:sp>
          <p:nvSpPr>
            <p:cNvPr id="3190" name="Oval 118"/>
            <p:cNvSpPr>
              <a:spLocks noChangeArrowheads="1"/>
            </p:cNvSpPr>
            <p:nvPr/>
          </p:nvSpPr>
          <p:spPr bwMode="auto">
            <a:xfrm>
              <a:off x="1744208" y="4245743"/>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191" name="Oval 119"/>
            <p:cNvSpPr>
              <a:spLocks noChangeArrowheads="1"/>
            </p:cNvSpPr>
            <p:nvPr/>
          </p:nvSpPr>
          <p:spPr bwMode="auto">
            <a:xfrm>
              <a:off x="1751148" y="4245743"/>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192" name="Oval 120"/>
            <p:cNvSpPr>
              <a:spLocks noChangeArrowheads="1"/>
            </p:cNvSpPr>
            <p:nvPr/>
          </p:nvSpPr>
          <p:spPr bwMode="auto">
            <a:xfrm>
              <a:off x="1763046" y="4237792"/>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193" name="Oval 121"/>
            <p:cNvSpPr>
              <a:spLocks noChangeArrowheads="1"/>
            </p:cNvSpPr>
            <p:nvPr/>
          </p:nvSpPr>
          <p:spPr bwMode="auto">
            <a:xfrm>
              <a:off x="1769987" y="4237792"/>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194" name="Oval 122"/>
            <p:cNvSpPr>
              <a:spLocks noChangeArrowheads="1"/>
            </p:cNvSpPr>
            <p:nvPr/>
          </p:nvSpPr>
          <p:spPr bwMode="auto">
            <a:xfrm>
              <a:off x="1776927" y="4237792"/>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195" name="Oval 123"/>
            <p:cNvSpPr>
              <a:spLocks noChangeArrowheads="1"/>
            </p:cNvSpPr>
            <p:nvPr/>
          </p:nvSpPr>
          <p:spPr bwMode="auto">
            <a:xfrm>
              <a:off x="1789817" y="423183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96" name="Oval 124"/>
            <p:cNvSpPr>
              <a:spLocks noChangeArrowheads="1"/>
            </p:cNvSpPr>
            <p:nvPr/>
          </p:nvSpPr>
          <p:spPr bwMode="auto">
            <a:xfrm>
              <a:off x="1796757" y="423183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97" name="Oval 125"/>
            <p:cNvSpPr>
              <a:spLocks noChangeArrowheads="1"/>
            </p:cNvSpPr>
            <p:nvPr/>
          </p:nvSpPr>
          <p:spPr bwMode="auto">
            <a:xfrm>
              <a:off x="1809647" y="4223879"/>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98" name="Oval 126"/>
            <p:cNvSpPr>
              <a:spLocks noChangeArrowheads="1"/>
            </p:cNvSpPr>
            <p:nvPr/>
          </p:nvSpPr>
          <p:spPr bwMode="auto">
            <a:xfrm>
              <a:off x="1816587" y="4223879"/>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199" name="Oval 127"/>
            <p:cNvSpPr>
              <a:spLocks noChangeArrowheads="1"/>
            </p:cNvSpPr>
            <p:nvPr/>
          </p:nvSpPr>
          <p:spPr bwMode="auto">
            <a:xfrm>
              <a:off x="1823528" y="4223879"/>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00" name="Oval 128"/>
            <p:cNvSpPr>
              <a:spLocks noChangeArrowheads="1"/>
            </p:cNvSpPr>
            <p:nvPr/>
          </p:nvSpPr>
          <p:spPr bwMode="auto">
            <a:xfrm>
              <a:off x="1835425" y="4215928"/>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201" name="Oval 129"/>
            <p:cNvSpPr>
              <a:spLocks noChangeArrowheads="1"/>
            </p:cNvSpPr>
            <p:nvPr/>
          </p:nvSpPr>
          <p:spPr bwMode="auto">
            <a:xfrm>
              <a:off x="1842366" y="4215928"/>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202" name="Oval 130"/>
            <p:cNvSpPr>
              <a:spLocks noChangeArrowheads="1"/>
            </p:cNvSpPr>
            <p:nvPr/>
          </p:nvSpPr>
          <p:spPr bwMode="auto">
            <a:xfrm>
              <a:off x="1856247" y="4207978"/>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03" name="Oval 131"/>
            <p:cNvSpPr>
              <a:spLocks noChangeArrowheads="1"/>
            </p:cNvSpPr>
            <p:nvPr/>
          </p:nvSpPr>
          <p:spPr bwMode="auto">
            <a:xfrm>
              <a:off x="1862196" y="4207978"/>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04" name="Oval 132"/>
            <p:cNvSpPr>
              <a:spLocks noChangeArrowheads="1"/>
            </p:cNvSpPr>
            <p:nvPr/>
          </p:nvSpPr>
          <p:spPr bwMode="auto">
            <a:xfrm>
              <a:off x="1869136" y="4201021"/>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05" name="Oval 133"/>
            <p:cNvSpPr>
              <a:spLocks noChangeArrowheads="1"/>
            </p:cNvSpPr>
            <p:nvPr/>
          </p:nvSpPr>
          <p:spPr bwMode="auto">
            <a:xfrm>
              <a:off x="1883017" y="4201021"/>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06" name="Oval 134"/>
            <p:cNvSpPr>
              <a:spLocks noChangeArrowheads="1"/>
            </p:cNvSpPr>
            <p:nvPr/>
          </p:nvSpPr>
          <p:spPr bwMode="auto">
            <a:xfrm>
              <a:off x="1888966" y="4201021"/>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07" name="Oval 135"/>
            <p:cNvSpPr>
              <a:spLocks noChangeArrowheads="1"/>
            </p:cNvSpPr>
            <p:nvPr/>
          </p:nvSpPr>
          <p:spPr bwMode="auto">
            <a:xfrm>
              <a:off x="1902847" y="4193071"/>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08" name="Oval 136"/>
            <p:cNvSpPr>
              <a:spLocks noChangeArrowheads="1"/>
            </p:cNvSpPr>
            <p:nvPr/>
          </p:nvSpPr>
          <p:spPr bwMode="auto">
            <a:xfrm>
              <a:off x="1908796" y="4193071"/>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209" name="Oval 137"/>
            <p:cNvSpPr>
              <a:spLocks noChangeArrowheads="1"/>
            </p:cNvSpPr>
            <p:nvPr/>
          </p:nvSpPr>
          <p:spPr bwMode="auto">
            <a:xfrm>
              <a:off x="1914745" y="4185120"/>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210" name="Oval 138"/>
            <p:cNvSpPr>
              <a:spLocks noChangeArrowheads="1"/>
            </p:cNvSpPr>
            <p:nvPr/>
          </p:nvSpPr>
          <p:spPr bwMode="auto">
            <a:xfrm>
              <a:off x="1928626" y="418512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11" name="Oval 139"/>
            <p:cNvSpPr>
              <a:spLocks noChangeArrowheads="1"/>
            </p:cNvSpPr>
            <p:nvPr/>
          </p:nvSpPr>
          <p:spPr bwMode="auto">
            <a:xfrm>
              <a:off x="1935566" y="417717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12" name="Oval 140"/>
            <p:cNvSpPr>
              <a:spLocks noChangeArrowheads="1"/>
            </p:cNvSpPr>
            <p:nvPr/>
          </p:nvSpPr>
          <p:spPr bwMode="auto">
            <a:xfrm>
              <a:off x="1948456" y="417717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13" name="Oval 141"/>
            <p:cNvSpPr>
              <a:spLocks noChangeArrowheads="1"/>
            </p:cNvSpPr>
            <p:nvPr/>
          </p:nvSpPr>
          <p:spPr bwMode="auto">
            <a:xfrm>
              <a:off x="1955396" y="4170213"/>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14" name="Oval 142"/>
            <p:cNvSpPr>
              <a:spLocks noChangeArrowheads="1"/>
            </p:cNvSpPr>
            <p:nvPr/>
          </p:nvSpPr>
          <p:spPr bwMode="auto">
            <a:xfrm>
              <a:off x="1962337" y="4170213"/>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15" name="Oval 143"/>
            <p:cNvSpPr>
              <a:spLocks noChangeArrowheads="1"/>
            </p:cNvSpPr>
            <p:nvPr/>
          </p:nvSpPr>
          <p:spPr bwMode="auto">
            <a:xfrm>
              <a:off x="1974235" y="4162262"/>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216" name="Oval 144"/>
            <p:cNvSpPr>
              <a:spLocks noChangeArrowheads="1"/>
            </p:cNvSpPr>
            <p:nvPr/>
          </p:nvSpPr>
          <p:spPr bwMode="auto">
            <a:xfrm>
              <a:off x="1981175" y="4162262"/>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217" name="Oval 145"/>
            <p:cNvSpPr>
              <a:spLocks noChangeArrowheads="1"/>
            </p:cNvSpPr>
            <p:nvPr/>
          </p:nvSpPr>
          <p:spPr bwMode="auto">
            <a:xfrm>
              <a:off x="1994065" y="4154312"/>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18" name="Oval 146"/>
            <p:cNvSpPr>
              <a:spLocks noChangeArrowheads="1"/>
            </p:cNvSpPr>
            <p:nvPr/>
          </p:nvSpPr>
          <p:spPr bwMode="auto">
            <a:xfrm>
              <a:off x="2001005" y="4146361"/>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19" name="Oval 147"/>
            <p:cNvSpPr>
              <a:spLocks noChangeArrowheads="1"/>
            </p:cNvSpPr>
            <p:nvPr/>
          </p:nvSpPr>
          <p:spPr bwMode="auto">
            <a:xfrm>
              <a:off x="2007945" y="4146361"/>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20" name="Oval 148"/>
            <p:cNvSpPr>
              <a:spLocks noChangeArrowheads="1"/>
            </p:cNvSpPr>
            <p:nvPr/>
          </p:nvSpPr>
          <p:spPr bwMode="auto">
            <a:xfrm>
              <a:off x="2020835" y="4140398"/>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21" name="Oval 149"/>
            <p:cNvSpPr>
              <a:spLocks noChangeArrowheads="1"/>
            </p:cNvSpPr>
            <p:nvPr/>
          </p:nvSpPr>
          <p:spPr bwMode="auto">
            <a:xfrm>
              <a:off x="2027775" y="4140398"/>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22" name="Oval 150"/>
            <p:cNvSpPr>
              <a:spLocks noChangeArrowheads="1"/>
            </p:cNvSpPr>
            <p:nvPr/>
          </p:nvSpPr>
          <p:spPr bwMode="auto">
            <a:xfrm>
              <a:off x="2041656" y="4132448"/>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23" name="Oval 151"/>
            <p:cNvSpPr>
              <a:spLocks noChangeArrowheads="1"/>
            </p:cNvSpPr>
            <p:nvPr/>
          </p:nvSpPr>
          <p:spPr bwMode="auto">
            <a:xfrm>
              <a:off x="2046614" y="4132448"/>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224" name="Oval 152"/>
            <p:cNvSpPr>
              <a:spLocks noChangeArrowheads="1"/>
            </p:cNvSpPr>
            <p:nvPr/>
          </p:nvSpPr>
          <p:spPr bwMode="auto">
            <a:xfrm>
              <a:off x="2053554" y="4123503"/>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225" name="Oval 153"/>
            <p:cNvSpPr>
              <a:spLocks noChangeArrowheads="1"/>
            </p:cNvSpPr>
            <p:nvPr/>
          </p:nvSpPr>
          <p:spPr bwMode="auto">
            <a:xfrm>
              <a:off x="2067435" y="4115553"/>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226" name="Oval 154"/>
            <p:cNvSpPr>
              <a:spLocks noChangeArrowheads="1"/>
            </p:cNvSpPr>
            <p:nvPr/>
          </p:nvSpPr>
          <p:spPr bwMode="auto">
            <a:xfrm>
              <a:off x="2073384" y="4115553"/>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27" name="Oval 155"/>
            <p:cNvSpPr>
              <a:spLocks noChangeArrowheads="1"/>
            </p:cNvSpPr>
            <p:nvPr/>
          </p:nvSpPr>
          <p:spPr bwMode="auto">
            <a:xfrm>
              <a:off x="2087265" y="410959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28" name="Oval 156"/>
            <p:cNvSpPr>
              <a:spLocks noChangeArrowheads="1"/>
            </p:cNvSpPr>
            <p:nvPr/>
          </p:nvSpPr>
          <p:spPr bwMode="auto">
            <a:xfrm>
              <a:off x="2094205" y="410959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29" name="Oval 157"/>
            <p:cNvSpPr>
              <a:spLocks noChangeArrowheads="1"/>
            </p:cNvSpPr>
            <p:nvPr/>
          </p:nvSpPr>
          <p:spPr bwMode="auto">
            <a:xfrm>
              <a:off x="2100154" y="4101639"/>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30" name="Oval 158"/>
            <p:cNvSpPr>
              <a:spLocks noChangeArrowheads="1"/>
            </p:cNvSpPr>
            <p:nvPr/>
          </p:nvSpPr>
          <p:spPr bwMode="auto">
            <a:xfrm>
              <a:off x="2114035" y="4093689"/>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31" name="Oval 159"/>
            <p:cNvSpPr>
              <a:spLocks noChangeArrowheads="1"/>
            </p:cNvSpPr>
            <p:nvPr/>
          </p:nvSpPr>
          <p:spPr bwMode="auto">
            <a:xfrm>
              <a:off x="2120976" y="4093689"/>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32" name="Oval 160"/>
            <p:cNvSpPr>
              <a:spLocks noChangeArrowheads="1"/>
            </p:cNvSpPr>
            <p:nvPr/>
          </p:nvSpPr>
          <p:spPr bwMode="auto">
            <a:xfrm>
              <a:off x="2132874" y="4085738"/>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233" name="Oval 161"/>
            <p:cNvSpPr>
              <a:spLocks noChangeArrowheads="1"/>
            </p:cNvSpPr>
            <p:nvPr/>
          </p:nvSpPr>
          <p:spPr bwMode="auto">
            <a:xfrm>
              <a:off x="2139814" y="4078782"/>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234" name="Oval 162"/>
            <p:cNvSpPr>
              <a:spLocks noChangeArrowheads="1"/>
            </p:cNvSpPr>
            <p:nvPr/>
          </p:nvSpPr>
          <p:spPr bwMode="auto">
            <a:xfrm>
              <a:off x="2146755" y="4078782"/>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35" name="Oval 163"/>
            <p:cNvSpPr>
              <a:spLocks noChangeArrowheads="1"/>
            </p:cNvSpPr>
            <p:nvPr/>
          </p:nvSpPr>
          <p:spPr bwMode="auto">
            <a:xfrm>
              <a:off x="2159644" y="4070831"/>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36" name="Oval 164"/>
            <p:cNvSpPr>
              <a:spLocks noChangeArrowheads="1"/>
            </p:cNvSpPr>
            <p:nvPr/>
          </p:nvSpPr>
          <p:spPr bwMode="auto">
            <a:xfrm>
              <a:off x="2166585" y="406288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37" name="Oval 165"/>
            <p:cNvSpPr>
              <a:spLocks noChangeArrowheads="1"/>
            </p:cNvSpPr>
            <p:nvPr/>
          </p:nvSpPr>
          <p:spPr bwMode="auto">
            <a:xfrm>
              <a:off x="2173525" y="406288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38" name="Oval 166"/>
            <p:cNvSpPr>
              <a:spLocks noChangeArrowheads="1"/>
            </p:cNvSpPr>
            <p:nvPr/>
          </p:nvSpPr>
          <p:spPr bwMode="auto">
            <a:xfrm>
              <a:off x="2186414" y="405493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39" name="Oval 167"/>
            <p:cNvSpPr>
              <a:spLocks noChangeArrowheads="1"/>
            </p:cNvSpPr>
            <p:nvPr/>
          </p:nvSpPr>
          <p:spPr bwMode="auto">
            <a:xfrm>
              <a:off x="2193355" y="4047973"/>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40" name="Oval 168"/>
            <p:cNvSpPr>
              <a:spLocks noChangeArrowheads="1"/>
            </p:cNvSpPr>
            <p:nvPr/>
          </p:nvSpPr>
          <p:spPr bwMode="auto">
            <a:xfrm>
              <a:off x="2205253" y="4047973"/>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241" name="Oval 169"/>
            <p:cNvSpPr>
              <a:spLocks noChangeArrowheads="1"/>
            </p:cNvSpPr>
            <p:nvPr/>
          </p:nvSpPr>
          <p:spPr bwMode="auto">
            <a:xfrm>
              <a:off x="2212193" y="4040023"/>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42" name="Oval 170"/>
            <p:cNvSpPr>
              <a:spLocks noChangeArrowheads="1"/>
            </p:cNvSpPr>
            <p:nvPr/>
          </p:nvSpPr>
          <p:spPr bwMode="auto">
            <a:xfrm>
              <a:off x="2219134" y="4032072"/>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43" name="Oval 171"/>
            <p:cNvSpPr>
              <a:spLocks noChangeArrowheads="1"/>
            </p:cNvSpPr>
            <p:nvPr/>
          </p:nvSpPr>
          <p:spPr bwMode="auto">
            <a:xfrm>
              <a:off x="2232023" y="4024122"/>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44" name="Oval 172"/>
            <p:cNvSpPr>
              <a:spLocks noChangeArrowheads="1"/>
            </p:cNvSpPr>
            <p:nvPr/>
          </p:nvSpPr>
          <p:spPr bwMode="auto">
            <a:xfrm>
              <a:off x="2238964" y="4024122"/>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45" name="Oval 173"/>
            <p:cNvSpPr>
              <a:spLocks noChangeArrowheads="1"/>
            </p:cNvSpPr>
            <p:nvPr/>
          </p:nvSpPr>
          <p:spPr bwMode="auto">
            <a:xfrm>
              <a:off x="2252845" y="4018159"/>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46" name="Oval 174"/>
            <p:cNvSpPr>
              <a:spLocks noChangeArrowheads="1"/>
            </p:cNvSpPr>
            <p:nvPr/>
          </p:nvSpPr>
          <p:spPr bwMode="auto">
            <a:xfrm>
              <a:off x="2258794" y="4010208"/>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47" name="Oval 175"/>
            <p:cNvSpPr>
              <a:spLocks noChangeArrowheads="1"/>
            </p:cNvSpPr>
            <p:nvPr/>
          </p:nvSpPr>
          <p:spPr bwMode="auto">
            <a:xfrm>
              <a:off x="2264742" y="4002258"/>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248" name="Oval 176"/>
            <p:cNvSpPr>
              <a:spLocks noChangeArrowheads="1"/>
            </p:cNvSpPr>
            <p:nvPr/>
          </p:nvSpPr>
          <p:spPr bwMode="auto">
            <a:xfrm>
              <a:off x="2278623" y="4002258"/>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249" name="Oval 177"/>
            <p:cNvSpPr>
              <a:spLocks noChangeArrowheads="1"/>
            </p:cNvSpPr>
            <p:nvPr/>
          </p:nvSpPr>
          <p:spPr bwMode="auto">
            <a:xfrm>
              <a:off x="2284572" y="3994307"/>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50" name="Oval 178"/>
            <p:cNvSpPr>
              <a:spLocks noChangeArrowheads="1"/>
            </p:cNvSpPr>
            <p:nvPr/>
          </p:nvSpPr>
          <p:spPr bwMode="auto">
            <a:xfrm>
              <a:off x="2298453" y="398735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51" name="Oval 179"/>
            <p:cNvSpPr>
              <a:spLocks noChangeArrowheads="1"/>
            </p:cNvSpPr>
            <p:nvPr/>
          </p:nvSpPr>
          <p:spPr bwMode="auto">
            <a:xfrm>
              <a:off x="2305394" y="397940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52" name="Oval 180"/>
            <p:cNvSpPr>
              <a:spLocks noChangeArrowheads="1"/>
            </p:cNvSpPr>
            <p:nvPr/>
          </p:nvSpPr>
          <p:spPr bwMode="auto">
            <a:xfrm>
              <a:off x="2311343" y="3971449"/>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53" name="Oval 181"/>
            <p:cNvSpPr>
              <a:spLocks noChangeArrowheads="1"/>
            </p:cNvSpPr>
            <p:nvPr/>
          </p:nvSpPr>
          <p:spPr bwMode="auto">
            <a:xfrm>
              <a:off x="2325224" y="3971449"/>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54" name="Oval 182"/>
            <p:cNvSpPr>
              <a:spLocks noChangeArrowheads="1"/>
            </p:cNvSpPr>
            <p:nvPr/>
          </p:nvSpPr>
          <p:spPr bwMode="auto">
            <a:xfrm>
              <a:off x="2332164" y="3963499"/>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55" name="Oval 183"/>
            <p:cNvSpPr>
              <a:spLocks noChangeArrowheads="1"/>
            </p:cNvSpPr>
            <p:nvPr/>
          </p:nvSpPr>
          <p:spPr bwMode="auto">
            <a:xfrm>
              <a:off x="2344062" y="3956542"/>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256" name="Oval 184"/>
            <p:cNvSpPr>
              <a:spLocks noChangeArrowheads="1"/>
            </p:cNvSpPr>
            <p:nvPr/>
          </p:nvSpPr>
          <p:spPr bwMode="auto">
            <a:xfrm>
              <a:off x="2351002" y="3948591"/>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257" name="Oval 185"/>
            <p:cNvSpPr>
              <a:spLocks noChangeArrowheads="1"/>
            </p:cNvSpPr>
            <p:nvPr/>
          </p:nvSpPr>
          <p:spPr bwMode="auto">
            <a:xfrm>
              <a:off x="2357943" y="3940641"/>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258" name="Oval 186"/>
            <p:cNvSpPr>
              <a:spLocks noChangeArrowheads="1"/>
            </p:cNvSpPr>
            <p:nvPr/>
          </p:nvSpPr>
          <p:spPr bwMode="auto">
            <a:xfrm>
              <a:off x="2370832" y="3940641"/>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59" name="Oval 187"/>
            <p:cNvSpPr>
              <a:spLocks noChangeArrowheads="1"/>
            </p:cNvSpPr>
            <p:nvPr/>
          </p:nvSpPr>
          <p:spPr bwMode="auto">
            <a:xfrm>
              <a:off x="2377773" y="3932690"/>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60" name="Oval 188"/>
            <p:cNvSpPr>
              <a:spLocks noChangeArrowheads="1"/>
            </p:cNvSpPr>
            <p:nvPr/>
          </p:nvSpPr>
          <p:spPr bwMode="auto">
            <a:xfrm>
              <a:off x="2390662" y="3926727"/>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61" name="Oval 189"/>
            <p:cNvSpPr>
              <a:spLocks noChangeArrowheads="1"/>
            </p:cNvSpPr>
            <p:nvPr/>
          </p:nvSpPr>
          <p:spPr bwMode="auto">
            <a:xfrm>
              <a:off x="2397603" y="3918777"/>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62" name="Oval 190"/>
            <p:cNvSpPr>
              <a:spLocks noChangeArrowheads="1"/>
            </p:cNvSpPr>
            <p:nvPr/>
          </p:nvSpPr>
          <p:spPr bwMode="auto">
            <a:xfrm>
              <a:off x="2404543" y="3910826"/>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63" name="Oval 191"/>
            <p:cNvSpPr>
              <a:spLocks noChangeArrowheads="1"/>
            </p:cNvSpPr>
            <p:nvPr/>
          </p:nvSpPr>
          <p:spPr bwMode="auto">
            <a:xfrm>
              <a:off x="2416441" y="3902876"/>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264" name="Oval 192"/>
            <p:cNvSpPr>
              <a:spLocks noChangeArrowheads="1"/>
            </p:cNvSpPr>
            <p:nvPr/>
          </p:nvSpPr>
          <p:spPr bwMode="auto">
            <a:xfrm>
              <a:off x="2423382" y="3895919"/>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265" name="Oval 193"/>
            <p:cNvSpPr>
              <a:spLocks noChangeArrowheads="1"/>
            </p:cNvSpPr>
            <p:nvPr/>
          </p:nvSpPr>
          <p:spPr bwMode="auto">
            <a:xfrm>
              <a:off x="2437262" y="3895919"/>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66" name="Oval 194"/>
            <p:cNvSpPr>
              <a:spLocks noChangeArrowheads="1"/>
            </p:cNvSpPr>
            <p:nvPr/>
          </p:nvSpPr>
          <p:spPr bwMode="auto">
            <a:xfrm>
              <a:off x="2443211" y="3887968"/>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67" name="Oval 195"/>
            <p:cNvSpPr>
              <a:spLocks noChangeArrowheads="1"/>
            </p:cNvSpPr>
            <p:nvPr/>
          </p:nvSpPr>
          <p:spPr bwMode="auto">
            <a:xfrm>
              <a:off x="2450152" y="3880018"/>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68" name="Oval 196"/>
            <p:cNvSpPr>
              <a:spLocks noChangeArrowheads="1"/>
            </p:cNvSpPr>
            <p:nvPr/>
          </p:nvSpPr>
          <p:spPr bwMode="auto">
            <a:xfrm>
              <a:off x="2464033" y="3872067"/>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69" name="Oval 197"/>
            <p:cNvSpPr>
              <a:spLocks noChangeArrowheads="1"/>
            </p:cNvSpPr>
            <p:nvPr/>
          </p:nvSpPr>
          <p:spPr bwMode="auto">
            <a:xfrm>
              <a:off x="2469982" y="3865111"/>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70" name="Oval 198"/>
            <p:cNvSpPr>
              <a:spLocks noChangeArrowheads="1"/>
            </p:cNvSpPr>
            <p:nvPr/>
          </p:nvSpPr>
          <p:spPr bwMode="auto">
            <a:xfrm>
              <a:off x="2483863" y="3857160"/>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71" name="Oval 199"/>
            <p:cNvSpPr>
              <a:spLocks noChangeArrowheads="1"/>
            </p:cNvSpPr>
            <p:nvPr/>
          </p:nvSpPr>
          <p:spPr bwMode="auto">
            <a:xfrm>
              <a:off x="2489812" y="3849210"/>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272" name="Oval 200"/>
            <p:cNvSpPr>
              <a:spLocks noChangeArrowheads="1"/>
            </p:cNvSpPr>
            <p:nvPr/>
          </p:nvSpPr>
          <p:spPr bwMode="auto">
            <a:xfrm>
              <a:off x="2495761" y="3841259"/>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273" name="Oval 201"/>
            <p:cNvSpPr>
              <a:spLocks noChangeArrowheads="1"/>
            </p:cNvSpPr>
            <p:nvPr/>
          </p:nvSpPr>
          <p:spPr bwMode="auto">
            <a:xfrm>
              <a:off x="2509642" y="3834302"/>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74" name="Oval 202"/>
            <p:cNvSpPr>
              <a:spLocks noChangeArrowheads="1"/>
            </p:cNvSpPr>
            <p:nvPr/>
          </p:nvSpPr>
          <p:spPr bwMode="auto">
            <a:xfrm>
              <a:off x="2516582" y="3826352"/>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75" name="Oval 203"/>
            <p:cNvSpPr>
              <a:spLocks noChangeArrowheads="1"/>
            </p:cNvSpPr>
            <p:nvPr/>
          </p:nvSpPr>
          <p:spPr bwMode="auto">
            <a:xfrm>
              <a:off x="2529471" y="3818401"/>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76" name="Oval 204"/>
            <p:cNvSpPr>
              <a:spLocks noChangeArrowheads="1"/>
            </p:cNvSpPr>
            <p:nvPr/>
          </p:nvSpPr>
          <p:spPr bwMode="auto">
            <a:xfrm>
              <a:off x="2536412" y="3810451"/>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77" name="Oval 205"/>
            <p:cNvSpPr>
              <a:spLocks noChangeArrowheads="1"/>
            </p:cNvSpPr>
            <p:nvPr/>
          </p:nvSpPr>
          <p:spPr bwMode="auto">
            <a:xfrm>
              <a:off x="2543352" y="3804488"/>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78" name="Oval 206"/>
            <p:cNvSpPr>
              <a:spLocks noChangeArrowheads="1"/>
            </p:cNvSpPr>
            <p:nvPr/>
          </p:nvSpPr>
          <p:spPr bwMode="auto">
            <a:xfrm>
              <a:off x="2556242" y="3796537"/>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79" name="Oval 207"/>
            <p:cNvSpPr>
              <a:spLocks noChangeArrowheads="1"/>
            </p:cNvSpPr>
            <p:nvPr/>
          </p:nvSpPr>
          <p:spPr bwMode="auto">
            <a:xfrm>
              <a:off x="2562191" y="3788587"/>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280" name="Oval 208"/>
            <p:cNvSpPr>
              <a:spLocks noChangeArrowheads="1"/>
            </p:cNvSpPr>
            <p:nvPr/>
          </p:nvSpPr>
          <p:spPr bwMode="auto">
            <a:xfrm>
              <a:off x="2575080" y="3780636"/>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81" name="Oval 209"/>
            <p:cNvSpPr>
              <a:spLocks noChangeArrowheads="1"/>
            </p:cNvSpPr>
            <p:nvPr/>
          </p:nvSpPr>
          <p:spPr bwMode="auto">
            <a:xfrm>
              <a:off x="2582021" y="3773679"/>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82" name="Oval 210"/>
            <p:cNvSpPr>
              <a:spLocks noChangeArrowheads="1"/>
            </p:cNvSpPr>
            <p:nvPr/>
          </p:nvSpPr>
          <p:spPr bwMode="auto">
            <a:xfrm>
              <a:off x="2588961" y="3765729"/>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83" name="Oval 211"/>
            <p:cNvSpPr>
              <a:spLocks noChangeArrowheads="1"/>
            </p:cNvSpPr>
            <p:nvPr/>
          </p:nvSpPr>
          <p:spPr bwMode="auto">
            <a:xfrm>
              <a:off x="2601851" y="3757778"/>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84" name="Oval 212"/>
            <p:cNvSpPr>
              <a:spLocks noChangeArrowheads="1"/>
            </p:cNvSpPr>
            <p:nvPr/>
          </p:nvSpPr>
          <p:spPr bwMode="auto">
            <a:xfrm>
              <a:off x="2608791" y="3749828"/>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85" name="Oval 213"/>
            <p:cNvSpPr>
              <a:spLocks noChangeArrowheads="1"/>
            </p:cNvSpPr>
            <p:nvPr/>
          </p:nvSpPr>
          <p:spPr bwMode="auto">
            <a:xfrm>
              <a:off x="2621680" y="3742871"/>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86" name="Oval 214"/>
            <p:cNvSpPr>
              <a:spLocks noChangeArrowheads="1"/>
            </p:cNvSpPr>
            <p:nvPr/>
          </p:nvSpPr>
          <p:spPr bwMode="auto">
            <a:xfrm>
              <a:off x="2627629" y="3734920"/>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287" name="Oval 215"/>
            <p:cNvSpPr>
              <a:spLocks noChangeArrowheads="1"/>
            </p:cNvSpPr>
            <p:nvPr/>
          </p:nvSpPr>
          <p:spPr bwMode="auto">
            <a:xfrm>
              <a:off x="2634570" y="3726970"/>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288" name="Oval 216"/>
            <p:cNvSpPr>
              <a:spLocks noChangeArrowheads="1"/>
            </p:cNvSpPr>
            <p:nvPr/>
          </p:nvSpPr>
          <p:spPr bwMode="auto">
            <a:xfrm>
              <a:off x="2647459" y="3719019"/>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89" name="Oval 217"/>
            <p:cNvSpPr>
              <a:spLocks noChangeArrowheads="1"/>
            </p:cNvSpPr>
            <p:nvPr/>
          </p:nvSpPr>
          <p:spPr bwMode="auto">
            <a:xfrm>
              <a:off x="2654400" y="3713056"/>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90" name="Oval 218"/>
            <p:cNvSpPr>
              <a:spLocks noChangeArrowheads="1"/>
            </p:cNvSpPr>
            <p:nvPr/>
          </p:nvSpPr>
          <p:spPr bwMode="auto">
            <a:xfrm>
              <a:off x="2668281" y="3705106"/>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91" name="Oval 219"/>
            <p:cNvSpPr>
              <a:spLocks noChangeArrowheads="1"/>
            </p:cNvSpPr>
            <p:nvPr/>
          </p:nvSpPr>
          <p:spPr bwMode="auto">
            <a:xfrm>
              <a:off x="2674230" y="3697155"/>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92" name="Oval 220"/>
            <p:cNvSpPr>
              <a:spLocks noChangeArrowheads="1"/>
            </p:cNvSpPr>
            <p:nvPr/>
          </p:nvSpPr>
          <p:spPr bwMode="auto">
            <a:xfrm>
              <a:off x="2681170" y="3689205"/>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93" name="Oval 221"/>
            <p:cNvSpPr>
              <a:spLocks noChangeArrowheads="1"/>
            </p:cNvSpPr>
            <p:nvPr/>
          </p:nvSpPr>
          <p:spPr bwMode="auto">
            <a:xfrm>
              <a:off x="2695051" y="3682248"/>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294" name="Oval 222"/>
            <p:cNvSpPr>
              <a:spLocks noChangeArrowheads="1"/>
            </p:cNvSpPr>
            <p:nvPr/>
          </p:nvSpPr>
          <p:spPr bwMode="auto">
            <a:xfrm>
              <a:off x="2700008" y="3674298"/>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295" name="Oval 223"/>
            <p:cNvSpPr>
              <a:spLocks noChangeArrowheads="1"/>
            </p:cNvSpPr>
            <p:nvPr/>
          </p:nvSpPr>
          <p:spPr bwMode="auto">
            <a:xfrm>
              <a:off x="2713889" y="3666347"/>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296" name="Oval 224"/>
            <p:cNvSpPr>
              <a:spLocks noChangeArrowheads="1"/>
            </p:cNvSpPr>
            <p:nvPr/>
          </p:nvSpPr>
          <p:spPr bwMode="auto">
            <a:xfrm>
              <a:off x="2720830" y="3659390"/>
              <a:ext cx="53541" cy="59629"/>
            </a:xfrm>
            <a:prstGeom prst="ellipse">
              <a:avLst/>
            </a:prstGeom>
            <a:noFill/>
            <a:ln w="0">
              <a:solidFill>
                <a:srgbClr val="0000FF"/>
              </a:solidFill>
              <a:round/>
              <a:headEnd/>
              <a:tailEnd/>
            </a:ln>
          </p:spPr>
          <p:txBody>
            <a:bodyPr/>
            <a:lstStyle/>
            <a:p>
              <a:pPr eaLnBrk="1" hangingPunct="1"/>
              <a:endParaRPr lang="en-US" altLang="en-US"/>
            </a:p>
          </p:txBody>
        </p:sp>
        <p:sp>
          <p:nvSpPr>
            <p:cNvPr id="3297" name="Oval 225"/>
            <p:cNvSpPr>
              <a:spLocks noChangeArrowheads="1"/>
            </p:cNvSpPr>
            <p:nvPr/>
          </p:nvSpPr>
          <p:spPr bwMode="auto">
            <a:xfrm>
              <a:off x="2726779" y="3651440"/>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98" name="Oval 226"/>
            <p:cNvSpPr>
              <a:spLocks noChangeArrowheads="1"/>
            </p:cNvSpPr>
            <p:nvPr/>
          </p:nvSpPr>
          <p:spPr bwMode="auto">
            <a:xfrm>
              <a:off x="2740660" y="3635539"/>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299" name="Oval 227"/>
            <p:cNvSpPr>
              <a:spLocks noChangeArrowheads="1"/>
            </p:cNvSpPr>
            <p:nvPr/>
          </p:nvSpPr>
          <p:spPr bwMode="auto">
            <a:xfrm>
              <a:off x="2747600" y="3629576"/>
              <a:ext cx="52549" cy="59629"/>
            </a:xfrm>
            <a:prstGeom prst="ellipse">
              <a:avLst/>
            </a:prstGeom>
            <a:noFill/>
            <a:ln w="0">
              <a:solidFill>
                <a:srgbClr val="0000FF"/>
              </a:solidFill>
              <a:round/>
              <a:headEnd/>
              <a:tailEnd/>
            </a:ln>
          </p:spPr>
          <p:txBody>
            <a:bodyPr/>
            <a:lstStyle/>
            <a:p>
              <a:pPr eaLnBrk="1" hangingPunct="1"/>
              <a:endParaRPr lang="en-US" altLang="en-US"/>
            </a:p>
          </p:txBody>
        </p:sp>
        <p:sp>
          <p:nvSpPr>
            <p:cNvPr id="3300" name="Oval 228"/>
            <p:cNvSpPr>
              <a:spLocks noChangeArrowheads="1"/>
            </p:cNvSpPr>
            <p:nvPr/>
          </p:nvSpPr>
          <p:spPr bwMode="auto">
            <a:xfrm>
              <a:off x="2753549" y="3621625"/>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01" name="Oval 229"/>
            <p:cNvSpPr>
              <a:spLocks noChangeArrowheads="1"/>
            </p:cNvSpPr>
            <p:nvPr/>
          </p:nvSpPr>
          <p:spPr bwMode="auto">
            <a:xfrm>
              <a:off x="2767430" y="3612681"/>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02" name="Oval 230"/>
            <p:cNvSpPr>
              <a:spLocks noChangeArrowheads="1"/>
            </p:cNvSpPr>
            <p:nvPr/>
          </p:nvSpPr>
          <p:spPr bwMode="auto">
            <a:xfrm>
              <a:off x="2774371" y="3604730"/>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03" name="Oval 231"/>
            <p:cNvSpPr>
              <a:spLocks noChangeArrowheads="1"/>
            </p:cNvSpPr>
            <p:nvPr/>
          </p:nvSpPr>
          <p:spPr bwMode="auto">
            <a:xfrm>
              <a:off x="2786268" y="3598767"/>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304" name="Oval 232"/>
            <p:cNvSpPr>
              <a:spLocks noChangeArrowheads="1"/>
            </p:cNvSpPr>
            <p:nvPr/>
          </p:nvSpPr>
          <p:spPr bwMode="auto">
            <a:xfrm>
              <a:off x="2793209" y="3590817"/>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305" name="Oval 233"/>
            <p:cNvSpPr>
              <a:spLocks noChangeArrowheads="1"/>
            </p:cNvSpPr>
            <p:nvPr/>
          </p:nvSpPr>
          <p:spPr bwMode="auto">
            <a:xfrm>
              <a:off x="2800149" y="3574916"/>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06" name="Oval 234"/>
            <p:cNvSpPr>
              <a:spLocks noChangeArrowheads="1"/>
            </p:cNvSpPr>
            <p:nvPr/>
          </p:nvSpPr>
          <p:spPr bwMode="auto">
            <a:xfrm>
              <a:off x="2813039" y="3567959"/>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07" name="Oval 235"/>
            <p:cNvSpPr>
              <a:spLocks noChangeArrowheads="1"/>
            </p:cNvSpPr>
            <p:nvPr/>
          </p:nvSpPr>
          <p:spPr bwMode="auto">
            <a:xfrm>
              <a:off x="2819979" y="3560008"/>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08" name="Oval 236"/>
            <p:cNvSpPr>
              <a:spLocks noChangeArrowheads="1"/>
            </p:cNvSpPr>
            <p:nvPr/>
          </p:nvSpPr>
          <p:spPr bwMode="auto">
            <a:xfrm>
              <a:off x="2832869" y="3552058"/>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09" name="Oval 237"/>
            <p:cNvSpPr>
              <a:spLocks noChangeArrowheads="1"/>
            </p:cNvSpPr>
            <p:nvPr/>
          </p:nvSpPr>
          <p:spPr bwMode="auto">
            <a:xfrm>
              <a:off x="2839809" y="3544107"/>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10" name="Oval 238"/>
            <p:cNvSpPr>
              <a:spLocks noChangeArrowheads="1"/>
            </p:cNvSpPr>
            <p:nvPr/>
          </p:nvSpPr>
          <p:spPr bwMode="auto">
            <a:xfrm>
              <a:off x="2846750" y="3529200"/>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11" name="Oval 239"/>
            <p:cNvSpPr>
              <a:spLocks noChangeArrowheads="1"/>
            </p:cNvSpPr>
            <p:nvPr/>
          </p:nvSpPr>
          <p:spPr bwMode="auto">
            <a:xfrm>
              <a:off x="2858648" y="3521250"/>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312" name="Oval 240"/>
            <p:cNvSpPr>
              <a:spLocks noChangeArrowheads="1"/>
            </p:cNvSpPr>
            <p:nvPr/>
          </p:nvSpPr>
          <p:spPr bwMode="auto">
            <a:xfrm>
              <a:off x="2865588" y="3513299"/>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13" name="Oval 241"/>
            <p:cNvSpPr>
              <a:spLocks noChangeArrowheads="1"/>
            </p:cNvSpPr>
            <p:nvPr/>
          </p:nvSpPr>
          <p:spPr bwMode="auto">
            <a:xfrm>
              <a:off x="2879469" y="3507336"/>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14" name="Oval 242"/>
            <p:cNvSpPr>
              <a:spLocks noChangeArrowheads="1"/>
            </p:cNvSpPr>
            <p:nvPr/>
          </p:nvSpPr>
          <p:spPr bwMode="auto">
            <a:xfrm>
              <a:off x="2885418" y="3499386"/>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15" name="Oval 243"/>
            <p:cNvSpPr>
              <a:spLocks noChangeArrowheads="1"/>
            </p:cNvSpPr>
            <p:nvPr/>
          </p:nvSpPr>
          <p:spPr bwMode="auto">
            <a:xfrm>
              <a:off x="2892358" y="3483484"/>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16" name="Oval 244"/>
            <p:cNvSpPr>
              <a:spLocks noChangeArrowheads="1"/>
            </p:cNvSpPr>
            <p:nvPr/>
          </p:nvSpPr>
          <p:spPr bwMode="auto">
            <a:xfrm>
              <a:off x="2906239" y="3476528"/>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17" name="Oval 245"/>
            <p:cNvSpPr>
              <a:spLocks noChangeArrowheads="1"/>
            </p:cNvSpPr>
            <p:nvPr/>
          </p:nvSpPr>
          <p:spPr bwMode="auto">
            <a:xfrm>
              <a:off x="2912188" y="3468577"/>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18" name="Oval 246"/>
            <p:cNvSpPr>
              <a:spLocks noChangeArrowheads="1"/>
            </p:cNvSpPr>
            <p:nvPr/>
          </p:nvSpPr>
          <p:spPr bwMode="auto">
            <a:xfrm>
              <a:off x="2925078" y="3460627"/>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319" name="Oval 247"/>
            <p:cNvSpPr>
              <a:spLocks noChangeArrowheads="1"/>
            </p:cNvSpPr>
            <p:nvPr/>
          </p:nvSpPr>
          <p:spPr bwMode="auto">
            <a:xfrm>
              <a:off x="2932018" y="3445719"/>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320" name="Oval 248"/>
            <p:cNvSpPr>
              <a:spLocks noChangeArrowheads="1"/>
            </p:cNvSpPr>
            <p:nvPr/>
          </p:nvSpPr>
          <p:spPr bwMode="auto">
            <a:xfrm>
              <a:off x="2937967" y="3437769"/>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21" name="Oval 249"/>
            <p:cNvSpPr>
              <a:spLocks noChangeArrowheads="1"/>
            </p:cNvSpPr>
            <p:nvPr/>
          </p:nvSpPr>
          <p:spPr bwMode="auto">
            <a:xfrm>
              <a:off x="2951848" y="3429818"/>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22" name="Oval 250"/>
            <p:cNvSpPr>
              <a:spLocks noChangeArrowheads="1"/>
            </p:cNvSpPr>
            <p:nvPr/>
          </p:nvSpPr>
          <p:spPr bwMode="auto">
            <a:xfrm>
              <a:off x="2958788" y="3415905"/>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23" name="Oval 251"/>
            <p:cNvSpPr>
              <a:spLocks noChangeArrowheads="1"/>
            </p:cNvSpPr>
            <p:nvPr/>
          </p:nvSpPr>
          <p:spPr bwMode="auto">
            <a:xfrm>
              <a:off x="2971678" y="3407954"/>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24" name="Oval 252"/>
            <p:cNvSpPr>
              <a:spLocks noChangeArrowheads="1"/>
            </p:cNvSpPr>
            <p:nvPr/>
          </p:nvSpPr>
          <p:spPr bwMode="auto">
            <a:xfrm>
              <a:off x="2978618" y="3400004"/>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25" name="Oval 253"/>
            <p:cNvSpPr>
              <a:spLocks noChangeArrowheads="1"/>
            </p:cNvSpPr>
            <p:nvPr/>
          </p:nvSpPr>
          <p:spPr bwMode="auto">
            <a:xfrm>
              <a:off x="2985559" y="3392053"/>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26" name="Oval 254"/>
            <p:cNvSpPr>
              <a:spLocks noChangeArrowheads="1"/>
            </p:cNvSpPr>
            <p:nvPr/>
          </p:nvSpPr>
          <p:spPr bwMode="auto">
            <a:xfrm>
              <a:off x="2997457" y="3377146"/>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327" name="Oval 255"/>
            <p:cNvSpPr>
              <a:spLocks noChangeArrowheads="1"/>
            </p:cNvSpPr>
            <p:nvPr/>
          </p:nvSpPr>
          <p:spPr bwMode="auto">
            <a:xfrm>
              <a:off x="3004397" y="3369195"/>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328" name="Oval 256"/>
            <p:cNvSpPr>
              <a:spLocks noChangeArrowheads="1"/>
            </p:cNvSpPr>
            <p:nvPr/>
          </p:nvSpPr>
          <p:spPr bwMode="auto">
            <a:xfrm>
              <a:off x="3017287" y="3361245"/>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29" name="Oval 257"/>
            <p:cNvSpPr>
              <a:spLocks noChangeArrowheads="1"/>
            </p:cNvSpPr>
            <p:nvPr/>
          </p:nvSpPr>
          <p:spPr bwMode="auto">
            <a:xfrm>
              <a:off x="3024227" y="3346338"/>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30" name="Oval 258"/>
            <p:cNvSpPr>
              <a:spLocks noChangeArrowheads="1"/>
            </p:cNvSpPr>
            <p:nvPr/>
          </p:nvSpPr>
          <p:spPr bwMode="auto">
            <a:xfrm>
              <a:off x="3031168" y="3338387"/>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31" name="Oval 259"/>
            <p:cNvSpPr>
              <a:spLocks noChangeArrowheads="1"/>
            </p:cNvSpPr>
            <p:nvPr/>
          </p:nvSpPr>
          <p:spPr bwMode="auto">
            <a:xfrm>
              <a:off x="3044057" y="3330436"/>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32" name="Oval 260"/>
            <p:cNvSpPr>
              <a:spLocks noChangeArrowheads="1"/>
            </p:cNvSpPr>
            <p:nvPr/>
          </p:nvSpPr>
          <p:spPr bwMode="auto">
            <a:xfrm>
              <a:off x="3050997" y="3315529"/>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33" name="Oval 261"/>
            <p:cNvSpPr>
              <a:spLocks noChangeArrowheads="1"/>
            </p:cNvSpPr>
            <p:nvPr/>
          </p:nvSpPr>
          <p:spPr bwMode="auto">
            <a:xfrm>
              <a:off x="3064878" y="3307579"/>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34" name="Oval 262"/>
            <p:cNvSpPr>
              <a:spLocks noChangeArrowheads="1"/>
            </p:cNvSpPr>
            <p:nvPr/>
          </p:nvSpPr>
          <p:spPr bwMode="auto">
            <a:xfrm>
              <a:off x="3069836" y="3293665"/>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335" name="Oval 263"/>
            <p:cNvSpPr>
              <a:spLocks noChangeArrowheads="1"/>
            </p:cNvSpPr>
            <p:nvPr/>
          </p:nvSpPr>
          <p:spPr bwMode="auto">
            <a:xfrm>
              <a:off x="3076776" y="3285715"/>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336" name="Oval 264"/>
            <p:cNvSpPr>
              <a:spLocks noChangeArrowheads="1"/>
            </p:cNvSpPr>
            <p:nvPr/>
          </p:nvSpPr>
          <p:spPr bwMode="auto">
            <a:xfrm>
              <a:off x="3090657" y="3277764"/>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37" name="Oval 265"/>
            <p:cNvSpPr>
              <a:spLocks noChangeArrowheads="1"/>
            </p:cNvSpPr>
            <p:nvPr/>
          </p:nvSpPr>
          <p:spPr bwMode="auto">
            <a:xfrm>
              <a:off x="3096606" y="3262857"/>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38" name="Oval 266"/>
            <p:cNvSpPr>
              <a:spLocks noChangeArrowheads="1"/>
            </p:cNvSpPr>
            <p:nvPr/>
          </p:nvSpPr>
          <p:spPr bwMode="auto">
            <a:xfrm>
              <a:off x="3110487" y="3254906"/>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39" name="Oval 267"/>
            <p:cNvSpPr>
              <a:spLocks noChangeArrowheads="1"/>
            </p:cNvSpPr>
            <p:nvPr/>
          </p:nvSpPr>
          <p:spPr bwMode="auto">
            <a:xfrm>
              <a:off x="3117428" y="3239005"/>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40" name="Oval 268"/>
            <p:cNvSpPr>
              <a:spLocks noChangeArrowheads="1"/>
            </p:cNvSpPr>
            <p:nvPr/>
          </p:nvSpPr>
          <p:spPr bwMode="auto">
            <a:xfrm>
              <a:off x="3123377" y="3232048"/>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41" name="Oval 269"/>
            <p:cNvSpPr>
              <a:spLocks noChangeArrowheads="1"/>
            </p:cNvSpPr>
            <p:nvPr/>
          </p:nvSpPr>
          <p:spPr bwMode="auto">
            <a:xfrm>
              <a:off x="3137257" y="3224098"/>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42" name="Oval 270"/>
            <p:cNvSpPr>
              <a:spLocks noChangeArrowheads="1"/>
            </p:cNvSpPr>
            <p:nvPr/>
          </p:nvSpPr>
          <p:spPr bwMode="auto">
            <a:xfrm>
              <a:off x="3143206" y="3208197"/>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343" name="Oval 271"/>
            <p:cNvSpPr>
              <a:spLocks noChangeArrowheads="1"/>
            </p:cNvSpPr>
            <p:nvPr/>
          </p:nvSpPr>
          <p:spPr bwMode="auto">
            <a:xfrm>
              <a:off x="3156096" y="3202234"/>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44" name="Oval 272"/>
            <p:cNvSpPr>
              <a:spLocks noChangeArrowheads="1"/>
            </p:cNvSpPr>
            <p:nvPr/>
          </p:nvSpPr>
          <p:spPr bwMode="auto">
            <a:xfrm>
              <a:off x="3163036" y="3186333"/>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45" name="Oval 273"/>
            <p:cNvSpPr>
              <a:spLocks noChangeArrowheads="1"/>
            </p:cNvSpPr>
            <p:nvPr/>
          </p:nvSpPr>
          <p:spPr bwMode="auto">
            <a:xfrm>
              <a:off x="3169977" y="3178382"/>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46" name="Oval 274"/>
            <p:cNvSpPr>
              <a:spLocks noChangeArrowheads="1"/>
            </p:cNvSpPr>
            <p:nvPr/>
          </p:nvSpPr>
          <p:spPr bwMode="auto">
            <a:xfrm>
              <a:off x="3182866" y="3163475"/>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47" name="Oval 275"/>
            <p:cNvSpPr>
              <a:spLocks noChangeArrowheads="1"/>
            </p:cNvSpPr>
            <p:nvPr/>
          </p:nvSpPr>
          <p:spPr bwMode="auto">
            <a:xfrm>
              <a:off x="3189807" y="3155524"/>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48" name="Oval 276"/>
            <p:cNvSpPr>
              <a:spLocks noChangeArrowheads="1"/>
            </p:cNvSpPr>
            <p:nvPr/>
          </p:nvSpPr>
          <p:spPr bwMode="auto">
            <a:xfrm>
              <a:off x="3202696" y="3140617"/>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49" name="Oval 277"/>
            <p:cNvSpPr>
              <a:spLocks noChangeArrowheads="1"/>
            </p:cNvSpPr>
            <p:nvPr/>
          </p:nvSpPr>
          <p:spPr bwMode="auto">
            <a:xfrm>
              <a:off x="3208645" y="3132667"/>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350" name="Oval 278"/>
            <p:cNvSpPr>
              <a:spLocks noChangeArrowheads="1"/>
            </p:cNvSpPr>
            <p:nvPr/>
          </p:nvSpPr>
          <p:spPr bwMode="auto">
            <a:xfrm>
              <a:off x="3215585" y="3124716"/>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351" name="Oval 279"/>
            <p:cNvSpPr>
              <a:spLocks noChangeArrowheads="1"/>
            </p:cNvSpPr>
            <p:nvPr/>
          </p:nvSpPr>
          <p:spPr bwMode="auto">
            <a:xfrm>
              <a:off x="3228475" y="3110803"/>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52" name="Oval 280"/>
            <p:cNvSpPr>
              <a:spLocks noChangeArrowheads="1"/>
            </p:cNvSpPr>
            <p:nvPr/>
          </p:nvSpPr>
          <p:spPr bwMode="auto">
            <a:xfrm>
              <a:off x="3235415" y="3101858"/>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53" name="Oval 281"/>
            <p:cNvSpPr>
              <a:spLocks noChangeArrowheads="1"/>
            </p:cNvSpPr>
            <p:nvPr/>
          </p:nvSpPr>
          <p:spPr bwMode="auto">
            <a:xfrm>
              <a:off x="3249296" y="3085957"/>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54" name="Oval 282"/>
            <p:cNvSpPr>
              <a:spLocks noChangeArrowheads="1"/>
            </p:cNvSpPr>
            <p:nvPr/>
          </p:nvSpPr>
          <p:spPr bwMode="auto">
            <a:xfrm>
              <a:off x="3255245" y="3072044"/>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55" name="Oval 283"/>
            <p:cNvSpPr>
              <a:spLocks noChangeArrowheads="1"/>
            </p:cNvSpPr>
            <p:nvPr/>
          </p:nvSpPr>
          <p:spPr bwMode="auto">
            <a:xfrm>
              <a:off x="3262186" y="3064093"/>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56" name="Oval 284"/>
            <p:cNvSpPr>
              <a:spLocks noChangeArrowheads="1"/>
            </p:cNvSpPr>
            <p:nvPr/>
          </p:nvSpPr>
          <p:spPr bwMode="auto">
            <a:xfrm>
              <a:off x="3276067" y="3049186"/>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57" name="Oval 285"/>
            <p:cNvSpPr>
              <a:spLocks noChangeArrowheads="1"/>
            </p:cNvSpPr>
            <p:nvPr/>
          </p:nvSpPr>
          <p:spPr bwMode="auto">
            <a:xfrm>
              <a:off x="3281024" y="3041235"/>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358" name="Oval 286"/>
            <p:cNvSpPr>
              <a:spLocks noChangeArrowheads="1"/>
            </p:cNvSpPr>
            <p:nvPr/>
          </p:nvSpPr>
          <p:spPr bwMode="auto">
            <a:xfrm>
              <a:off x="3287965" y="3025334"/>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359" name="Oval 287"/>
            <p:cNvSpPr>
              <a:spLocks noChangeArrowheads="1"/>
            </p:cNvSpPr>
            <p:nvPr/>
          </p:nvSpPr>
          <p:spPr bwMode="auto">
            <a:xfrm>
              <a:off x="3301845" y="3018378"/>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360" name="Oval 288"/>
            <p:cNvSpPr>
              <a:spLocks noChangeArrowheads="1"/>
            </p:cNvSpPr>
            <p:nvPr/>
          </p:nvSpPr>
          <p:spPr bwMode="auto">
            <a:xfrm>
              <a:off x="3307794" y="3002476"/>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61" name="Oval 289"/>
            <p:cNvSpPr>
              <a:spLocks noChangeArrowheads="1"/>
            </p:cNvSpPr>
            <p:nvPr/>
          </p:nvSpPr>
          <p:spPr bwMode="auto">
            <a:xfrm>
              <a:off x="3321675" y="2994526"/>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62" name="Oval 290"/>
            <p:cNvSpPr>
              <a:spLocks noChangeArrowheads="1"/>
            </p:cNvSpPr>
            <p:nvPr/>
          </p:nvSpPr>
          <p:spPr bwMode="auto">
            <a:xfrm>
              <a:off x="3328616" y="2980612"/>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63" name="Oval 291"/>
            <p:cNvSpPr>
              <a:spLocks noChangeArrowheads="1"/>
            </p:cNvSpPr>
            <p:nvPr/>
          </p:nvSpPr>
          <p:spPr bwMode="auto">
            <a:xfrm>
              <a:off x="3334565" y="2972662"/>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64" name="Oval 292"/>
            <p:cNvSpPr>
              <a:spLocks noChangeArrowheads="1"/>
            </p:cNvSpPr>
            <p:nvPr/>
          </p:nvSpPr>
          <p:spPr bwMode="auto">
            <a:xfrm>
              <a:off x="3348446" y="2957755"/>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65" name="Oval 293"/>
            <p:cNvSpPr>
              <a:spLocks noChangeArrowheads="1"/>
            </p:cNvSpPr>
            <p:nvPr/>
          </p:nvSpPr>
          <p:spPr bwMode="auto">
            <a:xfrm>
              <a:off x="3355386" y="2941854"/>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66" name="Oval 294"/>
            <p:cNvSpPr>
              <a:spLocks noChangeArrowheads="1"/>
            </p:cNvSpPr>
            <p:nvPr/>
          </p:nvSpPr>
          <p:spPr bwMode="auto">
            <a:xfrm>
              <a:off x="3367284" y="2934897"/>
              <a:ext cx="53541" cy="59629"/>
            </a:xfrm>
            <a:prstGeom prst="ellipse">
              <a:avLst/>
            </a:prstGeom>
            <a:noFill/>
            <a:ln w="0">
              <a:solidFill>
                <a:srgbClr val="0000FF"/>
              </a:solidFill>
              <a:round/>
              <a:headEnd/>
              <a:tailEnd/>
            </a:ln>
          </p:spPr>
          <p:txBody>
            <a:bodyPr/>
            <a:lstStyle/>
            <a:p>
              <a:pPr eaLnBrk="1" hangingPunct="1"/>
              <a:endParaRPr lang="en-US" altLang="en-US"/>
            </a:p>
          </p:txBody>
        </p:sp>
        <p:sp>
          <p:nvSpPr>
            <p:cNvPr id="3367" name="Oval 295"/>
            <p:cNvSpPr>
              <a:spLocks noChangeArrowheads="1"/>
            </p:cNvSpPr>
            <p:nvPr/>
          </p:nvSpPr>
          <p:spPr bwMode="auto">
            <a:xfrm>
              <a:off x="3374225" y="2918996"/>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368" name="Oval 296"/>
            <p:cNvSpPr>
              <a:spLocks noChangeArrowheads="1"/>
            </p:cNvSpPr>
            <p:nvPr/>
          </p:nvSpPr>
          <p:spPr bwMode="auto">
            <a:xfrm>
              <a:off x="3381165" y="2911045"/>
              <a:ext cx="51558" cy="61617"/>
            </a:xfrm>
            <a:prstGeom prst="ellipse">
              <a:avLst/>
            </a:prstGeom>
            <a:noFill/>
            <a:ln w="0">
              <a:solidFill>
                <a:srgbClr val="0000FF"/>
              </a:solidFill>
              <a:round/>
              <a:headEnd/>
              <a:tailEnd/>
            </a:ln>
          </p:spPr>
          <p:txBody>
            <a:bodyPr/>
            <a:lstStyle/>
            <a:p>
              <a:pPr eaLnBrk="1" hangingPunct="1"/>
              <a:endParaRPr lang="en-US" altLang="en-US"/>
            </a:p>
          </p:txBody>
        </p:sp>
        <p:sp>
          <p:nvSpPr>
            <p:cNvPr id="3369" name="Oval 297"/>
            <p:cNvSpPr>
              <a:spLocks noChangeArrowheads="1"/>
            </p:cNvSpPr>
            <p:nvPr/>
          </p:nvSpPr>
          <p:spPr bwMode="auto">
            <a:xfrm>
              <a:off x="3394054" y="2897132"/>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70" name="Oval 298"/>
            <p:cNvSpPr>
              <a:spLocks noChangeArrowheads="1"/>
            </p:cNvSpPr>
            <p:nvPr/>
          </p:nvSpPr>
          <p:spPr bwMode="auto">
            <a:xfrm>
              <a:off x="3400995" y="2881231"/>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71" name="Oval 299"/>
            <p:cNvSpPr>
              <a:spLocks noChangeArrowheads="1"/>
            </p:cNvSpPr>
            <p:nvPr/>
          </p:nvSpPr>
          <p:spPr bwMode="auto">
            <a:xfrm>
              <a:off x="3413884" y="2874274"/>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72" name="Oval 300"/>
            <p:cNvSpPr>
              <a:spLocks noChangeArrowheads="1"/>
            </p:cNvSpPr>
            <p:nvPr/>
          </p:nvSpPr>
          <p:spPr bwMode="auto">
            <a:xfrm>
              <a:off x="3420825" y="2858373"/>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73" name="Oval 301"/>
            <p:cNvSpPr>
              <a:spLocks noChangeArrowheads="1"/>
            </p:cNvSpPr>
            <p:nvPr/>
          </p:nvSpPr>
          <p:spPr bwMode="auto">
            <a:xfrm>
              <a:off x="3427765" y="2843466"/>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74" name="Oval 302"/>
            <p:cNvSpPr>
              <a:spLocks noChangeArrowheads="1"/>
            </p:cNvSpPr>
            <p:nvPr/>
          </p:nvSpPr>
          <p:spPr bwMode="auto">
            <a:xfrm>
              <a:off x="3439663" y="2835515"/>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375" name="Oval 303"/>
            <p:cNvSpPr>
              <a:spLocks noChangeArrowheads="1"/>
            </p:cNvSpPr>
            <p:nvPr/>
          </p:nvSpPr>
          <p:spPr bwMode="auto">
            <a:xfrm>
              <a:off x="3446604" y="2819614"/>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76" name="Oval 304"/>
            <p:cNvSpPr>
              <a:spLocks noChangeArrowheads="1"/>
            </p:cNvSpPr>
            <p:nvPr/>
          </p:nvSpPr>
          <p:spPr bwMode="auto">
            <a:xfrm>
              <a:off x="3459493" y="2804707"/>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77" name="Oval 305"/>
            <p:cNvSpPr>
              <a:spLocks noChangeArrowheads="1"/>
            </p:cNvSpPr>
            <p:nvPr/>
          </p:nvSpPr>
          <p:spPr bwMode="auto">
            <a:xfrm>
              <a:off x="3466434" y="2796756"/>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78" name="Oval 306"/>
            <p:cNvSpPr>
              <a:spLocks noChangeArrowheads="1"/>
            </p:cNvSpPr>
            <p:nvPr/>
          </p:nvSpPr>
          <p:spPr bwMode="auto">
            <a:xfrm>
              <a:off x="3473374" y="2782843"/>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79" name="Oval 307"/>
            <p:cNvSpPr>
              <a:spLocks noChangeArrowheads="1"/>
            </p:cNvSpPr>
            <p:nvPr/>
          </p:nvSpPr>
          <p:spPr bwMode="auto">
            <a:xfrm>
              <a:off x="3486263" y="2766942"/>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80" name="Oval 308"/>
            <p:cNvSpPr>
              <a:spLocks noChangeArrowheads="1"/>
            </p:cNvSpPr>
            <p:nvPr/>
          </p:nvSpPr>
          <p:spPr bwMode="auto">
            <a:xfrm>
              <a:off x="3493204" y="2758991"/>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81" name="Oval 309"/>
            <p:cNvSpPr>
              <a:spLocks noChangeArrowheads="1"/>
            </p:cNvSpPr>
            <p:nvPr/>
          </p:nvSpPr>
          <p:spPr bwMode="auto">
            <a:xfrm>
              <a:off x="3506093" y="2744084"/>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382" name="Oval 310"/>
            <p:cNvSpPr>
              <a:spLocks noChangeArrowheads="1"/>
            </p:cNvSpPr>
            <p:nvPr/>
          </p:nvSpPr>
          <p:spPr bwMode="auto">
            <a:xfrm>
              <a:off x="3512042" y="2728183"/>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383" name="Oval 311"/>
            <p:cNvSpPr>
              <a:spLocks noChangeArrowheads="1"/>
            </p:cNvSpPr>
            <p:nvPr/>
          </p:nvSpPr>
          <p:spPr bwMode="auto">
            <a:xfrm>
              <a:off x="3518983" y="2713275"/>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84" name="Oval 312"/>
            <p:cNvSpPr>
              <a:spLocks noChangeArrowheads="1"/>
            </p:cNvSpPr>
            <p:nvPr/>
          </p:nvSpPr>
          <p:spPr bwMode="auto">
            <a:xfrm>
              <a:off x="3532864" y="2705325"/>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85" name="Oval 313"/>
            <p:cNvSpPr>
              <a:spLocks noChangeArrowheads="1"/>
            </p:cNvSpPr>
            <p:nvPr/>
          </p:nvSpPr>
          <p:spPr bwMode="auto">
            <a:xfrm>
              <a:off x="3538813" y="2691411"/>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86" name="Oval 314"/>
            <p:cNvSpPr>
              <a:spLocks noChangeArrowheads="1"/>
            </p:cNvSpPr>
            <p:nvPr/>
          </p:nvSpPr>
          <p:spPr bwMode="auto">
            <a:xfrm>
              <a:off x="3552694" y="267551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87" name="Oval 315"/>
            <p:cNvSpPr>
              <a:spLocks noChangeArrowheads="1"/>
            </p:cNvSpPr>
            <p:nvPr/>
          </p:nvSpPr>
          <p:spPr bwMode="auto">
            <a:xfrm>
              <a:off x="3559634" y="266756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88" name="Oval 316"/>
            <p:cNvSpPr>
              <a:spLocks noChangeArrowheads="1"/>
            </p:cNvSpPr>
            <p:nvPr/>
          </p:nvSpPr>
          <p:spPr bwMode="auto">
            <a:xfrm>
              <a:off x="3565583" y="2652652"/>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89" name="Oval 317"/>
            <p:cNvSpPr>
              <a:spLocks noChangeArrowheads="1"/>
            </p:cNvSpPr>
            <p:nvPr/>
          </p:nvSpPr>
          <p:spPr bwMode="auto">
            <a:xfrm>
              <a:off x="3578472" y="2636751"/>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390" name="Oval 318"/>
            <p:cNvSpPr>
              <a:spLocks noChangeArrowheads="1"/>
            </p:cNvSpPr>
            <p:nvPr/>
          </p:nvSpPr>
          <p:spPr bwMode="auto">
            <a:xfrm>
              <a:off x="3585413" y="2621844"/>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391" name="Oval 319"/>
            <p:cNvSpPr>
              <a:spLocks noChangeArrowheads="1"/>
            </p:cNvSpPr>
            <p:nvPr/>
          </p:nvSpPr>
          <p:spPr bwMode="auto">
            <a:xfrm>
              <a:off x="3598302" y="2605943"/>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92" name="Oval 320"/>
            <p:cNvSpPr>
              <a:spLocks noChangeArrowheads="1"/>
            </p:cNvSpPr>
            <p:nvPr/>
          </p:nvSpPr>
          <p:spPr bwMode="auto">
            <a:xfrm>
              <a:off x="3605243" y="2598986"/>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93" name="Oval 321"/>
            <p:cNvSpPr>
              <a:spLocks noChangeArrowheads="1"/>
            </p:cNvSpPr>
            <p:nvPr/>
          </p:nvSpPr>
          <p:spPr bwMode="auto">
            <a:xfrm>
              <a:off x="3612183" y="2583085"/>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394" name="Oval 322"/>
            <p:cNvSpPr>
              <a:spLocks noChangeArrowheads="1"/>
            </p:cNvSpPr>
            <p:nvPr/>
          </p:nvSpPr>
          <p:spPr bwMode="auto">
            <a:xfrm>
              <a:off x="3625073" y="2569172"/>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95" name="Oval 323"/>
            <p:cNvSpPr>
              <a:spLocks noChangeArrowheads="1"/>
            </p:cNvSpPr>
            <p:nvPr/>
          </p:nvSpPr>
          <p:spPr bwMode="auto">
            <a:xfrm>
              <a:off x="3632013" y="2553271"/>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396" name="Oval 324"/>
            <p:cNvSpPr>
              <a:spLocks noChangeArrowheads="1"/>
            </p:cNvSpPr>
            <p:nvPr/>
          </p:nvSpPr>
          <p:spPr bwMode="auto">
            <a:xfrm>
              <a:off x="3643911" y="2538363"/>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397" name="Oval 325"/>
            <p:cNvSpPr>
              <a:spLocks noChangeArrowheads="1"/>
            </p:cNvSpPr>
            <p:nvPr/>
          </p:nvSpPr>
          <p:spPr bwMode="auto">
            <a:xfrm>
              <a:off x="3650851" y="2530413"/>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398" name="Oval 326"/>
            <p:cNvSpPr>
              <a:spLocks noChangeArrowheads="1"/>
            </p:cNvSpPr>
            <p:nvPr/>
          </p:nvSpPr>
          <p:spPr bwMode="auto">
            <a:xfrm>
              <a:off x="3657792" y="2514512"/>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399" name="Oval 327"/>
            <p:cNvSpPr>
              <a:spLocks noChangeArrowheads="1"/>
            </p:cNvSpPr>
            <p:nvPr/>
          </p:nvSpPr>
          <p:spPr bwMode="auto">
            <a:xfrm>
              <a:off x="3670681" y="2499604"/>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400" name="Oval 328"/>
            <p:cNvSpPr>
              <a:spLocks noChangeArrowheads="1"/>
            </p:cNvSpPr>
            <p:nvPr/>
          </p:nvSpPr>
          <p:spPr bwMode="auto">
            <a:xfrm>
              <a:off x="3677622" y="2483703"/>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401" name="Oval 329"/>
            <p:cNvSpPr>
              <a:spLocks noChangeArrowheads="1"/>
            </p:cNvSpPr>
            <p:nvPr/>
          </p:nvSpPr>
          <p:spPr bwMode="auto">
            <a:xfrm>
              <a:off x="3691503" y="246979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02" name="Oval 330"/>
            <p:cNvSpPr>
              <a:spLocks noChangeArrowheads="1"/>
            </p:cNvSpPr>
            <p:nvPr/>
          </p:nvSpPr>
          <p:spPr bwMode="auto">
            <a:xfrm>
              <a:off x="3697452" y="2453889"/>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03" name="Oval 331"/>
            <p:cNvSpPr>
              <a:spLocks noChangeArrowheads="1"/>
            </p:cNvSpPr>
            <p:nvPr/>
          </p:nvSpPr>
          <p:spPr bwMode="auto">
            <a:xfrm>
              <a:off x="3704392" y="2446932"/>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04" name="Oval 332"/>
            <p:cNvSpPr>
              <a:spLocks noChangeArrowheads="1"/>
            </p:cNvSpPr>
            <p:nvPr/>
          </p:nvSpPr>
          <p:spPr bwMode="auto">
            <a:xfrm>
              <a:off x="3718273" y="2431031"/>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05" name="Oval 333"/>
            <p:cNvSpPr>
              <a:spLocks noChangeArrowheads="1"/>
            </p:cNvSpPr>
            <p:nvPr/>
          </p:nvSpPr>
          <p:spPr bwMode="auto">
            <a:xfrm>
              <a:off x="3723231" y="2416124"/>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406" name="Oval 334"/>
            <p:cNvSpPr>
              <a:spLocks noChangeArrowheads="1"/>
            </p:cNvSpPr>
            <p:nvPr/>
          </p:nvSpPr>
          <p:spPr bwMode="auto">
            <a:xfrm>
              <a:off x="3737111" y="2400223"/>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407" name="Oval 335"/>
            <p:cNvSpPr>
              <a:spLocks noChangeArrowheads="1"/>
            </p:cNvSpPr>
            <p:nvPr/>
          </p:nvSpPr>
          <p:spPr bwMode="auto">
            <a:xfrm>
              <a:off x="3744052" y="2386309"/>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08" name="Oval 336"/>
            <p:cNvSpPr>
              <a:spLocks noChangeArrowheads="1"/>
            </p:cNvSpPr>
            <p:nvPr/>
          </p:nvSpPr>
          <p:spPr bwMode="auto">
            <a:xfrm>
              <a:off x="3750001" y="2370408"/>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09" name="Oval 337"/>
            <p:cNvSpPr>
              <a:spLocks noChangeArrowheads="1"/>
            </p:cNvSpPr>
            <p:nvPr/>
          </p:nvSpPr>
          <p:spPr bwMode="auto">
            <a:xfrm>
              <a:off x="3763882" y="2355501"/>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10" name="Oval 338"/>
            <p:cNvSpPr>
              <a:spLocks noChangeArrowheads="1"/>
            </p:cNvSpPr>
            <p:nvPr/>
          </p:nvSpPr>
          <p:spPr bwMode="auto">
            <a:xfrm>
              <a:off x="3770822" y="233960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11" name="Oval 339"/>
            <p:cNvSpPr>
              <a:spLocks noChangeArrowheads="1"/>
            </p:cNvSpPr>
            <p:nvPr/>
          </p:nvSpPr>
          <p:spPr bwMode="auto">
            <a:xfrm>
              <a:off x="3783712" y="2324692"/>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412" name="Oval 340"/>
            <p:cNvSpPr>
              <a:spLocks noChangeArrowheads="1"/>
            </p:cNvSpPr>
            <p:nvPr/>
          </p:nvSpPr>
          <p:spPr bwMode="auto">
            <a:xfrm>
              <a:off x="3789661" y="2308791"/>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413" name="Oval 341"/>
            <p:cNvSpPr>
              <a:spLocks noChangeArrowheads="1"/>
            </p:cNvSpPr>
            <p:nvPr/>
          </p:nvSpPr>
          <p:spPr bwMode="auto">
            <a:xfrm>
              <a:off x="3796601" y="2300841"/>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414" name="Oval 342"/>
            <p:cNvSpPr>
              <a:spLocks noChangeArrowheads="1"/>
            </p:cNvSpPr>
            <p:nvPr/>
          </p:nvSpPr>
          <p:spPr bwMode="auto">
            <a:xfrm>
              <a:off x="3809491" y="2285933"/>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415" name="Oval 343"/>
            <p:cNvSpPr>
              <a:spLocks noChangeArrowheads="1"/>
            </p:cNvSpPr>
            <p:nvPr/>
          </p:nvSpPr>
          <p:spPr bwMode="auto">
            <a:xfrm>
              <a:off x="3816431" y="2272020"/>
              <a:ext cx="52549" cy="59629"/>
            </a:xfrm>
            <a:prstGeom prst="ellipse">
              <a:avLst/>
            </a:prstGeom>
            <a:noFill/>
            <a:ln w="0">
              <a:solidFill>
                <a:srgbClr val="0000FF"/>
              </a:solidFill>
              <a:round/>
              <a:headEnd/>
              <a:tailEnd/>
            </a:ln>
          </p:spPr>
          <p:txBody>
            <a:bodyPr/>
            <a:lstStyle/>
            <a:p>
              <a:pPr eaLnBrk="1" hangingPunct="1"/>
              <a:endParaRPr lang="en-US" altLang="en-US"/>
            </a:p>
          </p:txBody>
        </p:sp>
        <p:sp>
          <p:nvSpPr>
            <p:cNvPr id="3416" name="Oval 344"/>
            <p:cNvSpPr>
              <a:spLocks noChangeArrowheads="1"/>
            </p:cNvSpPr>
            <p:nvPr/>
          </p:nvSpPr>
          <p:spPr bwMode="auto">
            <a:xfrm>
              <a:off x="3829320" y="2256119"/>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17" name="Oval 345"/>
            <p:cNvSpPr>
              <a:spLocks noChangeArrowheads="1"/>
            </p:cNvSpPr>
            <p:nvPr/>
          </p:nvSpPr>
          <p:spPr bwMode="auto">
            <a:xfrm>
              <a:off x="3836261" y="2241212"/>
              <a:ext cx="52549" cy="59629"/>
            </a:xfrm>
            <a:prstGeom prst="ellipse">
              <a:avLst/>
            </a:prstGeom>
            <a:noFill/>
            <a:ln w="0">
              <a:solidFill>
                <a:srgbClr val="0000FF"/>
              </a:solidFill>
              <a:round/>
              <a:headEnd/>
              <a:tailEnd/>
            </a:ln>
          </p:spPr>
          <p:txBody>
            <a:bodyPr/>
            <a:lstStyle/>
            <a:p>
              <a:pPr eaLnBrk="1" hangingPunct="1"/>
              <a:endParaRPr lang="en-US" altLang="en-US"/>
            </a:p>
          </p:txBody>
        </p:sp>
        <p:sp>
          <p:nvSpPr>
            <p:cNvPr id="3418" name="Oval 346"/>
            <p:cNvSpPr>
              <a:spLocks noChangeArrowheads="1"/>
            </p:cNvSpPr>
            <p:nvPr/>
          </p:nvSpPr>
          <p:spPr bwMode="auto">
            <a:xfrm>
              <a:off x="3843201" y="2225311"/>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19" name="Oval 347"/>
            <p:cNvSpPr>
              <a:spLocks noChangeArrowheads="1"/>
            </p:cNvSpPr>
            <p:nvPr/>
          </p:nvSpPr>
          <p:spPr bwMode="auto">
            <a:xfrm>
              <a:off x="3856091" y="2210403"/>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420" name="Oval 348"/>
            <p:cNvSpPr>
              <a:spLocks noChangeArrowheads="1"/>
            </p:cNvSpPr>
            <p:nvPr/>
          </p:nvSpPr>
          <p:spPr bwMode="auto">
            <a:xfrm>
              <a:off x="3862040" y="2194502"/>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421" name="Oval 349"/>
            <p:cNvSpPr>
              <a:spLocks noChangeArrowheads="1"/>
            </p:cNvSpPr>
            <p:nvPr/>
          </p:nvSpPr>
          <p:spPr bwMode="auto">
            <a:xfrm>
              <a:off x="3868980" y="2180589"/>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422" name="Oval 350"/>
            <p:cNvSpPr>
              <a:spLocks noChangeArrowheads="1"/>
            </p:cNvSpPr>
            <p:nvPr/>
          </p:nvSpPr>
          <p:spPr bwMode="auto">
            <a:xfrm>
              <a:off x="3881870" y="2164688"/>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23" name="Oval 351"/>
            <p:cNvSpPr>
              <a:spLocks noChangeArrowheads="1"/>
            </p:cNvSpPr>
            <p:nvPr/>
          </p:nvSpPr>
          <p:spPr bwMode="auto">
            <a:xfrm>
              <a:off x="3888810" y="2149780"/>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24" name="Oval 352"/>
            <p:cNvSpPr>
              <a:spLocks noChangeArrowheads="1"/>
            </p:cNvSpPr>
            <p:nvPr/>
          </p:nvSpPr>
          <p:spPr bwMode="auto">
            <a:xfrm>
              <a:off x="3902691" y="2133879"/>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25" name="Oval 353"/>
            <p:cNvSpPr>
              <a:spLocks noChangeArrowheads="1"/>
            </p:cNvSpPr>
            <p:nvPr/>
          </p:nvSpPr>
          <p:spPr bwMode="auto">
            <a:xfrm>
              <a:off x="3908640" y="2118972"/>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426" name="Oval 354"/>
            <p:cNvSpPr>
              <a:spLocks noChangeArrowheads="1"/>
            </p:cNvSpPr>
            <p:nvPr/>
          </p:nvSpPr>
          <p:spPr bwMode="auto">
            <a:xfrm>
              <a:off x="3915580" y="2103071"/>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427" name="Oval 355"/>
            <p:cNvSpPr>
              <a:spLocks noChangeArrowheads="1"/>
            </p:cNvSpPr>
            <p:nvPr/>
          </p:nvSpPr>
          <p:spPr bwMode="auto">
            <a:xfrm>
              <a:off x="3929461" y="2088164"/>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428" name="Oval 356"/>
            <p:cNvSpPr>
              <a:spLocks noChangeArrowheads="1"/>
            </p:cNvSpPr>
            <p:nvPr/>
          </p:nvSpPr>
          <p:spPr bwMode="auto">
            <a:xfrm>
              <a:off x="3934419" y="2072263"/>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429" name="Oval 357"/>
            <p:cNvSpPr>
              <a:spLocks noChangeArrowheads="1"/>
            </p:cNvSpPr>
            <p:nvPr/>
          </p:nvSpPr>
          <p:spPr bwMode="auto">
            <a:xfrm>
              <a:off x="3948300" y="2058349"/>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430" name="Oval 358"/>
            <p:cNvSpPr>
              <a:spLocks noChangeArrowheads="1"/>
            </p:cNvSpPr>
            <p:nvPr/>
          </p:nvSpPr>
          <p:spPr bwMode="auto">
            <a:xfrm>
              <a:off x="3955240" y="2042448"/>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431" name="Oval 359"/>
            <p:cNvSpPr>
              <a:spLocks noChangeArrowheads="1"/>
            </p:cNvSpPr>
            <p:nvPr/>
          </p:nvSpPr>
          <p:spPr bwMode="auto">
            <a:xfrm>
              <a:off x="3961189" y="2027541"/>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32" name="Oval 360"/>
            <p:cNvSpPr>
              <a:spLocks noChangeArrowheads="1"/>
            </p:cNvSpPr>
            <p:nvPr/>
          </p:nvSpPr>
          <p:spPr bwMode="auto">
            <a:xfrm>
              <a:off x="3975070" y="2003689"/>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33" name="Oval 361"/>
            <p:cNvSpPr>
              <a:spLocks noChangeArrowheads="1"/>
            </p:cNvSpPr>
            <p:nvPr/>
          </p:nvSpPr>
          <p:spPr bwMode="auto">
            <a:xfrm>
              <a:off x="3982011" y="1988782"/>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434" name="Oval 362"/>
            <p:cNvSpPr>
              <a:spLocks noChangeArrowheads="1"/>
            </p:cNvSpPr>
            <p:nvPr/>
          </p:nvSpPr>
          <p:spPr bwMode="auto">
            <a:xfrm>
              <a:off x="3994900" y="1972881"/>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435" name="Oval 363"/>
            <p:cNvSpPr>
              <a:spLocks noChangeArrowheads="1"/>
            </p:cNvSpPr>
            <p:nvPr/>
          </p:nvSpPr>
          <p:spPr bwMode="auto">
            <a:xfrm>
              <a:off x="4001840" y="1958967"/>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36" name="Oval 364"/>
            <p:cNvSpPr>
              <a:spLocks noChangeArrowheads="1"/>
            </p:cNvSpPr>
            <p:nvPr/>
          </p:nvSpPr>
          <p:spPr bwMode="auto">
            <a:xfrm>
              <a:off x="4008781" y="1943066"/>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37" name="Oval 365"/>
            <p:cNvSpPr>
              <a:spLocks noChangeArrowheads="1"/>
            </p:cNvSpPr>
            <p:nvPr/>
          </p:nvSpPr>
          <p:spPr bwMode="auto">
            <a:xfrm>
              <a:off x="4020679" y="1928159"/>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438" name="Oval 366"/>
            <p:cNvSpPr>
              <a:spLocks noChangeArrowheads="1"/>
            </p:cNvSpPr>
            <p:nvPr/>
          </p:nvSpPr>
          <p:spPr bwMode="auto">
            <a:xfrm>
              <a:off x="4027619" y="1912258"/>
              <a:ext cx="53541" cy="60623"/>
            </a:xfrm>
            <a:prstGeom prst="ellipse">
              <a:avLst/>
            </a:prstGeom>
            <a:noFill/>
            <a:ln w="0">
              <a:solidFill>
                <a:srgbClr val="0000FF"/>
              </a:solidFill>
              <a:round/>
              <a:headEnd/>
              <a:tailEnd/>
            </a:ln>
          </p:spPr>
          <p:txBody>
            <a:bodyPr/>
            <a:lstStyle/>
            <a:p>
              <a:pPr eaLnBrk="1" hangingPunct="1"/>
              <a:endParaRPr lang="en-US" altLang="en-US"/>
            </a:p>
          </p:txBody>
        </p:sp>
        <p:sp>
          <p:nvSpPr>
            <p:cNvPr id="3439" name="Oval 367"/>
            <p:cNvSpPr>
              <a:spLocks noChangeArrowheads="1"/>
            </p:cNvSpPr>
            <p:nvPr/>
          </p:nvSpPr>
          <p:spPr bwMode="auto">
            <a:xfrm>
              <a:off x="4040509" y="1897351"/>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440" name="Oval 368"/>
            <p:cNvSpPr>
              <a:spLocks noChangeArrowheads="1"/>
            </p:cNvSpPr>
            <p:nvPr/>
          </p:nvSpPr>
          <p:spPr bwMode="auto">
            <a:xfrm>
              <a:off x="4047449" y="1881449"/>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441" name="Oval 369"/>
            <p:cNvSpPr>
              <a:spLocks noChangeArrowheads="1"/>
            </p:cNvSpPr>
            <p:nvPr/>
          </p:nvSpPr>
          <p:spPr bwMode="auto">
            <a:xfrm>
              <a:off x="4054390" y="1867536"/>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42" name="Oval 370"/>
            <p:cNvSpPr>
              <a:spLocks noChangeArrowheads="1"/>
            </p:cNvSpPr>
            <p:nvPr/>
          </p:nvSpPr>
          <p:spPr bwMode="auto">
            <a:xfrm>
              <a:off x="4067279" y="1844678"/>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43" name="Oval 371"/>
            <p:cNvSpPr>
              <a:spLocks noChangeArrowheads="1"/>
            </p:cNvSpPr>
            <p:nvPr/>
          </p:nvSpPr>
          <p:spPr bwMode="auto">
            <a:xfrm>
              <a:off x="4074219" y="1828777"/>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44" name="Oval 372"/>
            <p:cNvSpPr>
              <a:spLocks noChangeArrowheads="1"/>
            </p:cNvSpPr>
            <p:nvPr/>
          </p:nvSpPr>
          <p:spPr bwMode="auto">
            <a:xfrm>
              <a:off x="4087109" y="1813870"/>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445" name="Oval 373"/>
            <p:cNvSpPr>
              <a:spLocks noChangeArrowheads="1"/>
            </p:cNvSpPr>
            <p:nvPr/>
          </p:nvSpPr>
          <p:spPr bwMode="auto">
            <a:xfrm>
              <a:off x="4093058" y="1797969"/>
              <a:ext cx="53541" cy="61617"/>
            </a:xfrm>
            <a:prstGeom prst="ellipse">
              <a:avLst/>
            </a:prstGeom>
            <a:noFill/>
            <a:ln w="0">
              <a:solidFill>
                <a:srgbClr val="0000FF"/>
              </a:solidFill>
              <a:round/>
              <a:headEnd/>
              <a:tailEnd/>
            </a:ln>
          </p:spPr>
          <p:txBody>
            <a:bodyPr/>
            <a:lstStyle/>
            <a:p>
              <a:pPr eaLnBrk="1" hangingPunct="1"/>
              <a:endParaRPr lang="en-US" altLang="en-US"/>
            </a:p>
          </p:txBody>
        </p:sp>
        <p:sp>
          <p:nvSpPr>
            <p:cNvPr id="3446" name="Oval 374"/>
            <p:cNvSpPr>
              <a:spLocks noChangeArrowheads="1"/>
            </p:cNvSpPr>
            <p:nvPr/>
          </p:nvSpPr>
          <p:spPr bwMode="auto">
            <a:xfrm>
              <a:off x="4099998" y="1783061"/>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447" name="Oval 375"/>
            <p:cNvSpPr>
              <a:spLocks noChangeArrowheads="1"/>
            </p:cNvSpPr>
            <p:nvPr/>
          </p:nvSpPr>
          <p:spPr bwMode="auto">
            <a:xfrm>
              <a:off x="4113879" y="1767160"/>
              <a:ext cx="52549" cy="61617"/>
            </a:xfrm>
            <a:prstGeom prst="ellipse">
              <a:avLst/>
            </a:prstGeom>
            <a:noFill/>
            <a:ln w="0">
              <a:solidFill>
                <a:srgbClr val="0000FF"/>
              </a:solidFill>
              <a:round/>
              <a:headEnd/>
              <a:tailEnd/>
            </a:ln>
          </p:spPr>
          <p:txBody>
            <a:bodyPr/>
            <a:lstStyle/>
            <a:p>
              <a:pPr eaLnBrk="1" hangingPunct="1"/>
              <a:endParaRPr lang="en-US" altLang="en-US"/>
            </a:p>
          </p:txBody>
        </p:sp>
        <p:sp>
          <p:nvSpPr>
            <p:cNvPr id="3448" name="Oval 376"/>
            <p:cNvSpPr>
              <a:spLocks noChangeArrowheads="1"/>
            </p:cNvSpPr>
            <p:nvPr/>
          </p:nvSpPr>
          <p:spPr bwMode="auto">
            <a:xfrm>
              <a:off x="4119828" y="1745296"/>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49" name="Oval 377"/>
            <p:cNvSpPr>
              <a:spLocks noChangeArrowheads="1"/>
            </p:cNvSpPr>
            <p:nvPr/>
          </p:nvSpPr>
          <p:spPr bwMode="auto">
            <a:xfrm>
              <a:off x="4133709" y="1729395"/>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50" name="Oval 378"/>
            <p:cNvSpPr>
              <a:spLocks noChangeArrowheads="1"/>
            </p:cNvSpPr>
            <p:nvPr/>
          </p:nvSpPr>
          <p:spPr bwMode="auto">
            <a:xfrm>
              <a:off x="4140650" y="1714488"/>
              <a:ext cx="52549" cy="60623"/>
            </a:xfrm>
            <a:prstGeom prst="ellipse">
              <a:avLst/>
            </a:prstGeom>
            <a:noFill/>
            <a:ln w="0">
              <a:solidFill>
                <a:srgbClr val="0000FF"/>
              </a:solidFill>
              <a:round/>
              <a:headEnd/>
              <a:tailEnd/>
            </a:ln>
          </p:spPr>
          <p:txBody>
            <a:bodyPr/>
            <a:lstStyle/>
            <a:p>
              <a:pPr eaLnBrk="1" hangingPunct="1"/>
              <a:endParaRPr lang="en-US" altLang="en-US"/>
            </a:p>
          </p:txBody>
        </p:sp>
        <p:sp>
          <p:nvSpPr>
            <p:cNvPr id="3451" name="Rectangle 379"/>
            <p:cNvSpPr>
              <a:spLocks noChangeArrowheads="1"/>
            </p:cNvSpPr>
            <p:nvPr/>
          </p:nvSpPr>
          <p:spPr bwMode="auto">
            <a:xfrm>
              <a:off x="4357686" y="4143380"/>
              <a:ext cx="200282" cy="365725"/>
            </a:xfrm>
            <a:prstGeom prst="rect">
              <a:avLst/>
            </a:prstGeom>
            <a:noFill/>
            <a:ln w="9525">
              <a:noFill/>
              <a:miter lim="800000"/>
              <a:headEnd/>
              <a:tailEnd/>
            </a:ln>
          </p:spPr>
          <p:txBody>
            <a:bodyPr lIns="0" tIns="0" rIns="0" bIns="0"/>
            <a:lstStyle/>
            <a:p>
              <a:pPr eaLnBrk="1" hangingPunct="1">
                <a:spcAft>
                  <a:spcPts val="1000"/>
                </a:spcAft>
              </a:pPr>
              <a:r>
                <a:rPr lang="en-GB" altLang="en-US" sz="1600">
                  <a:solidFill>
                    <a:srgbClr val="000000"/>
                  </a:solidFill>
                  <a:latin typeface="Helvetica" charset="0"/>
                </a:rPr>
                <a:t>X</a:t>
              </a:r>
              <a:endParaRPr lang="en-US" altLang="en-US"/>
            </a:p>
          </p:txBody>
        </p:sp>
        <p:sp>
          <p:nvSpPr>
            <p:cNvPr id="3452" name="Rectangle 380"/>
            <p:cNvSpPr>
              <a:spLocks noChangeArrowheads="1"/>
            </p:cNvSpPr>
            <p:nvPr/>
          </p:nvSpPr>
          <p:spPr bwMode="auto">
            <a:xfrm rot="-5400000">
              <a:off x="155517" y="1916117"/>
              <a:ext cx="760479" cy="357191"/>
            </a:xfrm>
            <a:prstGeom prst="rect">
              <a:avLst/>
            </a:prstGeom>
            <a:noFill/>
            <a:ln w="9525">
              <a:noFill/>
              <a:miter lim="800000"/>
              <a:headEnd/>
              <a:tailEnd/>
            </a:ln>
          </p:spPr>
          <p:txBody>
            <a:bodyPr lIns="0" tIns="0" rIns="0" bIns="0"/>
            <a:lstStyle/>
            <a:p>
              <a:pPr eaLnBrk="1" hangingPunct="1">
                <a:spcAft>
                  <a:spcPts val="1000"/>
                </a:spcAft>
              </a:pPr>
              <a:r>
                <a:rPr lang="en-GB" altLang="en-US" sz="1800">
                  <a:solidFill>
                    <a:srgbClr val="000000"/>
                  </a:solidFill>
                  <a:latin typeface="Helvetica" charset="0"/>
                </a:rPr>
                <a:t>Y = X</a:t>
              </a:r>
              <a:r>
                <a:rPr lang="en-GB" altLang="en-US" sz="1800" baseline="30000">
                  <a:solidFill>
                    <a:srgbClr val="000000"/>
                  </a:solidFill>
                  <a:latin typeface="Helvetica" charset="0"/>
                </a:rPr>
                <a:t>2</a:t>
              </a:r>
              <a:r>
                <a:rPr lang="en-GB" altLang="en-US" sz="1800">
                  <a:solidFill>
                    <a:srgbClr val="000000"/>
                  </a:solidFill>
                  <a:latin typeface="Helvetica" charset="0"/>
                </a:rPr>
                <a:t> </a:t>
              </a:r>
              <a:endParaRPr lang="en-US" altLang="en-US" sz="1800"/>
            </a:p>
          </p:txBody>
        </p:sp>
        <p:sp>
          <p:nvSpPr>
            <p:cNvPr id="3453" name="Text Box 381"/>
            <p:cNvSpPr txBox="1">
              <a:spLocks noChangeArrowheads="1"/>
            </p:cNvSpPr>
            <p:nvPr/>
          </p:nvSpPr>
          <p:spPr bwMode="auto">
            <a:xfrm>
              <a:off x="1000100" y="4643446"/>
              <a:ext cx="3323489" cy="337981"/>
            </a:xfrm>
            <a:prstGeom prst="rect">
              <a:avLst/>
            </a:prstGeom>
            <a:noFill/>
            <a:ln w="9525">
              <a:noFill/>
              <a:miter lim="800000"/>
              <a:headEnd/>
              <a:tailEnd/>
            </a:ln>
          </p:spPr>
          <p:txBody>
            <a:bodyPr lIns="0" tIns="0" rIns="0" bIns="0"/>
            <a:lstStyle/>
            <a:p>
              <a:pPr eaLnBrk="1" hangingPunct="1">
                <a:spcAft>
                  <a:spcPts val="1000"/>
                </a:spcAft>
              </a:pPr>
              <a:r>
                <a:rPr lang="en-GB" altLang="en-US" dirty="0">
                  <a:latin typeface="Arial" pitchFamily="34" charset="0"/>
                </a:rPr>
                <a:t>      Fig. 11. </a:t>
              </a:r>
              <a:r>
                <a:rPr lang="en-GB" altLang="en-US" i="1" dirty="0">
                  <a:latin typeface="Arial" pitchFamily="34" charset="0"/>
                </a:rPr>
                <a:t>y = f(x) = x</a:t>
              </a:r>
              <a:r>
                <a:rPr lang="en-GB" altLang="en-US" i="1" baseline="30000" dirty="0">
                  <a:latin typeface="Arial" pitchFamily="34" charset="0"/>
                </a:rPr>
                <a:t>2</a:t>
              </a:r>
              <a:endParaRPr lang="en-US" altLang="en-US" dirty="0"/>
            </a:p>
          </p:txBody>
        </p:sp>
      </p:grpSp>
      <p:grpSp>
        <p:nvGrpSpPr>
          <p:cNvPr id="3" name="Group 380"/>
          <p:cNvGrpSpPr>
            <a:grpSpLocks/>
          </p:cNvGrpSpPr>
          <p:nvPr/>
        </p:nvGrpSpPr>
        <p:grpSpPr bwMode="auto">
          <a:xfrm>
            <a:off x="107504" y="1016732"/>
            <a:ext cx="4048402" cy="2972081"/>
            <a:chOff x="357188" y="1000125"/>
            <a:chExt cx="4275822" cy="2972081"/>
          </a:xfrm>
        </p:grpSpPr>
        <p:sp>
          <p:nvSpPr>
            <p:cNvPr id="384" name="Rectangle 3"/>
            <p:cNvSpPr>
              <a:spLocks noChangeArrowheads="1"/>
            </p:cNvSpPr>
            <p:nvPr/>
          </p:nvSpPr>
          <p:spPr bwMode="auto">
            <a:xfrm>
              <a:off x="879988" y="1257581"/>
              <a:ext cx="3753022" cy="2714625"/>
            </a:xfrm>
            <a:prstGeom prst="rect">
              <a:avLst/>
            </a:prstGeom>
            <a:noFill/>
            <a:ln w="9525">
              <a:noFill/>
              <a:miter lim="800000"/>
              <a:headEnd/>
              <a:tailEnd/>
            </a:ln>
          </p:spPr>
          <p:txBody>
            <a:bodyPr/>
            <a:lstStyle/>
            <a:p>
              <a:pPr marL="342900" indent="-342900" eaLnBrk="1" hangingPunct="1">
                <a:spcBef>
                  <a:spcPct val="20000"/>
                </a:spcBef>
                <a:spcAft>
                  <a:spcPts val="600"/>
                </a:spcAft>
                <a:buClr>
                  <a:schemeClr val="folHlink"/>
                </a:buClr>
                <a:buSzPct val="60000"/>
                <a:defRPr/>
              </a:pPr>
              <a:r>
                <a:rPr lang="en-US" u="sng" dirty="0"/>
                <a:t>Example</a:t>
              </a:r>
              <a:r>
                <a:rPr lang="en-US" dirty="0"/>
                <a:t>.  </a:t>
              </a:r>
            </a:p>
            <a:p>
              <a:pPr marL="342900" indent="-342900" eaLnBrk="1" hangingPunct="1">
                <a:spcBef>
                  <a:spcPct val="20000"/>
                </a:spcBef>
                <a:spcAft>
                  <a:spcPts val="600"/>
                </a:spcAft>
                <a:buClr>
                  <a:schemeClr val="folHlink"/>
                </a:buClr>
                <a:buSzPct val="60000"/>
                <a:defRPr/>
              </a:pPr>
              <a:r>
                <a:rPr lang="en-US" dirty="0" err="1"/>
                <a:t>Maximise</a:t>
              </a:r>
              <a:r>
                <a:rPr lang="en-US" dirty="0"/>
                <a:t> the function:</a:t>
              </a:r>
            </a:p>
            <a:p>
              <a:pPr marL="342900" indent="-342900" eaLnBrk="1" hangingPunct="1">
                <a:spcBef>
                  <a:spcPct val="20000"/>
                </a:spcBef>
                <a:spcAft>
                  <a:spcPts val="600"/>
                </a:spcAft>
                <a:buClr>
                  <a:schemeClr val="folHlink"/>
                </a:buClr>
                <a:buSzPct val="60000"/>
                <a:defRPr/>
              </a:pPr>
              <a:r>
                <a:rPr lang="en-US" dirty="0"/>
                <a:t>f(x)=x</a:t>
              </a:r>
              <a:r>
                <a:rPr lang="en-US" baseline="50000" dirty="0"/>
                <a:t>2</a:t>
              </a:r>
              <a:r>
                <a:rPr lang="en-US" dirty="0"/>
                <a:t>, x </a:t>
              </a:r>
              <a:r>
                <a:rPr lang="en-US" dirty="0">
                  <a:sym typeface="Symbol"/>
                </a:rPr>
                <a:t>[0, 31].</a:t>
              </a:r>
            </a:p>
            <a:p>
              <a:pPr indent="-342900" eaLnBrk="1" hangingPunct="1">
                <a:spcBef>
                  <a:spcPts val="0"/>
                </a:spcBef>
                <a:spcAft>
                  <a:spcPts val="600"/>
                </a:spcAft>
                <a:buClr>
                  <a:schemeClr val="folHlink"/>
                </a:buClr>
                <a:buSzPct val="60000"/>
                <a:defRPr/>
              </a:pPr>
              <a:r>
                <a:rPr lang="en-US" dirty="0"/>
                <a:t>For simplicity consider only integer values for </a:t>
              </a:r>
              <a:r>
                <a:rPr lang="en-US" i="1" dirty="0"/>
                <a:t>x</a:t>
              </a:r>
              <a:r>
                <a:rPr lang="en-GB" dirty="0"/>
                <a:t>.</a:t>
              </a:r>
            </a:p>
            <a:p>
              <a:pPr marL="342900" indent="-342900" eaLnBrk="1" hangingPunct="1">
                <a:spcBef>
                  <a:spcPct val="20000"/>
                </a:spcBef>
                <a:buClr>
                  <a:schemeClr val="folHlink"/>
                </a:buClr>
                <a:buSzPct val="60000"/>
                <a:defRPr/>
              </a:pPr>
              <a:endParaRPr lang="en-GB" dirty="0"/>
            </a:p>
          </p:txBody>
        </p:sp>
        <p:graphicFrame>
          <p:nvGraphicFramePr>
            <p:cNvPr id="3074" name="Object 16"/>
            <p:cNvGraphicFramePr>
              <a:graphicFrameLocks noChangeAspect="1"/>
            </p:cNvGraphicFramePr>
            <p:nvPr/>
          </p:nvGraphicFramePr>
          <p:xfrm>
            <a:off x="357188" y="1000125"/>
            <a:ext cx="504825" cy="820738"/>
          </p:xfrm>
          <a:graphic>
            <a:graphicData uri="http://schemas.openxmlformats.org/presentationml/2006/ole">
              <mc:AlternateContent xmlns:mc="http://schemas.openxmlformats.org/markup-compatibility/2006">
                <mc:Choice xmlns:v="urn:schemas-microsoft-com:vml" Requires="v">
                  <p:oleObj r:id="rId2" imgW="2525917" imgH="3407121" progId="">
                    <p:embed/>
                  </p:oleObj>
                </mc:Choice>
                <mc:Fallback>
                  <p:oleObj r:id="rId2" imgW="2525917" imgH="3407121" progId="">
                    <p:embed/>
                    <p:pic>
                      <p:nvPicPr>
                        <p:cNvPr id="0"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8" y="1000125"/>
                          <a:ext cx="504825" cy="820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linds(horizontal)">
                                      <p:cBhvr>
                                        <p:cTn id="13" dur="500"/>
                                        <p:tgtEl>
                                          <p:spTgt spid="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20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3">
                                            <p:txEl>
                                              <p:pRg st="0" end="0"/>
                                            </p:txEl>
                                          </p:spTgt>
                                        </p:tgtEl>
                                        <p:attrNameLst>
                                          <p:attrName>style.visibility</p:attrName>
                                        </p:attrNameLst>
                                      </p:cBhvr>
                                      <p:to>
                                        <p:strVal val="visible"/>
                                      </p:to>
                                    </p:set>
                                    <p:animEffect transition="in" filter="dissolve">
                                      <p:cBhvr>
                                        <p:cTn id="23"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autoUpdateAnimBg="0"/>
      <p:bldP spid="12" grpId="0"/>
    </p:bldLst>
  </p:timing>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78</TotalTime>
  <Words>3262</Words>
  <Application>Microsoft Office PowerPoint</Application>
  <PresentationFormat>On-screen Show (4:3)</PresentationFormat>
  <Paragraphs>578</Paragraphs>
  <Slides>31</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40" baseType="lpstr">
      <vt:lpstr>Arial</vt:lpstr>
      <vt:lpstr>Calibri</vt:lpstr>
      <vt:lpstr>Helvetica</vt:lpstr>
      <vt:lpstr>Symbol</vt:lpstr>
      <vt:lpstr>Tahoma</vt:lpstr>
      <vt:lpstr>Times New Roman</vt:lpstr>
      <vt:lpstr>Wingdings</vt:lpstr>
      <vt:lpstr>Blends</vt:lpstr>
      <vt:lpstr>Equation</vt:lpstr>
      <vt:lpstr>Lecture 6 Register at: Lecture registry</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 GA terminology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Example: Fitness proportional selection (FPS)</vt:lpstr>
      <vt:lpstr>PowerPoint Presentation</vt:lpstr>
      <vt:lpstr>PowerPoint Presentation</vt:lpstr>
    </vt:vector>
  </TitlesOfParts>
  <Company>University of Portsmouth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APADS</dc:title>
  <dc:creator>I. Jordanov</dc:creator>
  <cp:lastModifiedBy>Ivan Jordanov</cp:lastModifiedBy>
  <cp:revision>1343</cp:revision>
  <cp:lastPrinted>2000-09-29T16:37:59Z</cp:lastPrinted>
  <dcterms:created xsi:type="dcterms:W3CDTF">2000-06-14T13:53:40Z</dcterms:created>
  <dcterms:modified xsi:type="dcterms:W3CDTF">2026-02-17T16:11:36Z</dcterms:modified>
</cp:coreProperties>
</file>